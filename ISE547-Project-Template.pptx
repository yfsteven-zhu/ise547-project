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3.svg" ContentType="image/svg+xml"/>
  <Override PartName="/ppt/media/image15.svg" ContentType="image/svg+xml"/>
  <Override PartName="/ppt/media/image17.svg" ContentType="image/svg+xml"/>
  <Override PartName="/ppt/media/image30.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58" r:id="rId7"/>
    <p:sldId id="259" r:id="rId8"/>
    <p:sldId id="294" r:id="rId9"/>
    <p:sldId id="295" r:id="rId10"/>
    <p:sldId id="260" r:id="rId11"/>
    <p:sldId id="272" r:id="rId12"/>
    <p:sldId id="296" r:id="rId13"/>
    <p:sldId id="261" r:id="rId14"/>
    <p:sldId id="262" r:id="rId15"/>
    <p:sldId id="274" r:id="rId16"/>
    <p:sldId id="275" r:id="rId17"/>
    <p:sldId id="276" r:id="rId18"/>
    <p:sldId id="277" r:id="rId19"/>
    <p:sldId id="263" r:id="rId20"/>
    <p:sldId id="264" r:id="rId21"/>
    <p:sldId id="279" r:id="rId22"/>
    <p:sldId id="278" r:id="rId23"/>
    <p:sldId id="280" r:id="rId24"/>
    <p:sldId id="281" r:id="rId25"/>
    <p:sldId id="265" r:id="rId26"/>
    <p:sldId id="266" r:id="rId27"/>
    <p:sldId id="267" r:id="rId28"/>
    <p:sldId id="268" r:id="rId29"/>
  </p:sldIdLst>
  <p:sldSz cx="12192000" cy="6858000"/>
  <p:notesSz cx="6858000" cy="9144000"/>
  <p:custDataLst>
    <p:tags r:id="rId3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76361"/>
    <a:srgbClr val="861D10"/>
    <a:srgbClr val="F8FAFC"/>
    <a:srgbClr val="636362"/>
    <a:srgbClr val="555555"/>
    <a:srgbClr val="CDD4DF"/>
    <a:srgbClr val="F2DAD9"/>
    <a:srgbClr val="FAF2F2"/>
    <a:srgbClr val="54CC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120" d="100"/>
          <a:sy n="120" d="100"/>
        </p:scale>
        <p:origin x="1098" y="690"/>
      </p:cViewPr>
      <p:guideLst>
        <p:guide orient="horz" pos="2160"/>
        <p:guide pos="384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8.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 name="Google Shape;9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Question1: Should the schema of uploaded tables be strictly standardized, or should arbitrary formats be supported?</a:t>
            </a:r>
            <a:endParaRPr lang="en-US"/>
          </a:p>
          <a:p>
            <a:pPr marL="0" lvl="0" indent="0" algn="l" rtl="0">
              <a:spcBef>
                <a:spcPts val="0"/>
              </a:spcBef>
              <a:spcAft>
                <a:spcPts val="0"/>
              </a:spcAft>
              <a:buNone/>
            </a:pPr>
            <a:r>
              <a:rPr lang="en-US"/>
              <a:t>Question2: Should the cleaning of raw data be handled by LLMs?</a:t>
            </a:r>
            <a:endParaRPr lang="en-US"/>
          </a:p>
        </p:txBody>
      </p:sp>
      <p:sp>
        <p:nvSpPr>
          <p:cNvPr id="130" name="Google Shape;1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Are the evaluation metrics appropriate? Do you have any suggestions for improvement?</a:t>
            </a:r>
            <a:endParaRPr lang="en-US"/>
          </a:p>
          <a:p>
            <a:pPr marL="0" lvl="0" indent="0" algn="l" rtl="0">
              <a:spcBef>
                <a:spcPts val="0"/>
              </a:spcBef>
              <a:spcAft>
                <a:spcPts val="0"/>
              </a:spcAft>
              <a:buNone/>
            </a:pPr>
          </a:p>
          <a:p>
            <a:pPr marL="0" lvl="0" indent="0" algn="l" rtl="0">
              <a:spcBef>
                <a:spcPts val="0"/>
              </a:spcBef>
              <a:spcAft>
                <a:spcPts val="0"/>
              </a:spcAft>
              <a:buNone/>
            </a:pPr>
            <a:r>
              <a:rPr lang="en-US"/>
              <a:t>4 LLM + 3 Prompt</a:t>
            </a:r>
            <a:endParaRPr lang="en-US"/>
          </a:p>
          <a:p>
            <a:pPr marL="457200" lvl="0" indent="-317500" algn="l" rtl="0">
              <a:spcBef>
                <a:spcPts val="0"/>
              </a:spcBef>
              <a:spcAft>
                <a:spcPts val="0"/>
              </a:spcAft>
              <a:buSzPts val="1400"/>
              <a:buChar char="-"/>
            </a:pPr>
            <a:r>
              <a:rPr lang="en-US"/>
              <a:t>mock 100 dataset based on the kaggle dataset</a:t>
            </a:r>
            <a:endParaRPr lang="en-US"/>
          </a:p>
          <a:p>
            <a:pPr marL="457200" lvl="0" indent="-317500" algn="l" rtl="0">
              <a:spcBef>
                <a:spcPts val="0"/>
              </a:spcBef>
              <a:spcAft>
                <a:spcPts val="0"/>
              </a:spcAft>
              <a:buSzPts val="1400"/>
              <a:buChar char="-"/>
            </a:pPr>
          </a:p>
        </p:txBody>
      </p:sp>
      <p:sp>
        <p:nvSpPr>
          <p:cNvPr id="138" name="Google Shape;13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ASIN = Amazon Standard Identification Number</a:t>
            </a:r>
            <a:endParaRPr dirty="0"/>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Should the conclusions in the project slides and the final report be consistent?</a:t>
            </a:r>
            <a:endParaRPr lang="en-US"/>
          </a:p>
        </p:txBody>
      </p:sp>
      <p:sp>
        <p:nvSpPr>
          <p:cNvPr id="155" name="Google Shape;15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Our main finding is that Nvidia Nemotron 3 Super achieved the strongest overall performance and ranked first with an average score of 3.82. OpenAI gpt-oss-20b ranked second at 3.64, but in practice it was harder to tune and integrate consistently in our pipeline. We also found that prompt design mattered a lot: the action-oriented prompt improved actionability, while the data-scientist prompt produced more reliable and explainable outputs.</a:t>
            </a:r>
            <a:endParaRPr lang="en-US"/>
          </a:p>
        </p:txBody>
      </p:sp>
      <p:sp>
        <p:nvSpPr>
          <p:cNvPr id="155" name="Google Shape;15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Should the conclusions in the project slides and the final report be consistent?</a:t>
            </a:r>
            <a:endParaRPr lang="en-US"/>
          </a:p>
        </p:txBody>
      </p:sp>
      <p:sp>
        <p:nvSpPr>
          <p:cNvPr id="155" name="Google Shape;15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t>The biggest takeaway is that performance does not depend on model selection alone. Prompt specialization and workflow design are equally important. We learned that different prompts are better for different goals, and once the schema became more standardized, the system became much more stable. So for real-world use, trustworthy AI depends on both strong models and a controlled pipeline.</a:t>
            </a:r>
          </a:p>
        </p:txBody>
      </p:sp>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zh-CN" altLang="en-US" dirty="0"/>
              <a:t>代码生成质量不稳定，即便在已有</a:t>
            </a:r>
            <a:r>
              <a:rPr lang="en-US" altLang="zh-CN" dirty="0"/>
              <a:t>prompt</a:t>
            </a:r>
            <a:r>
              <a:rPr lang="zh-CN" altLang="en-US" dirty="0"/>
              <a:t>的加持下，无法做到十分灵活，当相对固化用户上传模板之后效果才会趋于稳定</a:t>
            </a:r>
            <a:endParaRPr lang="en-US" altLang="zh-CN" dirty="0"/>
          </a:p>
          <a:p>
            <a:pPr marL="228600" lvl="0" indent="-228600" algn="l" rtl="0">
              <a:spcBef>
                <a:spcPts val="0"/>
              </a:spcBef>
              <a:spcAft>
                <a:spcPts val="0"/>
              </a:spcAft>
              <a:buAutoNum type="arabicPeriod"/>
            </a:pPr>
            <a:endParaRPr dirty="0"/>
          </a:p>
        </p:txBody>
      </p:sp>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
        <p:cNvGrpSpPr/>
        <p:nvPr/>
      </p:nvGrpSpPr>
      <p:grpSpPr>
        <a:xfrm>
          <a:off x="0" y="0"/>
          <a:ext cx="0" cy="0"/>
          <a:chOff x="0" y="0"/>
          <a:chExt cx="0" cy="0"/>
        </a:xfrm>
      </p:grpSpPr>
      <p:sp>
        <p:nvSpPr>
          <p:cNvPr id="170" name="Google Shape;17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1" name="Google Shape;17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0" name="Google Shape;18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6"/>
        <p:cNvGrpSpPr/>
        <p:nvPr/>
      </p:nvGrpSpPr>
      <p:grpSpPr>
        <a:xfrm>
          <a:off x="0" y="0"/>
          <a:ext cx="0" cy="0"/>
          <a:chOff x="0" y="0"/>
          <a:chExt cx="0" cy="0"/>
        </a:xfrm>
      </p:grpSpPr>
      <p:sp>
        <p:nvSpPr>
          <p:cNvPr id="187" name="Google Shape;18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8" name="Google Shape;18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18"/>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1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a:spLocks noGrp="1"/>
          </p:cNvSpPr>
          <p:nvPr>
            <p:ph type="pic" idx="2"/>
          </p:nvPr>
        </p:nvSpPr>
        <p:spPr>
          <a:xfrm>
            <a:off x="2389717" y="612775"/>
            <a:ext cx="7315200" cy="4114800"/>
          </a:xfrm>
          <a:prstGeom prst="rect">
            <a:avLst/>
          </a:prstGeom>
          <a:noFill/>
          <a:ln>
            <a:noFill/>
          </a:ln>
        </p:spPr>
      </p:sp>
      <p:sp>
        <p:nvSpPr>
          <p:cNvPr id="68" name="Google Shape;68;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xml"/><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4" Type="http://schemas.openxmlformats.org/officeDocument/2006/relationships/notesSlide" Target="../notesSlides/notesSlide15.xml"/><Relationship Id="rId13" Type="http://schemas.openxmlformats.org/officeDocument/2006/relationships/slideLayout" Target="../slideLayouts/slideLayout1.xml"/><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26.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18.png"/><Relationship Id="rId3" Type="http://schemas.openxmlformats.org/officeDocument/2006/relationships/image" Target="../media/image1.png"/><Relationship Id="rId2" Type="http://schemas.openxmlformats.org/officeDocument/2006/relationships/tags" Target="../tags/tag4.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133600" y="1905001"/>
            <a:ext cx="9296400" cy="14700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4400"/>
              <a:buFont typeface="Arial" panose="020B0604020202020204"/>
              <a:buNone/>
            </a:pPr>
            <a:r>
              <a:rPr lang="en-US">
                <a:solidFill>
                  <a:srgbClr val="990000"/>
                </a:solidFill>
                <a:latin typeface="Arial" panose="020B0604020202020204"/>
                <a:ea typeface="Arial" panose="020B0604020202020204"/>
                <a:cs typeface="Arial" panose="020B0604020202020204"/>
                <a:sym typeface="Arial" panose="020B0604020202020204"/>
              </a:rPr>
              <a:t>GENERATIVE AI FINAL PROJECT</a:t>
            </a:r>
            <a:endParaRPr lang="en-US">
              <a:solidFill>
                <a:srgbClr val="990000"/>
              </a:solidFill>
              <a:latin typeface="Arial" panose="020B0604020202020204"/>
              <a:ea typeface="Arial" panose="020B0604020202020204"/>
              <a:cs typeface="Arial" panose="020B0604020202020204"/>
              <a:sym typeface="Arial" panose="020B0604020202020204"/>
            </a:endParaRPr>
          </a:p>
        </p:txBody>
      </p:sp>
      <p:sp>
        <p:nvSpPr>
          <p:cNvPr id="89" name="Google Shape;89;p1"/>
          <p:cNvSpPr txBox="1">
            <a:spLocks noGrp="1"/>
          </p:cNvSpPr>
          <p:nvPr>
            <p:ph type="subTitle" idx="1"/>
          </p:nvPr>
        </p:nvSpPr>
        <p:spPr>
          <a:xfrm>
            <a:off x="2133600" y="3352800"/>
            <a:ext cx="7924800" cy="1752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2000"/>
              <a:buNone/>
            </a:pPr>
            <a:r>
              <a:rPr lang="en-US" sz="2000">
                <a:solidFill>
                  <a:srgbClr val="7F7F7F"/>
                </a:solidFill>
                <a:latin typeface="Arial" panose="020B0604020202020204"/>
                <a:ea typeface="Arial" panose="020B0604020202020204"/>
                <a:cs typeface="Arial" panose="020B0604020202020204"/>
                <a:sym typeface="Arial" panose="020B0604020202020204"/>
              </a:rPr>
              <a:t>ISE 547 | Spring 2026</a:t>
            </a:r>
            <a:endParaRPr lang="en-US" sz="2000">
              <a:solidFill>
                <a:srgbClr val="7F7F7F"/>
              </a:solidFill>
              <a:latin typeface="Arial" panose="020B0604020202020204"/>
              <a:ea typeface="Arial" panose="020B0604020202020204"/>
              <a:cs typeface="Arial" panose="020B0604020202020204"/>
              <a:sym typeface="Arial" panose="020B0604020202020204"/>
            </a:endParaRPr>
          </a:p>
          <a:p>
            <a:pPr marL="0" lvl="0" indent="0" algn="l" rtl="0">
              <a:spcBef>
                <a:spcPts val="400"/>
              </a:spcBef>
              <a:spcAft>
                <a:spcPts val="0"/>
              </a:spcAft>
              <a:buClr>
                <a:srgbClr val="7F7F7F"/>
              </a:buClr>
              <a:buSzPts val="2000"/>
              <a:buNone/>
            </a:pPr>
            <a:r>
              <a:rPr lang="en-US" sz="2000">
                <a:solidFill>
                  <a:srgbClr val="7F7F7F"/>
                </a:solidFill>
                <a:latin typeface="Arial" panose="020B0604020202020204"/>
                <a:ea typeface="Arial" panose="020B0604020202020204"/>
                <a:cs typeface="Arial" panose="020B0604020202020204"/>
                <a:sym typeface="Arial" panose="020B0604020202020204"/>
              </a:rPr>
              <a:t>[Hallucination Inc.]</a:t>
            </a:r>
            <a:endParaRPr lang="en-US" sz="2000">
              <a:solidFill>
                <a:srgbClr val="7F7F7F"/>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Clr>
                <a:srgbClr val="7F7F7F"/>
              </a:buClr>
              <a:buSzPts val="1800"/>
              <a:buNone/>
            </a:pPr>
            <a:r>
              <a:rPr lang="en-US" sz="1800">
                <a:solidFill>
                  <a:srgbClr val="7F7F7F"/>
                </a:solidFill>
                <a:latin typeface="Arial" panose="020B0604020202020204"/>
                <a:ea typeface="Arial" panose="020B0604020202020204"/>
                <a:cs typeface="Arial" panose="020B0604020202020204"/>
                <a:sym typeface="Arial" panose="020B0604020202020204"/>
              </a:rPr>
              <a:t>[Zhiyuan Zhang, Yanfeng Zhu]</a:t>
            </a:r>
            <a:endParaRPr lang="en-US" sz="1800">
              <a:solidFill>
                <a:srgbClr val="7F7F7F"/>
              </a:solidFill>
              <a:latin typeface="Arial" panose="020B0604020202020204"/>
              <a:ea typeface="Arial" panose="020B0604020202020204"/>
              <a:cs typeface="Arial" panose="020B0604020202020204"/>
              <a:sym typeface="Arial" panose="020B0604020202020204"/>
            </a:endParaRPr>
          </a:p>
        </p:txBody>
      </p:sp>
      <p:cxnSp>
        <p:nvCxnSpPr>
          <p:cNvPr id="90" name="Google Shape;90;p1"/>
          <p:cNvCxnSpPr/>
          <p:nvPr/>
        </p:nvCxnSpPr>
        <p:spPr>
          <a:xfrm>
            <a:off x="1524000" y="3200400"/>
            <a:ext cx="8412480" cy="0"/>
          </a:xfrm>
          <a:prstGeom prst="straightConnector1">
            <a:avLst/>
          </a:prstGeom>
          <a:noFill/>
          <a:ln w="9525" cap="flat" cmpd="sng">
            <a:solidFill>
              <a:srgbClr val="595959"/>
            </a:solidFill>
            <a:prstDash val="solid"/>
            <a:round/>
            <a:headEnd type="none" w="sm" len="sm"/>
            <a:tailEnd type="none" w="sm" len="sm"/>
          </a:ln>
        </p:spPr>
      </p:cxnSp>
      <p:pic>
        <p:nvPicPr>
          <p:cNvPr id="91" name="Google Shape;91;p1"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pic>
        <p:nvPicPr>
          <p:cNvPr id="92" name="Google Shape;92;p1"/>
          <p:cNvPicPr preferRelativeResize="0"/>
          <p:nvPr/>
        </p:nvPicPr>
        <p:blipFill rotWithShape="1">
          <a:blip r:embed="rId2"/>
          <a:srcRect/>
          <a:stretch>
            <a:fillRect/>
          </a:stretch>
        </p:blipFill>
        <p:spPr>
          <a:xfrm>
            <a:off x="0" y="111127"/>
            <a:ext cx="2378150" cy="7431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ctrTitle"/>
          </p:nvPr>
        </p:nvSpPr>
        <p:spPr>
          <a:xfrm>
            <a:off x="2133600" y="2035176"/>
            <a:ext cx="8229600" cy="14700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a:solidFill>
                  <a:srgbClr val="990000"/>
                </a:solidFill>
                <a:latin typeface="Arial" panose="020B0604020202020204"/>
                <a:ea typeface="Arial" panose="020B0604020202020204"/>
                <a:cs typeface="Arial" panose="020B0604020202020204"/>
                <a:sym typeface="Arial" panose="020B0604020202020204"/>
              </a:rPr>
              <a:t>Project Overview</a:t>
            </a:r>
            <a:endParaRPr lang="en-US" sz="360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99" name="Google Shape;99;p2"/>
          <p:cNvCxnSpPr/>
          <p:nvPr/>
        </p:nvCxnSpPr>
        <p:spPr>
          <a:xfrm>
            <a:off x="1524000" y="3200400"/>
            <a:ext cx="9144000" cy="0"/>
          </a:xfrm>
          <a:prstGeom prst="straightConnector1">
            <a:avLst/>
          </a:prstGeom>
          <a:noFill/>
          <a:ln w="9525" cap="flat" cmpd="sng">
            <a:solidFill>
              <a:srgbClr val="595959"/>
            </a:solidFill>
            <a:prstDash val="solid"/>
            <a:round/>
            <a:headEnd type="none" w="sm" len="sm"/>
            <a:tailEnd type="none" w="sm" len="sm"/>
          </a:ln>
        </p:spPr>
      </p:cxnSp>
      <p:cxnSp>
        <p:nvCxnSpPr>
          <p:cNvPr id="100" name="Google Shape;100;p2"/>
          <p:cNvCxnSpPr/>
          <p:nvPr/>
        </p:nvCxnSpPr>
        <p:spPr>
          <a:xfrm>
            <a:off x="1524000" y="2286000"/>
            <a:ext cx="9144000" cy="0"/>
          </a:xfrm>
          <a:prstGeom prst="straightConnector1">
            <a:avLst/>
          </a:prstGeom>
          <a:noFill/>
          <a:ln w="9525" cap="flat" cmpd="sng">
            <a:solidFill>
              <a:srgbClr val="595959"/>
            </a:solidFill>
            <a:prstDash val="solid"/>
            <a:round/>
            <a:headEnd type="none" w="sm" len="sm"/>
            <a:tailEnd type="none" w="sm" len="sm"/>
          </a:ln>
        </p:spPr>
      </p:cxnSp>
      <p:pic>
        <p:nvPicPr>
          <p:cNvPr id="101" name="Google Shape;101;p2"/>
          <p:cNvPicPr preferRelativeResize="0"/>
          <p:nvPr/>
        </p:nvPicPr>
        <p:blipFill rotWithShape="1">
          <a:blip r:embed="rId1"/>
          <a:srcRect/>
          <a:stretch>
            <a:fillRect/>
          </a:stretch>
        </p:blipFill>
        <p:spPr>
          <a:xfrm>
            <a:off x="0" y="111127"/>
            <a:ext cx="2378150" cy="743172"/>
          </a:xfrm>
          <a:prstGeom prst="rect">
            <a:avLst/>
          </a:prstGeom>
          <a:noFill/>
          <a:ln>
            <a:noFill/>
          </a:ln>
        </p:spPr>
      </p:pic>
      <p:pic>
        <p:nvPicPr>
          <p:cNvPr id="102" name="Google Shape;102;p2" descr="Z:\PP Assistants\Formal_Viterbi_CardOnTrans.png"/>
          <p:cNvPicPr preferRelativeResize="0"/>
          <p:nvPr/>
        </p:nvPicPr>
        <p:blipFill rotWithShape="1">
          <a:blip r:embed="rId2"/>
          <a:srcRect/>
          <a:stretch>
            <a:fillRect/>
          </a:stretch>
        </p:blipFill>
        <p:spPr>
          <a:xfrm>
            <a:off x="9601200" y="69328"/>
            <a:ext cx="2362200" cy="8267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ea typeface="Arial" panose="020B0604020202020204"/>
                <a:cs typeface="Arial" panose="020B0604020202020204"/>
                <a:sym typeface="Arial" panose="020B0604020202020204"/>
              </a:rPr>
              <a:t>PROJECT OVERVIEW</a:t>
            </a:r>
            <a:endParaRPr dirty="0"/>
          </a:p>
        </p:txBody>
      </p:sp>
      <p:cxnSp>
        <p:nvCxnSpPr>
          <p:cNvPr id="109" name="Google Shape;109;p3"/>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10" name="Google Shape;110;p3"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grpSp>
        <p:nvGrpSpPr>
          <p:cNvPr id="34" name="组合 33"/>
          <p:cNvGrpSpPr/>
          <p:nvPr/>
        </p:nvGrpSpPr>
        <p:grpSpPr>
          <a:xfrm>
            <a:off x="457200" y="1847292"/>
            <a:ext cx="3285309" cy="4585061"/>
            <a:chOff x="457200" y="1847292"/>
            <a:chExt cx="3285309" cy="4585061"/>
          </a:xfrm>
          <a:effectLst>
            <a:outerShdw blurRad="50800" dist="38100" dir="5400000" algn="t" rotWithShape="0">
              <a:schemeClr val="bg1">
                <a:lumMod val="75000"/>
                <a:alpha val="40000"/>
              </a:schemeClr>
            </a:outerShdw>
          </a:effectLst>
        </p:grpSpPr>
        <p:sp>
          <p:nvSpPr>
            <p:cNvPr id="4" name="矩形 3"/>
            <p:cNvSpPr/>
            <p:nvPr/>
          </p:nvSpPr>
          <p:spPr>
            <a:xfrm>
              <a:off x="457200" y="1847292"/>
              <a:ext cx="3285309" cy="4585061"/>
            </a:xfrm>
            <a:prstGeom prst="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57200" y="1847292"/>
              <a:ext cx="3285309" cy="0"/>
            </a:xfrm>
            <a:prstGeom prst="line">
              <a:avLst/>
            </a:prstGeom>
            <a:ln w="34925">
              <a:solidFill>
                <a:srgbClr val="861D1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85800" y="2453082"/>
              <a:ext cx="2715260" cy="398780"/>
            </a:xfrm>
            <a:prstGeom prst="rect">
              <a:avLst/>
            </a:prstGeom>
            <a:noFill/>
          </p:spPr>
          <p:txBody>
            <a:bodyPr wrap="square" rtlCol="0">
              <a:spAutoFit/>
            </a:bodyPr>
            <a:lstStyle/>
            <a:p>
              <a:r>
                <a:rPr lang="en-US" altLang="zh-CN" sz="2000" b="1" dirty="0"/>
                <a:t>The Problem</a:t>
              </a:r>
              <a:endParaRPr lang="en-US" altLang="zh-CN" sz="2000" b="1" dirty="0"/>
            </a:p>
          </p:txBody>
        </p:sp>
        <p:sp>
          <p:nvSpPr>
            <p:cNvPr id="22" name="文本框 21"/>
            <p:cNvSpPr txBox="1"/>
            <p:nvPr/>
          </p:nvSpPr>
          <p:spPr>
            <a:xfrm>
              <a:off x="685800" y="3158236"/>
              <a:ext cx="2927529" cy="2676525"/>
            </a:xfrm>
            <a:prstGeom prst="rect">
              <a:avLst/>
            </a:prstGeom>
            <a:noFill/>
          </p:spPr>
          <p:txBody>
            <a:bodyPr wrap="square" rtlCol="0">
              <a:spAutoFit/>
            </a:bodyPr>
            <a:lstStyle/>
            <a:p>
              <a:pPr marL="285750" indent="-285750">
                <a:buClr>
                  <a:srgbClr val="861D10"/>
                </a:buClr>
                <a:buFont typeface="Wingdings" panose="05000000000000000000" pitchFamily="2" charset="2"/>
                <a:buChar char="Ø"/>
              </a:pPr>
              <a:r>
                <a:rPr lang="en-US" altLang="zh-CN" b="1" dirty="0"/>
                <a:t>Growth Stagnation: </a:t>
              </a:r>
              <a:r>
                <a:rPr lang="en-US" altLang="zh-CN" dirty="0">
                  <a:solidFill>
                    <a:schemeClr val="tx1">
                      <a:lumMod val="65000"/>
                      <a:lumOff val="35000"/>
                    </a:schemeClr>
                  </a:solidFill>
                </a:rPr>
                <a:t>Veteran sellers frequently hit performance bottlenecks.</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High Barriers: </a:t>
              </a:r>
              <a:r>
                <a:rPr lang="en-US" altLang="zh-CN" dirty="0">
                  <a:solidFill>
                    <a:schemeClr val="tx1">
                      <a:lumMod val="65000"/>
                      <a:lumOff val="35000"/>
                    </a:schemeClr>
                  </a:solidFill>
                </a:rPr>
                <a:t>Novices struggle to locate viable “blue ocean” niches.</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Strategic Blind Spots: </a:t>
              </a:r>
              <a:r>
                <a:rPr lang="en-US" altLang="zh-CN" dirty="0">
                  <a:solidFill>
                    <a:schemeClr val="tx1">
                      <a:lumMod val="65000"/>
                      <a:lumOff val="35000"/>
                    </a:schemeClr>
                  </a:solidFill>
                </a:rPr>
                <a:t>Intense competition obscures emerging opportunities, leading to market failure.</a:t>
              </a:r>
              <a:endParaRPr lang="zh-CN" altLang="en-US" dirty="0">
                <a:solidFill>
                  <a:schemeClr val="tx1">
                    <a:lumMod val="65000"/>
                    <a:lumOff val="35000"/>
                  </a:schemeClr>
                </a:solidFill>
              </a:endParaRPr>
            </a:p>
          </p:txBody>
        </p:sp>
      </p:grpSp>
      <p:grpSp>
        <p:nvGrpSpPr>
          <p:cNvPr id="47" name="组合 46"/>
          <p:cNvGrpSpPr/>
          <p:nvPr/>
        </p:nvGrpSpPr>
        <p:grpSpPr>
          <a:xfrm>
            <a:off x="4453346" y="1847292"/>
            <a:ext cx="3285309" cy="4585061"/>
            <a:chOff x="4453346" y="1847292"/>
            <a:chExt cx="3285309" cy="4585061"/>
          </a:xfrm>
          <a:effectLst>
            <a:outerShdw blurRad="50800" dist="38100" dir="5400000" algn="t" rotWithShape="0">
              <a:schemeClr val="bg1">
                <a:lumMod val="75000"/>
                <a:alpha val="40000"/>
              </a:schemeClr>
            </a:outerShdw>
          </a:effectLst>
        </p:grpSpPr>
        <p:sp>
          <p:nvSpPr>
            <p:cNvPr id="36" name="矩形 35"/>
            <p:cNvSpPr/>
            <p:nvPr/>
          </p:nvSpPr>
          <p:spPr>
            <a:xfrm>
              <a:off x="4453346" y="1847292"/>
              <a:ext cx="3285309" cy="4585061"/>
            </a:xfrm>
            <a:prstGeom prst="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p:nvPr/>
          </p:nvCxnSpPr>
          <p:spPr>
            <a:xfrm>
              <a:off x="4453346" y="1847292"/>
              <a:ext cx="3285309" cy="0"/>
            </a:xfrm>
            <a:prstGeom prst="line">
              <a:avLst/>
            </a:prstGeom>
            <a:ln w="34925">
              <a:solidFill>
                <a:srgbClr val="861D10"/>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681946" y="2408347"/>
              <a:ext cx="1642960" cy="398780"/>
            </a:xfrm>
            <a:prstGeom prst="rect">
              <a:avLst/>
            </a:prstGeom>
            <a:noFill/>
          </p:spPr>
          <p:txBody>
            <a:bodyPr wrap="square" rtlCol="0">
              <a:spAutoFit/>
            </a:bodyPr>
            <a:lstStyle/>
            <a:p>
              <a:r>
                <a:rPr lang="en-US" altLang="zh-CN" sz="2000" b="1" dirty="0"/>
                <a:t>The Impact</a:t>
              </a:r>
              <a:endParaRPr lang="zh-CN" altLang="en-US" sz="2000" b="1" dirty="0"/>
            </a:p>
          </p:txBody>
        </p:sp>
        <p:sp>
          <p:nvSpPr>
            <p:cNvPr id="40" name="文本框 39"/>
            <p:cNvSpPr txBox="1"/>
            <p:nvPr/>
          </p:nvSpPr>
          <p:spPr>
            <a:xfrm>
              <a:off x="4681946" y="3158236"/>
              <a:ext cx="2927529" cy="2676525"/>
            </a:xfrm>
            <a:prstGeom prst="rect">
              <a:avLst/>
            </a:prstGeom>
            <a:noFill/>
          </p:spPr>
          <p:txBody>
            <a:bodyPr wrap="square" rtlCol="0">
              <a:spAutoFit/>
            </a:bodyPr>
            <a:lstStyle/>
            <a:p>
              <a:pPr marL="285750" indent="-285750">
                <a:buClr>
                  <a:srgbClr val="861D10"/>
                </a:buClr>
                <a:buFont typeface="Wingdings" panose="05000000000000000000" pitchFamily="2" charset="2"/>
                <a:buChar char="Ø"/>
              </a:pPr>
              <a:r>
                <a:rPr lang="en-US" altLang="zh-CN" b="1" dirty="0"/>
                <a:t>Trend Agility: </a:t>
              </a:r>
              <a:r>
                <a:rPr lang="en-US" altLang="zh-CN" dirty="0">
                  <a:solidFill>
                    <a:schemeClr val="tx1">
                      <a:lumMod val="65000"/>
                      <a:lumOff val="35000"/>
                    </a:schemeClr>
                  </a:solidFill>
                </a:rPr>
                <a:t>Capture real-time buyer demands and rapid market shifts.</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Data-Driven Decisions: </a:t>
              </a:r>
              <a:r>
                <a:rPr lang="en-US" altLang="zh-CN" dirty="0">
                  <a:solidFill>
                    <a:schemeClr val="tx1">
                      <a:lumMod val="65000"/>
                      <a:lumOff val="35000"/>
                    </a:schemeClr>
                  </a:solidFill>
                </a:rPr>
                <a:t>Replace guesswork with empirical foresight.</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Competitive Edge: </a:t>
              </a:r>
              <a:r>
                <a:rPr lang="en-US" altLang="zh-CN" dirty="0">
                  <a:solidFill>
                    <a:schemeClr val="tx1">
                      <a:lumMod val="65000"/>
                      <a:lumOff val="35000"/>
                    </a:schemeClr>
                  </a:solidFill>
                </a:rPr>
                <a:t>Future-proof operations and maintain dominance in a dynamic landscape.</a:t>
              </a:r>
              <a:endParaRPr lang="zh-CN" altLang="en-US" dirty="0">
                <a:solidFill>
                  <a:schemeClr val="tx1">
                    <a:lumMod val="65000"/>
                    <a:lumOff val="35000"/>
                  </a:schemeClr>
                </a:solidFill>
              </a:endParaRPr>
            </a:p>
          </p:txBody>
        </p:sp>
      </p:grpSp>
      <p:grpSp>
        <p:nvGrpSpPr>
          <p:cNvPr id="50" name="组合 49"/>
          <p:cNvGrpSpPr/>
          <p:nvPr/>
        </p:nvGrpSpPr>
        <p:grpSpPr>
          <a:xfrm>
            <a:off x="8449491" y="1847291"/>
            <a:ext cx="3285309" cy="4585061"/>
            <a:chOff x="8449491" y="1847291"/>
            <a:chExt cx="3285309" cy="4585061"/>
          </a:xfrm>
          <a:effectLst>
            <a:outerShdw blurRad="50800" dist="38100" dir="5400000" algn="t" rotWithShape="0">
              <a:schemeClr val="bg1">
                <a:lumMod val="75000"/>
                <a:alpha val="40000"/>
              </a:schemeClr>
            </a:outerShdw>
          </a:effectLst>
        </p:grpSpPr>
        <p:sp>
          <p:nvSpPr>
            <p:cNvPr id="42" name="矩形 41"/>
            <p:cNvSpPr/>
            <p:nvPr/>
          </p:nvSpPr>
          <p:spPr>
            <a:xfrm>
              <a:off x="8449491" y="1847291"/>
              <a:ext cx="3285309" cy="4585061"/>
            </a:xfrm>
            <a:prstGeom prst="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p:nvPr/>
          </p:nvCxnSpPr>
          <p:spPr>
            <a:xfrm>
              <a:off x="8449491" y="1847291"/>
              <a:ext cx="3285309" cy="0"/>
            </a:xfrm>
            <a:prstGeom prst="line">
              <a:avLst/>
            </a:prstGeom>
            <a:ln w="34925">
              <a:solidFill>
                <a:srgbClr val="861D10"/>
              </a:solidFill>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8678090" y="2401996"/>
              <a:ext cx="2163141" cy="398780"/>
            </a:xfrm>
            <a:prstGeom prst="rect">
              <a:avLst/>
            </a:prstGeom>
            <a:noFill/>
          </p:spPr>
          <p:txBody>
            <a:bodyPr wrap="square" rtlCol="0">
              <a:spAutoFit/>
            </a:bodyPr>
            <a:lstStyle/>
            <a:p>
              <a:r>
                <a:rPr lang="en-US" altLang="zh-CN" sz="2000" b="1" dirty="0"/>
                <a:t>Our Approach</a:t>
              </a:r>
              <a:endParaRPr lang="zh-CN" altLang="en-US" sz="2000" b="1" dirty="0"/>
            </a:p>
          </p:txBody>
        </p:sp>
        <p:sp>
          <p:nvSpPr>
            <p:cNvPr id="46" name="文本框 45"/>
            <p:cNvSpPr txBox="1"/>
            <p:nvPr/>
          </p:nvSpPr>
          <p:spPr>
            <a:xfrm>
              <a:off x="8678091" y="3158235"/>
              <a:ext cx="2927529" cy="2676525"/>
            </a:xfrm>
            <a:prstGeom prst="rect">
              <a:avLst/>
            </a:prstGeom>
            <a:noFill/>
          </p:spPr>
          <p:txBody>
            <a:bodyPr wrap="square" rtlCol="0">
              <a:spAutoFit/>
            </a:bodyPr>
            <a:lstStyle/>
            <a:p>
              <a:pPr marL="285750" indent="-285750">
                <a:buClr>
                  <a:srgbClr val="861D10"/>
                </a:buClr>
                <a:buFont typeface="Wingdings" panose="05000000000000000000" pitchFamily="2" charset="2"/>
                <a:buChar char="Ø"/>
              </a:pPr>
              <a:r>
                <a:rPr lang="en-US" altLang="zh-CN" b="1" dirty="0"/>
                <a:t>Smart Cleansing: </a:t>
              </a:r>
              <a:r>
                <a:rPr lang="en-US" altLang="zh-CN" dirty="0">
                  <a:solidFill>
                    <a:schemeClr val="tx1">
                      <a:lumMod val="65000"/>
                      <a:lumOff val="35000"/>
                    </a:schemeClr>
                  </a:solidFill>
                </a:rPr>
                <a:t>LLM-powered processing of complex, noisy e-commerce data.</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Deep Analytics: </a:t>
              </a:r>
              <a:r>
                <a:rPr lang="en-US" altLang="zh-CN" dirty="0">
                  <a:solidFill>
                    <a:schemeClr val="tx1">
                      <a:lumMod val="65000"/>
                      <a:lumOff val="35000"/>
                    </a:schemeClr>
                  </a:solidFill>
                </a:rPr>
                <a:t>Seamless synthesis of quantitative metrics and unstructured text.</a:t>
              </a:r>
              <a:endParaRPr lang="en-US" altLang="zh-CN" dirty="0">
                <a:solidFill>
                  <a:schemeClr val="tx1">
                    <a:lumMod val="65000"/>
                    <a:lumOff val="35000"/>
                  </a:schemeClr>
                </a:solidFill>
              </a:endParaRPr>
            </a:p>
            <a:p>
              <a:pPr>
                <a:buClr>
                  <a:srgbClr val="861D10"/>
                </a:buClr>
              </a:pPr>
              <a:endParaRPr lang="en-US" altLang="zh-CN" dirty="0">
                <a:solidFill>
                  <a:schemeClr val="tx1">
                    <a:lumMod val="65000"/>
                    <a:lumOff val="35000"/>
                  </a:schemeClr>
                </a:solidFill>
              </a:endParaRPr>
            </a:p>
            <a:p>
              <a:pPr marL="285750" indent="-285750">
                <a:buClr>
                  <a:srgbClr val="861D10"/>
                </a:buClr>
                <a:buFont typeface="Wingdings" panose="05000000000000000000" pitchFamily="2" charset="2"/>
                <a:buChar char="Ø"/>
              </a:pPr>
              <a:r>
                <a:rPr lang="en-US" altLang="zh-CN" b="1" dirty="0">
                  <a:solidFill>
                    <a:schemeClr val="tx1"/>
                  </a:solidFill>
                </a:rPr>
                <a:t>Actionable Strategy: </a:t>
              </a:r>
              <a:r>
                <a:rPr lang="en-US" altLang="zh-CN" dirty="0">
                  <a:solidFill>
                    <a:schemeClr val="tx1">
                      <a:lumMod val="65000"/>
                      <a:lumOff val="35000"/>
                    </a:schemeClr>
                  </a:solidFill>
                </a:rPr>
                <a:t>Deliver tailored, predictive solutions to exploit hidden market demand.</a:t>
              </a:r>
              <a:endParaRPr lang="zh-CN" altLang="en-US" dirty="0">
                <a:solidFill>
                  <a:schemeClr val="tx1">
                    <a:lumMod val="65000"/>
                    <a:lumOff val="35000"/>
                  </a:schemeClr>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06"/>
        <p:cNvGrpSpPr/>
        <p:nvPr/>
      </p:nvGrpSpPr>
      <p:grpSpPr>
        <a:xfrm>
          <a:off x="0" y="0"/>
          <a:ext cx="0" cy="0"/>
          <a:chOff x="0" y="0"/>
          <a:chExt cx="0" cy="0"/>
        </a:xfrm>
      </p:grpSpPr>
      <p:sp>
        <p:nvSpPr>
          <p:cNvPr id="107" name="Google Shape;107;p3"/>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PROJECT OVERVIEW</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08" name="Google Shape;108;p3"/>
          <p:cNvSpPr txBox="1">
            <a:spLocks noGrp="1"/>
          </p:cNvSpPr>
          <p:nvPr>
            <p:ph type="subTitle" idx="1"/>
          </p:nvPr>
        </p:nvSpPr>
        <p:spPr>
          <a:xfrm>
            <a:off x="1295400" y="1600200"/>
            <a:ext cx="9296400"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2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What problem are you solving?</a:t>
            </a:r>
            <a:endParaRPr dirty="0"/>
          </a:p>
          <a:p>
            <a:pPr marL="0" lvl="0" indent="0" algn="l" rtl="0">
              <a:spcBef>
                <a:spcPts val="360"/>
              </a:spcBef>
              <a:spcAft>
                <a:spcPts val="0"/>
              </a:spcAft>
              <a:buClr>
                <a:srgbClr val="888888"/>
              </a:buClr>
              <a:buSzPts val="1800"/>
              <a:buNone/>
            </a:pPr>
            <a:r>
              <a:rPr lang="en-US" sz="1800" dirty="0"/>
              <a:t>We address the problem of product selection in e-commerce, where sellers often struggle to identify which products to launch in a highly competitive and fast-changing market. Traditional approaches rely heavily on intuition or manual research, which can be inefficient and unreliable.</a:t>
            </a:r>
            <a:endParaRPr sz="1800" dirty="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200"/>
              </a:spcBef>
              <a:spcAft>
                <a:spcPts val="0"/>
              </a:spcAft>
              <a:buClr>
                <a:srgbClr val="888888"/>
              </a:buClr>
              <a:buSzPts val="1000"/>
              <a:buNone/>
            </a:pPr>
            <a:endParaRPr sz="1000" dirty="0"/>
          </a:p>
          <a:p>
            <a:pPr marL="0" lvl="0" indent="0" algn="l" rtl="0">
              <a:spcBef>
                <a:spcPts val="440"/>
              </a:spcBef>
              <a:spcAft>
                <a:spcPts val="0"/>
              </a:spcAft>
              <a:buClr>
                <a:srgbClr val="595959"/>
              </a:buClr>
              <a:buSzPts val="22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Why does it matter?</a:t>
            </a:r>
            <a:endParaRPr dirty="0"/>
          </a:p>
          <a:p>
            <a:pPr marL="0" lvl="0" indent="0" algn="l" rtl="0">
              <a:spcBef>
                <a:spcPts val="360"/>
              </a:spcBef>
              <a:spcAft>
                <a:spcPts val="0"/>
              </a:spcAft>
              <a:buClr>
                <a:srgbClr val="888888"/>
              </a:buClr>
              <a:buSzPts val="1800"/>
              <a:buNone/>
            </a:pPr>
            <a:r>
              <a:rPr lang="en-US" sz="1800" dirty="0"/>
              <a:t>This problem matters because choosing the right product directly impacts business success. A data-driven solution can help sellers reduce risk, respond faster to market trends, and gain a competitive advantage by identifying high-demand and underserved products.</a:t>
            </a:r>
            <a:endParaRPr sz="1800" dirty="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200"/>
              </a:spcBef>
              <a:spcAft>
                <a:spcPts val="0"/>
              </a:spcAft>
              <a:buClr>
                <a:srgbClr val="888888"/>
              </a:buClr>
              <a:buSzPts val="1000"/>
              <a:buNone/>
            </a:pPr>
            <a:endParaRPr sz="1000" dirty="0"/>
          </a:p>
          <a:p>
            <a:pPr marL="0" lvl="0" indent="0" algn="l" rtl="0">
              <a:spcBef>
                <a:spcPts val="440"/>
              </a:spcBef>
              <a:spcAft>
                <a:spcPts val="0"/>
              </a:spcAft>
              <a:buClr>
                <a:srgbClr val="595959"/>
              </a:buClr>
              <a:buSzPts val="22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What's your approach?</a:t>
            </a:r>
            <a:endParaRPr dirty="0"/>
          </a:p>
          <a:p>
            <a:pPr marL="0" lvl="0" indent="0" algn="l" rtl="0">
              <a:spcBef>
                <a:spcPts val="360"/>
              </a:spcBef>
              <a:spcAft>
                <a:spcPts val="0"/>
              </a:spcAft>
              <a:buClr>
                <a:srgbClr val="888888"/>
              </a:buClr>
              <a:buSzPts val="1800"/>
              <a:buNone/>
            </a:pPr>
            <a:r>
              <a:rPr lang="en-US" sz="1800" dirty="0"/>
              <a:t>Our approach leverages large language models (LLMs) and NLP techniques to analyze e-commerce data, identify trending and under-supplied products, and extract actionable insights from customer reviews to uncover unmet needs and potential product improvements.</a:t>
            </a:r>
            <a:endParaRPr sz="1800" dirty="0">
              <a:solidFill>
                <a:srgbClr val="595959"/>
              </a:solidFill>
              <a:latin typeface="Arial" panose="020B0604020202020204"/>
              <a:ea typeface="Arial" panose="020B0604020202020204"/>
              <a:cs typeface="Arial" panose="020B0604020202020204"/>
              <a:sym typeface="Arial" panose="020B0604020202020204"/>
            </a:endParaRPr>
          </a:p>
        </p:txBody>
      </p:sp>
      <p:cxnSp>
        <p:nvCxnSpPr>
          <p:cNvPr id="109" name="Google Shape;109;p3"/>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10" name="Google Shape;110;p3"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ctrTitle"/>
          </p:nvPr>
        </p:nvSpPr>
        <p:spPr>
          <a:xfrm>
            <a:off x="2133600" y="2035176"/>
            <a:ext cx="8229600" cy="14700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a:solidFill>
                  <a:srgbClr val="990000"/>
                </a:solidFill>
                <a:latin typeface="Arial" panose="020B0604020202020204"/>
                <a:ea typeface="Arial" panose="020B0604020202020204"/>
                <a:cs typeface="Arial" panose="020B0604020202020204"/>
                <a:sym typeface="Arial" panose="020B0604020202020204"/>
              </a:rPr>
              <a:t>Approach &amp; Methods</a:t>
            </a:r>
            <a:endParaRPr lang="en-US" sz="360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16" name="Google Shape;116;p4"/>
          <p:cNvCxnSpPr/>
          <p:nvPr/>
        </p:nvCxnSpPr>
        <p:spPr>
          <a:xfrm>
            <a:off x="1524000" y="3200400"/>
            <a:ext cx="9144000" cy="0"/>
          </a:xfrm>
          <a:prstGeom prst="straightConnector1">
            <a:avLst/>
          </a:prstGeom>
          <a:noFill/>
          <a:ln w="9525" cap="flat" cmpd="sng">
            <a:solidFill>
              <a:srgbClr val="595959"/>
            </a:solidFill>
            <a:prstDash val="solid"/>
            <a:round/>
            <a:headEnd type="none" w="sm" len="sm"/>
            <a:tailEnd type="none" w="sm" len="sm"/>
          </a:ln>
        </p:spPr>
      </p:cxnSp>
      <p:cxnSp>
        <p:nvCxnSpPr>
          <p:cNvPr id="117" name="Google Shape;117;p4"/>
          <p:cNvCxnSpPr/>
          <p:nvPr/>
        </p:nvCxnSpPr>
        <p:spPr>
          <a:xfrm>
            <a:off x="1524000" y="2286000"/>
            <a:ext cx="9144000" cy="0"/>
          </a:xfrm>
          <a:prstGeom prst="straightConnector1">
            <a:avLst/>
          </a:prstGeom>
          <a:noFill/>
          <a:ln w="9525" cap="flat" cmpd="sng">
            <a:solidFill>
              <a:srgbClr val="595959"/>
            </a:solidFill>
            <a:prstDash val="solid"/>
            <a:round/>
            <a:headEnd type="none" w="sm" len="sm"/>
            <a:tailEnd type="none" w="sm" len="sm"/>
          </a:ln>
        </p:spPr>
      </p:cxnSp>
      <p:pic>
        <p:nvPicPr>
          <p:cNvPr id="118" name="Google Shape;118;p4"/>
          <p:cNvPicPr preferRelativeResize="0"/>
          <p:nvPr/>
        </p:nvPicPr>
        <p:blipFill rotWithShape="1">
          <a:blip r:embed="rId1"/>
          <a:srcRect/>
          <a:stretch>
            <a:fillRect/>
          </a:stretch>
        </p:blipFill>
        <p:spPr>
          <a:xfrm>
            <a:off x="0" y="111127"/>
            <a:ext cx="2378150" cy="743172"/>
          </a:xfrm>
          <a:prstGeom prst="rect">
            <a:avLst/>
          </a:prstGeom>
          <a:noFill/>
          <a:ln>
            <a:noFill/>
          </a:ln>
        </p:spPr>
      </p:pic>
      <p:pic>
        <p:nvPicPr>
          <p:cNvPr id="119" name="Google Shape;119;p4" descr="Z:\PP Assistants\Formal_Viterbi_CardOnTrans.png"/>
          <p:cNvPicPr preferRelativeResize="0"/>
          <p:nvPr/>
        </p:nvPicPr>
        <p:blipFill rotWithShape="1">
          <a:blip r:embed="rId2"/>
          <a:srcRect/>
          <a:stretch>
            <a:fillRect/>
          </a:stretch>
        </p:blipFill>
        <p:spPr>
          <a:xfrm>
            <a:off x="9601200" y="69328"/>
            <a:ext cx="2362200" cy="8267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800" y="425647"/>
            <a:ext cx="8392416"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ea typeface="Arial" panose="020B0604020202020204"/>
                <a:cs typeface="Arial" panose="020B0604020202020204"/>
                <a:sym typeface="Arial" panose="020B0604020202020204"/>
              </a:rPr>
              <a:t>MOTIVATION: IDENTIFYING THE GAP</a:t>
            </a:r>
            <a:endParaRPr lang="en-US" sz="3600" dirty="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grpSp>
        <p:nvGrpSpPr>
          <p:cNvPr id="37" name="组合 36"/>
          <p:cNvGrpSpPr/>
          <p:nvPr/>
        </p:nvGrpSpPr>
        <p:grpSpPr>
          <a:xfrm>
            <a:off x="457200" y="1820938"/>
            <a:ext cx="5252870" cy="4167466"/>
            <a:chOff x="457200" y="1820938"/>
            <a:chExt cx="5252870" cy="4167466"/>
          </a:xfrm>
        </p:grpSpPr>
        <p:sp>
          <p:nvSpPr>
            <p:cNvPr id="36" name="矩形: 圆角 35"/>
            <p:cNvSpPr/>
            <p:nvPr/>
          </p:nvSpPr>
          <p:spPr>
            <a:xfrm>
              <a:off x="477372" y="1820938"/>
              <a:ext cx="5220000" cy="235961"/>
            </a:xfrm>
            <a:prstGeom prst="roundRect">
              <a:avLst>
                <a:gd name="adj" fmla="val 41759"/>
              </a:avLst>
            </a:prstGeom>
            <a:noFill/>
            <a:ln w="38100">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a:off x="460491" y="1847291"/>
              <a:ext cx="5249579" cy="4141113"/>
            </a:xfrm>
            <a:prstGeom prst="roundRect">
              <a:avLst>
                <a:gd name="adj" fmla="val 2203"/>
              </a:avLst>
            </a:prstGeom>
            <a:solidFill>
              <a:schemeClr val="bg1"/>
            </a:solidFill>
            <a:ln w="12700">
              <a:solidFill>
                <a:schemeClr val="bg1">
                  <a:lumMod val="95000"/>
                </a:schemeClr>
              </a:solidFill>
            </a:ln>
            <a:effectLst>
              <a:outerShdw blurRad="50800" dist="38100" dir="5400000" algn="t" rotWithShape="0">
                <a:schemeClr val="bg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顶角 12"/>
            <p:cNvSpPr/>
            <p:nvPr/>
          </p:nvSpPr>
          <p:spPr>
            <a:xfrm>
              <a:off x="460492" y="1847292"/>
              <a:ext cx="5249578" cy="671147"/>
            </a:xfrm>
            <a:prstGeom prst="round2Same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76060" y="2025307"/>
              <a:ext cx="2179001" cy="368300"/>
            </a:xfrm>
            <a:prstGeom prst="rect">
              <a:avLst/>
            </a:prstGeom>
            <a:noFill/>
          </p:spPr>
          <p:txBody>
            <a:bodyPr wrap="square" rtlCol="0">
              <a:spAutoFit/>
            </a:bodyPr>
            <a:lstStyle/>
            <a:p>
              <a:r>
                <a:rPr lang="en-US" altLang="zh-CN" sz="1800" b="1" dirty="0"/>
                <a:t>Novice Sellers</a:t>
              </a:r>
              <a:endParaRPr lang="en-US" altLang="zh-CN" sz="1800" b="1" dirty="0"/>
            </a:p>
          </p:txBody>
        </p:sp>
        <p:sp>
          <p:nvSpPr>
            <p:cNvPr id="19" name="文本框 18"/>
            <p:cNvSpPr txBox="1"/>
            <p:nvPr/>
          </p:nvSpPr>
          <p:spPr>
            <a:xfrm>
              <a:off x="976060" y="2670430"/>
              <a:ext cx="4688776" cy="2360930"/>
            </a:xfrm>
            <a:prstGeom prst="rect">
              <a:avLst/>
            </a:prstGeom>
            <a:noFill/>
          </p:spPr>
          <p:txBody>
            <a:bodyPr wrap="square" rtlCol="0">
              <a:spAutoFit/>
            </a:bodyPr>
            <a:lstStyle/>
            <a:p>
              <a:pPr>
                <a:spcAft>
                  <a:spcPts val="400"/>
                </a:spcAft>
                <a:buClr>
                  <a:srgbClr val="861D10"/>
                </a:buClr>
              </a:pPr>
              <a:r>
                <a:rPr lang="en-US" altLang="zh-CN" sz="1250" b="1" dirty="0"/>
                <a:t>Market Blindness </a:t>
              </a:r>
              <a:endParaRPr lang="en-US" altLang="zh-CN" sz="1250" b="1" dirty="0"/>
            </a:p>
            <a:p>
              <a:pPr>
                <a:buClr>
                  <a:srgbClr val="861D10"/>
                </a:buClr>
              </a:pPr>
              <a:r>
                <a:rPr lang="en-US" altLang="zh-CN" sz="1250" dirty="0">
                  <a:solidFill>
                    <a:schemeClr val="tx1">
                      <a:lumMod val="65000"/>
                      <a:lumOff val="35000"/>
                    </a:schemeClr>
                  </a:solidFill>
                </a:rPr>
                <a:t>Poor product selection; blindly chasing saturated “red ocean” trends.</a:t>
              </a:r>
              <a:endParaRPr lang="en-US" altLang="zh-CN" sz="1250" dirty="0">
                <a:solidFill>
                  <a:schemeClr val="tx1">
                    <a:lumMod val="65000"/>
                    <a:lumOff val="35000"/>
                  </a:schemeClr>
                </a:solidFill>
              </a:endParaRPr>
            </a:p>
            <a:p>
              <a:pPr>
                <a:buClr>
                  <a:srgbClr val="861D10"/>
                </a:buClr>
              </a:pPr>
              <a:endParaRPr lang="en-US" altLang="zh-CN" sz="1250" dirty="0">
                <a:solidFill>
                  <a:schemeClr val="tx1">
                    <a:lumMod val="65000"/>
                    <a:lumOff val="35000"/>
                  </a:schemeClr>
                </a:solidFill>
              </a:endParaRPr>
            </a:p>
            <a:p>
              <a:pPr>
                <a:spcAft>
                  <a:spcPts val="400"/>
                </a:spcAft>
                <a:buClr>
                  <a:srgbClr val="861D10"/>
                </a:buClr>
              </a:pPr>
              <a:r>
                <a:rPr lang="en-US" altLang="zh-CN" sz="1250" b="1" dirty="0">
                  <a:solidFill>
                    <a:schemeClr val="tx1"/>
                  </a:solidFill>
                </a:rPr>
                <a:t>Suboptimal Operations</a:t>
              </a:r>
              <a:endParaRPr lang="en-US" altLang="zh-CN" sz="1250" b="1" dirty="0">
                <a:solidFill>
                  <a:schemeClr val="tx1"/>
                </a:solidFill>
              </a:endParaRPr>
            </a:p>
            <a:p>
              <a:pPr>
                <a:buClr>
                  <a:srgbClr val="861D10"/>
                </a:buClr>
              </a:pPr>
              <a:r>
                <a:rPr lang="en-US" altLang="zh-CN" sz="1250" dirty="0">
                  <a:solidFill>
                    <a:schemeClr val="tx1">
                      <a:lumMod val="65000"/>
                      <a:lumOff val="35000"/>
                    </a:schemeClr>
                  </a:solidFill>
                </a:rPr>
                <a:t>Ineffective marketing and keyword usage, causing missed target buyers.</a:t>
              </a:r>
              <a:endParaRPr lang="en-US" altLang="zh-CN" sz="1250" dirty="0">
                <a:solidFill>
                  <a:schemeClr val="tx1">
                    <a:lumMod val="65000"/>
                    <a:lumOff val="35000"/>
                  </a:schemeClr>
                </a:solidFill>
              </a:endParaRPr>
            </a:p>
            <a:p>
              <a:pPr>
                <a:buClr>
                  <a:srgbClr val="861D10"/>
                </a:buClr>
              </a:pPr>
              <a:endParaRPr lang="en-US" altLang="zh-CN" sz="1250" dirty="0">
                <a:solidFill>
                  <a:schemeClr val="tx1">
                    <a:lumMod val="65000"/>
                    <a:lumOff val="35000"/>
                  </a:schemeClr>
                </a:solidFill>
              </a:endParaRPr>
            </a:p>
            <a:p>
              <a:pPr>
                <a:spcAft>
                  <a:spcPts val="400"/>
                </a:spcAft>
                <a:buClr>
                  <a:srgbClr val="861D10"/>
                </a:buClr>
              </a:pPr>
              <a:r>
                <a:rPr lang="en-US" altLang="zh-CN" sz="1250" b="1" dirty="0">
                  <a:solidFill>
                    <a:schemeClr val="tx1"/>
                  </a:solidFill>
                </a:rPr>
                <a:t>Data Illiteracy</a:t>
              </a:r>
              <a:endParaRPr lang="en-US" altLang="zh-CN" sz="1250" b="1" dirty="0">
                <a:solidFill>
                  <a:schemeClr val="tx1"/>
                </a:solidFill>
              </a:endParaRPr>
            </a:p>
            <a:p>
              <a:pPr>
                <a:buClr>
                  <a:srgbClr val="861D10"/>
                </a:buClr>
              </a:pPr>
              <a:r>
                <a:rPr lang="en-US" altLang="zh-CN" sz="1250" dirty="0">
                  <a:solidFill>
                    <a:schemeClr val="tx1">
                      <a:lumMod val="65000"/>
                      <a:lumOff val="35000"/>
                    </a:schemeClr>
                  </a:solidFill>
                </a:rPr>
                <a:t>Inability to interpret raw data or identify core performance metrics.</a:t>
              </a:r>
              <a:endParaRPr lang="zh-CN" altLang="en-US" sz="1250" dirty="0">
                <a:solidFill>
                  <a:schemeClr val="tx1">
                    <a:lumMod val="65000"/>
                    <a:lumOff val="35000"/>
                  </a:schemeClr>
                </a:solidFill>
              </a:endParaRPr>
            </a:p>
          </p:txBody>
        </p:sp>
        <p:sp>
          <p:nvSpPr>
            <p:cNvPr id="32" name="矩形: 圆顶角 31"/>
            <p:cNvSpPr/>
            <p:nvPr/>
          </p:nvSpPr>
          <p:spPr>
            <a:xfrm rot="10800000">
              <a:off x="457200" y="5317257"/>
              <a:ext cx="5249578" cy="671147"/>
            </a:xfrm>
            <a:prstGeom prst="round2SameRect">
              <a:avLst/>
            </a:prstGeom>
            <a:solidFill>
              <a:srgbClr val="FA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1196305" y="5498942"/>
              <a:ext cx="3771366" cy="307777"/>
            </a:xfrm>
            <a:prstGeom prst="rect">
              <a:avLst/>
            </a:prstGeom>
            <a:noFill/>
          </p:spPr>
          <p:txBody>
            <a:bodyPr wrap="square" rtlCol="0">
              <a:spAutoFit/>
            </a:bodyPr>
            <a:lstStyle/>
            <a:p>
              <a:pPr algn="ctr"/>
              <a:r>
                <a:rPr lang="en-US" altLang="zh-CN" b="1" dirty="0">
                  <a:solidFill>
                    <a:srgbClr val="861D10"/>
                  </a:solidFill>
                </a:rPr>
                <a:t>Core Deficit: Lack of Direction</a:t>
              </a:r>
              <a:endParaRPr lang="zh-CN" altLang="en-US" b="1" dirty="0">
                <a:solidFill>
                  <a:srgbClr val="861D10"/>
                </a:solidFill>
              </a:endParaRPr>
            </a:p>
          </p:txBody>
        </p:sp>
      </p:grpSp>
      <p:grpSp>
        <p:nvGrpSpPr>
          <p:cNvPr id="57" name="组合 56"/>
          <p:cNvGrpSpPr/>
          <p:nvPr/>
        </p:nvGrpSpPr>
        <p:grpSpPr>
          <a:xfrm>
            <a:off x="6207329" y="1820938"/>
            <a:ext cx="5252870" cy="4167466"/>
            <a:chOff x="6207329" y="1820938"/>
            <a:chExt cx="5252870" cy="4167466"/>
          </a:xfrm>
        </p:grpSpPr>
        <p:sp>
          <p:nvSpPr>
            <p:cNvPr id="38" name="矩形: 圆角 37"/>
            <p:cNvSpPr/>
            <p:nvPr/>
          </p:nvSpPr>
          <p:spPr>
            <a:xfrm>
              <a:off x="6227501" y="1820938"/>
              <a:ext cx="5220000" cy="235961"/>
            </a:xfrm>
            <a:prstGeom prst="roundRect">
              <a:avLst>
                <a:gd name="adj" fmla="val 41759"/>
              </a:avLst>
            </a:prstGeom>
            <a:noFill/>
            <a:ln w="38100">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p:cNvSpPr/>
            <p:nvPr/>
          </p:nvSpPr>
          <p:spPr>
            <a:xfrm>
              <a:off x="6210620" y="1847291"/>
              <a:ext cx="5249579" cy="4141113"/>
            </a:xfrm>
            <a:prstGeom prst="roundRect">
              <a:avLst>
                <a:gd name="adj" fmla="val 2203"/>
              </a:avLst>
            </a:prstGeom>
            <a:solidFill>
              <a:schemeClr val="bg1"/>
            </a:solidFill>
            <a:ln w="12700">
              <a:solidFill>
                <a:schemeClr val="bg1">
                  <a:lumMod val="95000"/>
                </a:schemeClr>
              </a:solidFill>
            </a:ln>
            <a:effectLst>
              <a:outerShdw blurRad="50800" dist="38100" dir="5400000" algn="t" rotWithShape="0">
                <a:schemeClr val="bg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顶角 39"/>
            <p:cNvSpPr/>
            <p:nvPr/>
          </p:nvSpPr>
          <p:spPr>
            <a:xfrm>
              <a:off x="6210621" y="1847292"/>
              <a:ext cx="5249578" cy="671147"/>
            </a:xfrm>
            <a:prstGeom prst="round2SameRect">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6726189" y="2025307"/>
              <a:ext cx="2179001" cy="368300"/>
            </a:xfrm>
            <a:prstGeom prst="rect">
              <a:avLst/>
            </a:prstGeom>
            <a:noFill/>
          </p:spPr>
          <p:txBody>
            <a:bodyPr wrap="square" rtlCol="0">
              <a:spAutoFit/>
            </a:bodyPr>
            <a:lstStyle/>
            <a:p>
              <a:r>
                <a:rPr lang="en-US" altLang="zh-CN" sz="1800" b="1" dirty="0"/>
                <a:t>Veteran Sellers</a:t>
              </a:r>
              <a:endParaRPr lang="en-US" altLang="zh-CN" sz="1800" b="1" dirty="0"/>
            </a:p>
          </p:txBody>
        </p:sp>
        <p:sp>
          <p:nvSpPr>
            <p:cNvPr id="43" name="文本框 42"/>
            <p:cNvSpPr txBox="1"/>
            <p:nvPr/>
          </p:nvSpPr>
          <p:spPr>
            <a:xfrm>
              <a:off x="6726189" y="2721230"/>
              <a:ext cx="4688776" cy="2360930"/>
            </a:xfrm>
            <a:prstGeom prst="rect">
              <a:avLst/>
            </a:prstGeom>
            <a:noFill/>
          </p:spPr>
          <p:txBody>
            <a:bodyPr wrap="square" rtlCol="0">
              <a:spAutoFit/>
            </a:bodyPr>
            <a:lstStyle/>
            <a:p>
              <a:pPr>
                <a:spcAft>
                  <a:spcPts val="400"/>
                </a:spcAft>
                <a:buClr>
                  <a:srgbClr val="861D10"/>
                </a:buClr>
              </a:pPr>
              <a:r>
                <a:rPr lang="en-US" altLang="zh-CN" sz="1250" b="1" dirty="0"/>
                <a:t>Intuition Dependency </a:t>
              </a:r>
              <a:endParaRPr lang="en-US" altLang="zh-CN" sz="1250" b="1" dirty="0"/>
            </a:p>
            <a:p>
              <a:pPr>
                <a:buClr>
                  <a:srgbClr val="861D10"/>
                </a:buClr>
              </a:pPr>
              <a:r>
                <a:rPr lang="en-US" altLang="zh-CN" sz="1250" dirty="0">
                  <a:solidFill>
                    <a:schemeClr val="tx1">
                      <a:lumMod val="65000"/>
                      <a:lumOff val="35000"/>
                    </a:schemeClr>
                  </a:solidFill>
                </a:rPr>
                <a:t>Making critical business choices without rigorous, data-driven backing.</a:t>
              </a:r>
              <a:endParaRPr lang="en-US" altLang="zh-CN" sz="1250" dirty="0">
                <a:solidFill>
                  <a:schemeClr val="tx1">
                    <a:lumMod val="65000"/>
                    <a:lumOff val="35000"/>
                  </a:schemeClr>
                </a:solidFill>
              </a:endParaRPr>
            </a:p>
            <a:p>
              <a:pPr>
                <a:buClr>
                  <a:srgbClr val="861D10"/>
                </a:buClr>
              </a:pPr>
              <a:endParaRPr lang="en-US" altLang="zh-CN" sz="1250" dirty="0">
                <a:solidFill>
                  <a:schemeClr val="tx1">
                    <a:lumMod val="65000"/>
                    <a:lumOff val="35000"/>
                  </a:schemeClr>
                </a:solidFill>
              </a:endParaRPr>
            </a:p>
            <a:p>
              <a:pPr>
                <a:spcAft>
                  <a:spcPts val="400"/>
                </a:spcAft>
                <a:buClr>
                  <a:srgbClr val="861D10"/>
                </a:buClr>
              </a:pPr>
              <a:r>
                <a:rPr lang="en-US" altLang="zh-CN" sz="1250" b="1" dirty="0">
                  <a:solidFill>
                    <a:schemeClr val="tx1"/>
                  </a:solidFill>
                </a:rPr>
                <a:t>Innovation Lag</a:t>
              </a:r>
              <a:endParaRPr lang="en-US" altLang="zh-CN" sz="1250" b="1" dirty="0">
                <a:solidFill>
                  <a:schemeClr val="tx1"/>
                </a:solidFill>
              </a:endParaRPr>
            </a:p>
            <a:p>
              <a:pPr>
                <a:buClr>
                  <a:srgbClr val="861D10"/>
                </a:buClr>
              </a:pPr>
              <a:r>
                <a:rPr lang="en-US" altLang="zh-CN" sz="1250" dirty="0">
                  <a:solidFill>
                    <a:schemeClr val="tx1">
                      <a:lumMod val="65000"/>
                      <a:lumOff val="35000"/>
                    </a:schemeClr>
                  </a:solidFill>
                </a:rPr>
                <a:t>Slow to mine new opportunities or identify rapid product improvements.</a:t>
              </a:r>
              <a:endParaRPr lang="en-US" altLang="zh-CN" sz="1250" dirty="0">
                <a:solidFill>
                  <a:schemeClr val="tx1">
                    <a:lumMod val="65000"/>
                    <a:lumOff val="35000"/>
                  </a:schemeClr>
                </a:solidFill>
              </a:endParaRPr>
            </a:p>
            <a:p>
              <a:pPr>
                <a:buClr>
                  <a:srgbClr val="861D10"/>
                </a:buClr>
              </a:pPr>
              <a:endParaRPr lang="en-US" altLang="zh-CN" sz="1250" dirty="0">
                <a:solidFill>
                  <a:schemeClr val="tx1">
                    <a:lumMod val="65000"/>
                    <a:lumOff val="35000"/>
                  </a:schemeClr>
                </a:solidFill>
              </a:endParaRPr>
            </a:p>
            <a:p>
              <a:pPr>
                <a:spcAft>
                  <a:spcPts val="400"/>
                </a:spcAft>
                <a:buClr>
                  <a:srgbClr val="861D10"/>
                </a:buClr>
              </a:pPr>
              <a:r>
                <a:rPr lang="en-US" altLang="zh-CN" sz="1250" b="1" dirty="0">
                  <a:solidFill>
                    <a:schemeClr val="tx1"/>
                  </a:solidFill>
                </a:rPr>
                <a:t>Margin Erosion</a:t>
              </a:r>
              <a:endParaRPr lang="en-US" altLang="zh-CN" sz="1250" b="1" dirty="0">
                <a:solidFill>
                  <a:schemeClr val="tx1"/>
                </a:solidFill>
              </a:endParaRPr>
            </a:p>
            <a:p>
              <a:pPr>
                <a:buClr>
                  <a:srgbClr val="861D10"/>
                </a:buClr>
              </a:pPr>
              <a:r>
                <a:rPr lang="en-US" altLang="zh-CN" sz="1250" dirty="0">
                  <a:solidFill>
                    <a:schemeClr val="tx1">
                      <a:lumMod val="65000"/>
                      <a:lumOff val="35000"/>
                    </a:schemeClr>
                  </a:solidFill>
                </a:rPr>
                <a:t>Lacking granular operational analysis, making profit optimization.</a:t>
              </a:r>
              <a:endParaRPr lang="zh-CN" altLang="en-US" sz="1250" dirty="0">
                <a:solidFill>
                  <a:schemeClr val="tx1">
                    <a:lumMod val="65000"/>
                    <a:lumOff val="35000"/>
                  </a:schemeClr>
                </a:solidFill>
              </a:endParaRPr>
            </a:p>
          </p:txBody>
        </p:sp>
        <p:sp>
          <p:nvSpPr>
            <p:cNvPr id="47" name="矩形: 圆顶角 46"/>
            <p:cNvSpPr/>
            <p:nvPr/>
          </p:nvSpPr>
          <p:spPr>
            <a:xfrm rot="10800000">
              <a:off x="6207329" y="5317257"/>
              <a:ext cx="5249578" cy="671147"/>
            </a:xfrm>
            <a:prstGeom prst="round2SameRect">
              <a:avLst/>
            </a:prstGeom>
            <a:solidFill>
              <a:srgbClr val="FA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946434" y="5498942"/>
              <a:ext cx="3771366" cy="307777"/>
            </a:xfrm>
            <a:prstGeom prst="rect">
              <a:avLst/>
            </a:prstGeom>
            <a:noFill/>
          </p:spPr>
          <p:txBody>
            <a:bodyPr wrap="square" rtlCol="0">
              <a:spAutoFit/>
            </a:bodyPr>
            <a:lstStyle/>
            <a:p>
              <a:pPr algn="ctr"/>
              <a:r>
                <a:rPr lang="en-US" altLang="zh-CN" b="1" dirty="0">
                  <a:solidFill>
                    <a:srgbClr val="861D10"/>
                  </a:solidFill>
                </a:rPr>
                <a:t>Core Deficit: Lack of Deep Insight</a:t>
              </a:r>
              <a:endParaRPr lang="zh-CN" altLang="en-US" b="1" dirty="0">
                <a:solidFill>
                  <a:srgbClr val="861D10"/>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800" y="425647"/>
            <a:ext cx="8392416"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ea typeface="Arial" panose="020B0604020202020204"/>
                <a:cs typeface="Arial" panose="020B0604020202020204"/>
                <a:sym typeface="Arial" panose="020B0604020202020204"/>
              </a:rPr>
              <a:t>OUR GOALS</a:t>
            </a:r>
            <a:endParaRPr lang="en-US" sz="3600" dirty="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6" name="矩形: 圆角 5"/>
          <p:cNvSpPr/>
          <p:nvPr/>
        </p:nvSpPr>
        <p:spPr>
          <a:xfrm>
            <a:off x="4372756" y="1998206"/>
            <a:ext cx="3400767" cy="432000"/>
          </a:xfrm>
          <a:prstGeom prst="roundRect">
            <a:avLst>
              <a:gd name="adj" fmla="val 50000"/>
            </a:avLst>
          </a:prstGeom>
          <a:solidFill>
            <a:srgbClr val="861D10"/>
          </a:solidFill>
          <a:ln>
            <a:solidFill>
              <a:srgbClr val="861D10"/>
            </a:solidFill>
          </a:ln>
          <a:effectLst>
            <a:outerShdw blurRad="50800" dist="38100" dir="5400000" algn="t" rotWithShape="0">
              <a:schemeClr val="bg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t>Bridging the Gap via AI</a:t>
            </a:r>
            <a:endParaRPr lang="zh-CN" altLang="en-US" sz="1600" b="1" dirty="0"/>
          </a:p>
        </p:txBody>
      </p:sp>
      <p:grpSp>
        <p:nvGrpSpPr>
          <p:cNvPr id="80" name="组合 79"/>
          <p:cNvGrpSpPr/>
          <p:nvPr/>
        </p:nvGrpSpPr>
        <p:grpSpPr>
          <a:xfrm>
            <a:off x="457200" y="3055784"/>
            <a:ext cx="3223424" cy="3026072"/>
            <a:chOff x="457200" y="3223424"/>
            <a:chExt cx="3223424" cy="3026072"/>
          </a:xfrm>
        </p:grpSpPr>
        <p:sp>
          <p:nvSpPr>
            <p:cNvPr id="9" name="矩形: 圆角 8"/>
            <p:cNvSpPr/>
            <p:nvPr/>
          </p:nvSpPr>
          <p:spPr>
            <a:xfrm>
              <a:off x="457200" y="3223424"/>
              <a:ext cx="3223424" cy="3026072"/>
            </a:xfrm>
            <a:prstGeom prst="roundRect">
              <a:avLst/>
            </a:prstGeom>
            <a:solidFill>
              <a:schemeClr val="bg1"/>
            </a:solidFill>
            <a:ln w="19050">
              <a:solidFill>
                <a:srgbClr val="E2E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708912" y="3582289"/>
              <a:ext cx="720000" cy="720000"/>
            </a:xfrm>
            <a:prstGeom prst="ellipse">
              <a:avLst/>
            </a:prstGeom>
            <a:solidFill>
              <a:srgbClr val="F8FAFC"/>
            </a:solidFill>
            <a:ln w="19050">
              <a:solidFill>
                <a:srgbClr val="EA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009303" y="4367128"/>
              <a:ext cx="2119217" cy="369332"/>
            </a:xfrm>
            <a:prstGeom prst="rect">
              <a:avLst/>
            </a:prstGeom>
            <a:noFill/>
          </p:spPr>
          <p:txBody>
            <a:bodyPr wrap="square" rtlCol="0">
              <a:spAutoFit/>
            </a:bodyPr>
            <a:lstStyle/>
            <a:p>
              <a:pPr algn="ctr"/>
              <a:r>
                <a:rPr lang="en-US" altLang="zh-CN" sz="1800" b="1" dirty="0">
                  <a:solidFill>
                    <a:schemeClr val="tx1"/>
                  </a:solidFill>
                </a:rPr>
                <a:t>WHO</a:t>
              </a:r>
              <a:endParaRPr lang="zh-CN" altLang="en-US" sz="1800" b="1" dirty="0">
                <a:solidFill>
                  <a:schemeClr val="tx1"/>
                </a:solidFill>
              </a:endParaRPr>
            </a:p>
          </p:txBody>
        </p:sp>
        <p:sp>
          <p:nvSpPr>
            <p:cNvPr id="28" name="文本框 27"/>
            <p:cNvSpPr txBox="1"/>
            <p:nvPr/>
          </p:nvSpPr>
          <p:spPr>
            <a:xfrm>
              <a:off x="840149" y="4736460"/>
              <a:ext cx="2457524" cy="307777"/>
            </a:xfrm>
            <a:prstGeom prst="rect">
              <a:avLst/>
            </a:prstGeom>
            <a:noFill/>
          </p:spPr>
          <p:txBody>
            <a:bodyPr wrap="square" rtlCol="0">
              <a:spAutoFit/>
            </a:bodyPr>
            <a:lstStyle/>
            <a:p>
              <a:pPr algn="ctr"/>
              <a:r>
                <a:rPr lang="en-US" altLang="zh-CN" b="1" dirty="0">
                  <a:solidFill>
                    <a:srgbClr val="861D10"/>
                  </a:solidFill>
                </a:rPr>
                <a:t>E-Commerce Sellers</a:t>
              </a:r>
              <a:endParaRPr lang="zh-CN" altLang="en-US" b="1" dirty="0">
                <a:solidFill>
                  <a:srgbClr val="861D10"/>
                </a:solidFill>
              </a:endParaRPr>
            </a:p>
          </p:txBody>
        </p:sp>
        <p:sp>
          <p:nvSpPr>
            <p:cNvPr id="30" name="文本框 29"/>
            <p:cNvSpPr txBox="1"/>
            <p:nvPr/>
          </p:nvSpPr>
          <p:spPr>
            <a:xfrm>
              <a:off x="640998" y="5090403"/>
              <a:ext cx="2855826" cy="646331"/>
            </a:xfrm>
            <a:prstGeom prst="rect">
              <a:avLst/>
            </a:prstGeom>
            <a:noFill/>
          </p:spPr>
          <p:txBody>
            <a:bodyPr wrap="square" rtlCol="0">
              <a:spAutoFit/>
            </a:bodyPr>
            <a:lstStyle/>
            <a:p>
              <a:pPr algn="ctr"/>
              <a:r>
                <a:rPr lang="en-US" altLang="zh-CN" sz="1200" dirty="0">
                  <a:solidFill>
                    <a:srgbClr val="535250"/>
                  </a:solidFill>
                </a:rPr>
                <a:t>Empowering both novices and veterans with enterprise-grade operational capabilities.</a:t>
              </a:r>
              <a:endParaRPr lang="zh-CN" altLang="en-US" sz="1200" dirty="0">
                <a:solidFill>
                  <a:srgbClr val="535250"/>
                </a:solidFill>
              </a:endParaRPr>
            </a:p>
          </p:txBody>
        </p:sp>
        <p:pic>
          <p:nvPicPr>
            <p:cNvPr id="44" name="图片 43"/>
            <p:cNvPicPr>
              <a:picLocks noChangeAspect="1"/>
            </p:cNvPicPr>
            <p:nvPr/>
          </p:nvPicPr>
          <p:blipFill>
            <a:blip r:embed="rId2"/>
            <a:stretch>
              <a:fillRect/>
            </a:stretch>
          </p:blipFill>
          <p:spPr>
            <a:xfrm>
              <a:off x="1820510" y="3688914"/>
              <a:ext cx="496801" cy="468000"/>
            </a:xfrm>
            <a:prstGeom prst="rect">
              <a:avLst/>
            </a:prstGeom>
          </p:spPr>
        </p:pic>
      </p:grpSp>
      <p:grpSp>
        <p:nvGrpSpPr>
          <p:cNvPr id="79" name="组合 78"/>
          <p:cNvGrpSpPr/>
          <p:nvPr/>
        </p:nvGrpSpPr>
        <p:grpSpPr>
          <a:xfrm>
            <a:off x="4484288" y="3055784"/>
            <a:ext cx="3223424" cy="3026072"/>
            <a:chOff x="4598588" y="3223424"/>
            <a:chExt cx="3223424" cy="3026072"/>
          </a:xfrm>
        </p:grpSpPr>
        <p:sp>
          <p:nvSpPr>
            <p:cNvPr id="55" name="矩形: 圆角 54"/>
            <p:cNvSpPr/>
            <p:nvPr/>
          </p:nvSpPr>
          <p:spPr>
            <a:xfrm>
              <a:off x="4598588" y="3223424"/>
              <a:ext cx="3223424" cy="3026072"/>
            </a:xfrm>
            <a:prstGeom prst="roundRect">
              <a:avLst/>
            </a:prstGeom>
            <a:solidFill>
              <a:schemeClr val="bg1"/>
            </a:solidFill>
            <a:ln w="19050">
              <a:solidFill>
                <a:srgbClr val="E2E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5850300" y="3582289"/>
              <a:ext cx="720000" cy="720000"/>
            </a:xfrm>
            <a:prstGeom prst="ellipse">
              <a:avLst/>
            </a:prstGeom>
            <a:solidFill>
              <a:srgbClr val="F8FAFC"/>
            </a:solidFill>
            <a:ln w="19050">
              <a:solidFill>
                <a:srgbClr val="EA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5150691" y="4367128"/>
              <a:ext cx="2119217" cy="369332"/>
            </a:xfrm>
            <a:prstGeom prst="rect">
              <a:avLst/>
            </a:prstGeom>
            <a:noFill/>
          </p:spPr>
          <p:txBody>
            <a:bodyPr wrap="square" rtlCol="0">
              <a:spAutoFit/>
            </a:bodyPr>
            <a:lstStyle/>
            <a:p>
              <a:pPr algn="ctr"/>
              <a:r>
                <a:rPr lang="en-US" altLang="zh-CN" sz="1800" b="1" dirty="0">
                  <a:solidFill>
                    <a:schemeClr val="tx1"/>
                  </a:solidFill>
                </a:rPr>
                <a:t>WHAT</a:t>
              </a:r>
              <a:endParaRPr lang="zh-CN" altLang="en-US" sz="1800" b="1" dirty="0">
                <a:solidFill>
                  <a:schemeClr val="tx1"/>
                </a:solidFill>
              </a:endParaRPr>
            </a:p>
          </p:txBody>
        </p:sp>
        <p:sp>
          <p:nvSpPr>
            <p:cNvPr id="60" name="文本框 59"/>
            <p:cNvSpPr txBox="1"/>
            <p:nvPr/>
          </p:nvSpPr>
          <p:spPr>
            <a:xfrm>
              <a:off x="4981537" y="4736460"/>
              <a:ext cx="2457524" cy="307777"/>
            </a:xfrm>
            <a:prstGeom prst="rect">
              <a:avLst/>
            </a:prstGeom>
            <a:noFill/>
          </p:spPr>
          <p:txBody>
            <a:bodyPr wrap="square" rtlCol="0">
              <a:spAutoFit/>
            </a:bodyPr>
            <a:lstStyle/>
            <a:p>
              <a:pPr algn="ctr"/>
              <a:r>
                <a:rPr lang="en-US" altLang="zh-CN" b="1" dirty="0">
                  <a:solidFill>
                    <a:srgbClr val="861D10"/>
                  </a:solidFill>
                </a:rPr>
                <a:t>AI-Driven Insights</a:t>
              </a:r>
              <a:endParaRPr lang="zh-CN" altLang="en-US" b="1" dirty="0">
                <a:solidFill>
                  <a:srgbClr val="861D10"/>
                </a:solidFill>
              </a:endParaRPr>
            </a:p>
          </p:txBody>
        </p:sp>
        <p:sp>
          <p:nvSpPr>
            <p:cNvPr id="61" name="文本框 60"/>
            <p:cNvSpPr txBox="1"/>
            <p:nvPr/>
          </p:nvSpPr>
          <p:spPr>
            <a:xfrm>
              <a:off x="4782386" y="5090403"/>
              <a:ext cx="2855826" cy="646331"/>
            </a:xfrm>
            <a:prstGeom prst="rect">
              <a:avLst/>
            </a:prstGeom>
            <a:noFill/>
          </p:spPr>
          <p:txBody>
            <a:bodyPr wrap="square" rtlCol="0">
              <a:spAutoFit/>
            </a:bodyPr>
            <a:lstStyle/>
            <a:p>
              <a:pPr algn="ctr"/>
              <a:r>
                <a:rPr lang="en-US" altLang="zh-CN" sz="1200" dirty="0">
                  <a:solidFill>
                    <a:srgbClr val="535250"/>
                  </a:solidFill>
                </a:rPr>
                <a:t>Transforming complex, noisy market data into precise, actionable recommendations via LLMs.</a:t>
              </a:r>
              <a:endParaRPr lang="zh-CN" altLang="en-US" sz="1200" dirty="0">
                <a:solidFill>
                  <a:srgbClr val="535250"/>
                </a:solidFill>
              </a:endParaRPr>
            </a:p>
          </p:txBody>
        </p:sp>
        <p:pic>
          <p:nvPicPr>
            <p:cNvPr id="70" name="图片 69"/>
            <p:cNvPicPr>
              <a:picLocks noChangeAspect="1"/>
            </p:cNvPicPr>
            <p:nvPr/>
          </p:nvPicPr>
          <p:blipFill>
            <a:blip r:embed="rId3"/>
            <a:stretch>
              <a:fillRect/>
            </a:stretch>
          </p:blipFill>
          <p:spPr>
            <a:xfrm>
              <a:off x="5962711" y="3708289"/>
              <a:ext cx="521487" cy="468000"/>
            </a:xfrm>
            <a:prstGeom prst="rect">
              <a:avLst/>
            </a:prstGeom>
          </p:spPr>
        </p:pic>
      </p:grpSp>
      <p:grpSp>
        <p:nvGrpSpPr>
          <p:cNvPr id="78" name="组合 77"/>
          <p:cNvGrpSpPr/>
          <p:nvPr/>
        </p:nvGrpSpPr>
        <p:grpSpPr>
          <a:xfrm>
            <a:off x="8511376" y="3055784"/>
            <a:ext cx="3223424" cy="3026072"/>
            <a:chOff x="8739976" y="3223424"/>
            <a:chExt cx="3223424" cy="3026072"/>
          </a:xfrm>
        </p:grpSpPr>
        <p:sp>
          <p:nvSpPr>
            <p:cNvPr id="63" name="矩形: 圆角 62"/>
            <p:cNvSpPr/>
            <p:nvPr/>
          </p:nvSpPr>
          <p:spPr>
            <a:xfrm>
              <a:off x="8739976" y="3223424"/>
              <a:ext cx="3223424" cy="3026072"/>
            </a:xfrm>
            <a:prstGeom prst="roundRect">
              <a:avLst/>
            </a:prstGeom>
            <a:solidFill>
              <a:schemeClr val="bg1"/>
            </a:solidFill>
            <a:ln w="19050">
              <a:solidFill>
                <a:srgbClr val="E2E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9991688" y="3582289"/>
              <a:ext cx="720000" cy="720000"/>
            </a:xfrm>
            <a:prstGeom prst="ellipse">
              <a:avLst/>
            </a:prstGeom>
            <a:solidFill>
              <a:srgbClr val="F8FAFC"/>
            </a:solidFill>
            <a:ln w="19050">
              <a:solidFill>
                <a:srgbClr val="EAEE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9292079" y="4367128"/>
              <a:ext cx="2119217" cy="369332"/>
            </a:xfrm>
            <a:prstGeom prst="rect">
              <a:avLst/>
            </a:prstGeom>
            <a:noFill/>
          </p:spPr>
          <p:txBody>
            <a:bodyPr wrap="square" rtlCol="0">
              <a:spAutoFit/>
            </a:bodyPr>
            <a:lstStyle/>
            <a:p>
              <a:pPr algn="ctr"/>
              <a:r>
                <a:rPr lang="en-US" altLang="zh-CN" sz="1800" b="1" dirty="0">
                  <a:solidFill>
                    <a:schemeClr val="tx1"/>
                  </a:solidFill>
                </a:rPr>
                <a:t>WHY</a:t>
              </a:r>
              <a:endParaRPr lang="zh-CN" altLang="en-US" sz="1800" b="1" dirty="0">
                <a:solidFill>
                  <a:schemeClr val="tx1"/>
                </a:solidFill>
              </a:endParaRPr>
            </a:p>
          </p:txBody>
        </p:sp>
        <p:sp>
          <p:nvSpPr>
            <p:cNvPr id="66" name="文本框 65"/>
            <p:cNvSpPr txBox="1"/>
            <p:nvPr/>
          </p:nvSpPr>
          <p:spPr>
            <a:xfrm>
              <a:off x="9122925" y="4736460"/>
              <a:ext cx="2457524" cy="307777"/>
            </a:xfrm>
            <a:prstGeom prst="rect">
              <a:avLst/>
            </a:prstGeom>
            <a:noFill/>
          </p:spPr>
          <p:txBody>
            <a:bodyPr wrap="square" rtlCol="0">
              <a:spAutoFit/>
            </a:bodyPr>
            <a:lstStyle/>
            <a:p>
              <a:pPr algn="ctr"/>
              <a:r>
                <a:rPr lang="en-US" altLang="zh-CN" b="1" dirty="0">
                  <a:solidFill>
                    <a:srgbClr val="861D10"/>
                  </a:solidFill>
                </a:rPr>
                <a:t>Strategic Dominance</a:t>
              </a:r>
              <a:endParaRPr lang="zh-CN" altLang="en-US" b="1" dirty="0">
                <a:solidFill>
                  <a:srgbClr val="861D10"/>
                </a:solidFill>
              </a:endParaRPr>
            </a:p>
          </p:txBody>
        </p:sp>
        <p:sp>
          <p:nvSpPr>
            <p:cNvPr id="67" name="文本框 66"/>
            <p:cNvSpPr txBox="1"/>
            <p:nvPr/>
          </p:nvSpPr>
          <p:spPr>
            <a:xfrm>
              <a:off x="8923774" y="5090403"/>
              <a:ext cx="2855826" cy="646331"/>
            </a:xfrm>
            <a:prstGeom prst="rect">
              <a:avLst/>
            </a:prstGeom>
            <a:noFill/>
          </p:spPr>
          <p:txBody>
            <a:bodyPr wrap="square" rtlCol="0">
              <a:spAutoFit/>
            </a:bodyPr>
            <a:lstStyle/>
            <a:p>
              <a:pPr algn="ctr"/>
              <a:r>
                <a:rPr lang="en-US" altLang="zh-CN" sz="1200" dirty="0">
                  <a:solidFill>
                    <a:srgbClr val="535250"/>
                  </a:solidFill>
                </a:rPr>
                <a:t>Enabling smarter decisions to optimize profits and capture untapped market opportunities.</a:t>
              </a:r>
              <a:endParaRPr lang="zh-CN" altLang="en-US" sz="1200" dirty="0">
                <a:solidFill>
                  <a:srgbClr val="535250"/>
                </a:solidFill>
              </a:endParaRPr>
            </a:p>
          </p:txBody>
        </p:sp>
        <p:pic>
          <p:nvPicPr>
            <p:cNvPr id="72" name="图片 71"/>
            <p:cNvPicPr>
              <a:picLocks noChangeAspect="1"/>
            </p:cNvPicPr>
            <p:nvPr/>
          </p:nvPicPr>
          <p:blipFill>
            <a:blip r:embed="rId4"/>
            <a:stretch>
              <a:fillRect/>
            </a:stretch>
          </p:blipFill>
          <p:spPr>
            <a:xfrm>
              <a:off x="10079268" y="3708289"/>
              <a:ext cx="544837" cy="468000"/>
            </a:xfrm>
            <a:prstGeom prst="rect">
              <a:avLst/>
            </a:prstGeom>
          </p:spPr>
        </p:pic>
      </p:grpSp>
      <p:pic>
        <p:nvPicPr>
          <p:cNvPr id="74" name="图形 73" descr="插入点右移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41606" y="4494348"/>
            <a:ext cx="396000" cy="396000"/>
          </a:xfrm>
          <a:prstGeom prst="rect">
            <a:avLst/>
          </a:prstGeom>
        </p:spPr>
      </p:pic>
      <p:pic>
        <p:nvPicPr>
          <p:cNvPr id="77" name="图形 76" descr="插入点右移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9554" y="4494348"/>
            <a:ext cx="396000" cy="3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MOTIVATION &amp; GOALS</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25" name="Google Shape;125;p5"/>
          <p:cNvSpPr txBox="1">
            <a:spLocks noGrp="1"/>
          </p:cNvSpPr>
          <p:nvPr>
            <p:ph type="subTitle" idx="1"/>
          </p:nvPr>
        </p:nvSpPr>
        <p:spPr>
          <a:xfrm>
            <a:off x="1295400" y="1371600"/>
            <a:ext cx="9296400" cy="4953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rgbClr val="595959"/>
              </a:buClr>
              <a:buSzPct val="1000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What gap or need exists?</a:t>
            </a:r>
            <a:endParaRPr dirty="0"/>
          </a:p>
          <a:p>
            <a:pPr marL="0" lvl="0" indent="0" algn="l" rtl="0">
              <a:spcBef>
                <a:spcPts val="305"/>
              </a:spcBef>
              <a:spcAft>
                <a:spcPts val="0"/>
              </a:spcAft>
              <a:buClr>
                <a:srgbClr val="888888"/>
              </a:buClr>
              <a:buSzPct val="100000"/>
              <a:buNone/>
            </a:pPr>
            <a:r>
              <a:rPr lang="en-US" sz="1800" dirty="0"/>
              <a:t>For a new e-commerce seller, entering the market is highly uncertain. Without prior experience, it is difficult to determine which products are worth selling, what customers actually want, and how to compete with established sellers.</a:t>
            </a:r>
            <a:endParaRPr dirty="0"/>
          </a:p>
          <a:p>
            <a:pPr marL="0" lvl="0" indent="0" algn="l" rtl="0">
              <a:spcBef>
                <a:spcPts val="305"/>
              </a:spcBef>
              <a:spcAft>
                <a:spcPts val="0"/>
              </a:spcAft>
              <a:buClr>
                <a:srgbClr val="888888"/>
              </a:buClr>
              <a:buSzPct val="100000"/>
              <a:buNone/>
            </a:pPr>
            <a:r>
              <a:rPr lang="en-US" sz="1800" dirty="0"/>
              <a:t>In particular, there is a lack of tools that can leverage customer reviews to generate meaningful insights, such as consumer personas, usage scenarios, and key preference drivers. Existing solutions rarely identify the core pain points of current products or provide guidance on how to improve them, making it difficult for sellers to develop differentiated products.</a:t>
            </a:r>
            <a:endParaRPr sz="1800" dirty="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170"/>
              </a:spcBef>
              <a:spcAft>
                <a:spcPts val="0"/>
              </a:spcAft>
              <a:buClr>
                <a:srgbClr val="888888"/>
              </a:buClr>
              <a:buSzPct val="100000"/>
              <a:buNone/>
            </a:pPr>
            <a:endParaRPr sz="1000" dirty="0"/>
          </a:p>
          <a:p>
            <a:pPr marL="0" lvl="0" indent="0" algn="l" rtl="0">
              <a:spcBef>
                <a:spcPts val="375"/>
              </a:spcBef>
              <a:spcAft>
                <a:spcPts val="0"/>
              </a:spcAft>
              <a:buClr>
                <a:srgbClr val="595959"/>
              </a:buClr>
              <a:buSzPct val="1000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What are you trying to achieve?</a:t>
            </a:r>
            <a:r>
              <a:rPr dirty="0"/>
              <a:t> </a:t>
            </a:r>
            <a:endParaRPr lang="en-US" dirty="0"/>
          </a:p>
          <a:p>
            <a:pPr marL="0" lvl="0" indent="0" algn="l" rtl="0">
              <a:spcBef>
                <a:spcPts val="375"/>
              </a:spcBef>
              <a:spcAft>
                <a:spcPts val="0"/>
              </a:spcAft>
              <a:buClr>
                <a:srgbClr val="595959"/>
              </a:buClr>
              <a:buSzPct val="100000"/>
              <a:buNone/>
            </a:pPr>
            <a:r>
              <a:rPr lang="en-US" sz="1800" dirty="0"/>
              <a:t>Our goal is to build an intelligent, data-driven application that helps new sellers make better product decisions. Specifically, we aim to:</a:t>
            </a:r>
            <a:endParaRPr dirty="0"/>
          </a:p>
          <a:p>
            <a:pPr marL="285750" lvl="0" indent="-285750" algn="l" rtl="0">
              <a:spcBef>
                <a:spcPts val="305"/>
              </a:spcBef>
              <a:spcAft>
                <a:spcPts val="0"/>
              </a:spcAft>
              <a:buClr>
                <a:srgbClr val="888888"/>
              </a:buClr>
              <a:buSzPct val="100000"/>
              <a:buFont typeface="Arial" panose="020B0604020202020204"/>
              <a:buChar char="•"/>
            </a:pPr>
            <a:r>
              <a:rPr lang="en-US" sz="1800" b="1" dirty="0"/>
              <a:t>Identify trending and high-demand products</a:t>
            </a:r>
            <a:r>
              <a:rPr lang="en-US" sz="1800" dirty="0"/>
              <a:t> using large-scale e-commerce data </a:t>
            </a:r>
            <a:endParaRPr dirty="0"/>
          </a:p>
          <a:p>
            <a:pPr marL="285750" lvl="0" indent="-285750" algn="l" rtl="0">
              <a:spcBef>
                <a:spcPts val="305"/>
              </a:spcBef>
              <a:spcAft>
                <a:spcPts val="0"/>
              </a:spcAft>
              <a:buClr>
                <a:srgbClr val="888888"/>
              </a:buClr>
              <a:buSzPct val="100000"/>
              <a:buFont typeface="Arial" panose="020B0604020202020204"/>
              <a:buChar char="•"/>
            </a:pPr>
            <a:r>
              <a:rPr lang="en-US" sz="1800" b="1" dirty="0"/>
              <a:t>Detect supply gaps and underserved markets</a:t>
            </a:r>
            <a:r>
              <a:rPr lang="en-US" sz="1800" dirty="0"/>
              <a:t> to uncover opportunities </a:t>
            </a:r>
            <a:endParaRPr dirty="0"/>
          </a:p>
          <a:p>
            <a:pPr marL="285750" lvl="0" indent="-285750" algn="l" rtl="0">
              <a:spcBef>
                <a:spcPts val="305"/>
              </a:spcBef>
              <a:spcAft>
                <a:spcPts val="0"/>
              </a:spcAft>
              <a:buClr>
                <a:srgbClr val="888888"/>
              </a:buClr>
              <a:buSzPct val="100000"/>
              <a:buFont typeface="Arial" panose="020B0604020202020204"/>
              <a:buChar char="•"/>
            </a:pPr>
            <a:r>
              <a:rPr lang="en-US" sz="1800" b="1" dirty="0"/>
              <a:t>Analyze customer reviews to generate consumer personas, usage scenarios, and key preference drivers</a:t>
            </a:r>
            <a:r>
              <a:rPr lang="en-US" sz="1800" dirty="0"/>
              <a:t> </a:t>
            </a:r>
            <a:endParaRPr dirty="0"/>
          </a:p>
          <a:p>
            <a:pPr marL="285750" lvl="0" indent="-285750" algn="l" rtl="0">
              <a:spcBef>
                <a:spcPts val="305"/>
              </a:spcBef>
              <a:spcAft>
                <a:spcPts val="0"/>
              </a:spcAft>
              <a:buClr>
                <a:srgbClr val="888888"/>
              </a:buClr>
              <a:buSzPct val="100000"/>
              <a:buFont typeface="Arial" panose="020B0604020202020204"/>
              <a:buChar char="•"/>
            </a:pPr>
            <a:r>
              <a:rPr lang="en-US" sz="1800" b="1" dirty="0"/>
              <a:t>Identify core product pain points and suggest improvement directions</a:t>
            </a:r>
            <a:r>
              <a:rPr lang="en-US" sz="1800" dirty="0"/>
              <a:t> to enable product differentiation </a:t>
            </a:r>
            <a:endParaRPr dirty="0"/>
          </a:p>
          <a:p>
            <a:pPr marL="285750" lvl="0" indent="-285750" algn="l" rtl="0">
              <a:spcBef>
                <a:spcPts val="305"/>
              </a:spcBef>
              <a:spcAft>
                <a:spcPts val="0"/>
              </a:spcAft>
              <a:buClr>
                <a:srgbClr val="888888"/>
              </a:buClr>
              <a:buSzPct val="100000"/>
              <a:buFont typeface="Arial" panose="020B0604020202020204"/>
              <a:buChar char="•"/>
            </a:pPr>
            <a:r>
              <a:rPr lang="en-US" sz="1800" b="1" dirty="0"/>
              <a:t>Provide actionable recommendations</a:t>
            </a:r>
            <a:r>
              <a:rPr lang="en-US" sz="1800" dirty="0"/>
              <a:t> that help sellers quickly enter and compete in the market</a:t>
            </a:r>
            <a:endParaRPr dirty="0"/>
          </a:p>
          <a:p>
            <a:pPr marL="0" lvl="0" indent="0" algn="l" rtl="0">
              <a:spcBef>
                <a:spcPts val="305"/>
              </a:spcBef>
              <a:spcAft>
                <a:spcPts val="0"/>
              </a:spcAft>
              <a:buClr>
                <a:srgbClr val="888888"/>
              </a:buClr>
              <a:buSzPct val="100000"/>
              <a:buNone/>
            </a:pPr>
            <a:endParaRPr sz="1800" dirty="0">
              <a:solidFill>
                <a:srgbClr val="595959"/>
              </a:solidFill>
              <a:latin typeface="Arial" panose="020B0604020202020204"/>
              <a:ea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800" y="425647"/>
            <a:ext cx="8392416"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ea typeface="Arial" panose="020B0604020202020204"/>
                <a:cs typeface="Arial" panose="020B0604020202020204"/>
                <a:sym typeface="Arial" panose="020B0604020202020204"/>
              </a:rPr>
              <a:t>DATA SOURCE &amp; ARCHITECTURE</a:t>
            </a:r>
            <a:endParaRPr lang="en-US" sz="3600" dirty="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2" name="矩形: 圆角 1"/>
          <p:cNvSpPr/>
          <p:nvPr/>
        </p:nvSpPr>
        <p:spPr>
          <a:xfrm>
            <a:off x="457200" y="1539823"/>
            <a:ext cx="11163574" cy="826768"/>
          </a:xfrm>
          <a:prstGeom prst="roundRect">
            <a:avLst>
              <a:gd name="adj" fmla="val 11097"/>
            </a:avLst>
          </a:prstGeom>
          <a:solidFill>
            <a:srgbClr val="F8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488784" y="1542859"/>
            <a:ext cx="0" cy="826768"/>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52586" y="1615679"/>
            <a:ext cx="5486401" cy="369332"/>
          </a:xfrm>
          <a:prstGeom prst="rect">
            <a:avLst/>
          </a:prstGeom>
          <a:noFill/>
        </p:spPr>
        <p:txBody>
          <a:bodyPr wrap="square" rtlCol="0">
            <a:spAutoFit/>
          </a:bodyPr>
          <a:lstStyle/>
          <a:p>
            <a:r>
              <a:rPr lang="en-US" altLang="zh-CN" sz="1800" b="1" dirty="0">
                <a:solidFill>
                  <a:schemeClr val="tx1"/>
                </a:solidFill>
              </a:rPr>
              <a:t>Amazon E-Commerce Product &amp; Review Dataset</a:t>
            </a:r>
            <a:endParaRPr lang="zh-CN" altLang="en-US" sz="1800" b="1" dirty="0">
              <a:solidFill>
                <a:schemeClr val="tx1"/>
              </a:solidFill>
            </a:endParaRPr>
          </a:p>
        </p:txBody>
      </p:sp>
      <p:sp>
        <p:nvSpPr>
          <p:cNvPr id="11" name="文本框 10"/>
          <p:cNvSpPr txBox="1"/>
          <p:nvPr/>
        </p:nvSpPr>
        <p:spPr>
          <a:xfrm>
            <a:off x="571226" y="1938300"/>
            <a:ext cx="5486401" cy="276999"/>
          </a:xfrm>
          <a:prstGeom prst="rect">
            <a:avLst/>
          </a:prstGeom>
          <a:noFill/>
        </p:spPr>
        <p:txBody>
          <a:bodyPr wrap="square" rtlCol="0">
            <a:spAutoFit/>
          </a:bodyPr>
          <a:lstStyle/>
          <a:p>
            <a:r>
              <a:rPr lang="en-US" altLang="zh-CN" sz="1200" dirty="0">
                <a:solidFill>
                  <a:srgbClr val="5D5B5A"/>
                </a:solidFill>
              </a:rPr>
              <a:t>Reference source: Kaggle</a:t>
            </a:r>
            <a:endParaRPr lang="zh-CN" altLang="en-US" sz="1200" dirty="0">
              <a:solidFill>
                <a:srgbClr val="5D5B5A"/>
              </a:solidFill>
            </a:endParaRPr>
          </a:p>
        </p:txBody>
      </p:sp>
      <p:sp>
        <p:nvSpPr>
          <p:cNvPr id="12" name="文本框 11"/>
          <p:cNvSpPr txBox="1"/>
          <p:nvPr/>
        </p:nvSpPr>
        <p:spPr>
          <a:xfrm>
            <a:off x="9287786" y="1615679"/>
            <a:ext cx="2152123" cy="307777"/>
          </a:xfrm>
          <a:prstGeom prst="rect">
            <a:avLst/>
          </a:prstGeom>
          <a:noFill/>
        </p:spPr>
        <p:txBody>
          <a:bodyPr wrap="square" rtlCol="0">
            <a:spAutoFit/>
          </a:bodyPr>
          <a:lstStyle/>
          <a:p>
            <a:pPr algn="r"/>
            <a:r>
              <a:rPr lang="en-US" altLang="zh-CN" b="1" dirty="0">
                <a:solidFill>
                  <a:srgbClr val="861D10"/>
                </a:solidFill>
              </a:rPr>
              <a:t>Core Advantage</a:t>
            </a:r>
            <a:endParaRPr lang="zh-CN" altLang="en-US" b="1" dirty="0">
              <a:solidFill>
                <a:srgbClr val="861D10"/>
              </a:solidFill>
            </a:endParaRPr>
          </a:p>
        </p:txBody>
      </p:sp>
      <p:sp>
        <p:nvSpPr>
          <p:cNvPr id="13" name="文本框 12"/>
          <p:cNvSpPr txBox="1"/>
          <p:nvPr/>
        </p:nvSpPr>
        <p:spPr>
          <a:xfrm>
            <a:off x="6764485" y="1938299"/>
            <a:ext cx="4675424" cy="276999"/>
          </a:xfrm>
          <a:prstGeom prst="rect">
            <a:avLst/>
          </a:prstGeom>
          <a:noFill/>
        </p:spPr>
        <p:txBody>
          <a:bodyPr wrap="square" rtlCol="0">
            <a:spAutoFit/>
          </a:bodyPr>
          <a:lstStyle/>
          <a:p>
            <a:pPr algn="r"/>
            <a:r>
              <a:rPr lang="en-US" altLang="zh-CN" sz="1200" dirty="0">
                <a:solidFill>
                  <a:srgbClr val="5D5B5A"/>
                </a:solidFill>
              </a:rPr>
              <a:t>Simulates real-word complexity via diverse data formats</a:t>
            </a:r>
            <a:endParaRPr lang="zh-CN" altLang="en-US" sz="1200" dirty="0">
              <a:solidFill>
                <a:srgbClr val="5D5B5A"/>
              </a:solidFill>
            </a:endParaRPr>
          </a:p>
        </p:txBody>
      </p:sp>
      <p:grpSp>
        <p:nvGrpSpPr>
          <p:cNvPr id="40" name="组合 39"/>
          <p:cNvGrpSpPr/>
          <p:nvPr/>
        </p:nvGrpSpPr>
        <p:grpSpPr>
          <a:xfrm>
            <a:off x="457200" y="2765067"/>
            <a:ext cx="5418814" cy="3026072"/>
            <a:chOff x="457200" y="2765067"/>
            <a:chExt cx="5418814" cy="3026072"/>
          </a:xfrm>
        </p:grpSpPr>
        <p:sp>
          <p:nvSpPr>
            <p:cNvPr id="14" name="矩形: 圆角 13"/>
            <p:cNvSpPr/>
            <p:nvPr/>
          </p:nvSpPr>
          <p:spPr>
            <a:xfrm>
              <a:off x="457200" y="2765067"/>
              <a:ext cx="5418814" cy="3026072"/>
            </a:xfrm>
            <a:prstGeom prst="roundRect">
              <a:avLst>
                <a:gd name="adj" fmla="val 5894"/>
              </a:avLst>
            </a:prstGeom>
            <a:solidFill>
              <a:schemeClr val="bg1"/>
            </a:solidFill>
            <a:ln w="19050">
              <a:solidFill>
                <a:srgbClr val="E2E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62463" y="2996803"/>
              <a:ext cx="4466645" cy="338554"/>
            </a:xfrm>
            <a:prstGeom prst="rect">
              <a:avLst/>
            </a:prstGeom>
            <a:noFill/>
          </p:spPr>
          <p:txBody>
            <a:bodyPr wrap="square" rtlCol="0">
              <a:spAutoFit/>
            </a:bodyPr>
            <a:lstStyle/>
            <a:p>
              <a:r>
                <a:rPr lang="en-US" altLang="zh-CN" sz="1600" b="1" dirty="0">
                  <a:solidFill>
                    <a:schemeClr val="tx1"/>
                  </a:solidFill>
                </a:rPr>
                <a:t>PRODUCT INFORMATION</a:t>
              </a:r>
              <a:endParaRPr lang="zh-CN" altLang="en-US" sz="1600" b="1" dirty="0">
                <a:solidFill>
                  <a:schemeClr val="tx1"/>
                </a:solidFill>
              </a:endParaRPr>
            </a:p>
          </p:txBody>
        </p:sp>
        <p:cxnSp>
          <p:nvCxnSpPr>
            <p:cNvPr id="19" name="直接连接符 18"/>
            <p:cNvCxnSpPr/>
            <p:nvPr/>
          </p:nvCxnSpPr>
          <p:spPr>
            <a:xfrm>
              <a:off x="685800" y="3429000"/>
              <a:ext cx="4967577" cy="0"/>
            </a:xfrm>
            <a:prstGeom prst="line">
              <a:avLst/>
            </a:prstGeom>
            <a:ln w="15875">
              <a:solidFill>
                <a:srgbClr val="CDD4DF"/>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71226" y="3669638"/>
              <a:ext cx="4928453" cy="261610"/>
            </a:xfrm>
            <a:prstGeom prst="rect">
              <a:avLst/>
            </a:prstGeom>
            <a:noFill/>
          </p:spPr>
          <p:txBody>
            <a:bodyPr wrap="square" rtlCol="0">
              <a:spAutoFit/>
            </a:bodyPr>
            <a:lstStyle/>
            <a:p>
              <a:r>
                <a:rPr lang="en-US" altLang="zh-CN" sz="1100" b="1" dirty="0">
                  <a:solidFill>
                    <a:srgbClr val="656462"/>
                  </a:solidFill>
                </a:rPr>
                <a:t>STRUCTRED DATA</a:t>
              </a:r>
              <a:endParaRPr lang="zh-CN" altLang="en-US" sz="1100" b="1" dirty="0">
                <a:solidFill>
                  <a:srgbClr val="656462"/>
                </a:solidFill>
              </a:endParaRPr>
            </a:p>
          </p:txBody>
        </p:sp>
        <p:sp>
          <p:nvSpPr>
            <p:cNvPr id="27" name="矩形: 圆角 26"/>
            <p:cNvSpPr/>
            <p:nvPr/>
          </p:nvSpPr>
          <p:spPr>
            <a:xfrm>
              <a:off x="685800" y="4037059"/>
              <a:ext cx="1045087"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ASIN</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29" name="文本框 28"/>
            <p:cNvSpPr txBox="1"/>
            <p:nvPr/>
          </p:nvSpPr>
          <p:spPr>
            <a:xfrm>
              <a:off x="571226" y="4578384"/>
              <a:ext cx="4466645" cy="261610"/>
            </a:xfrm>
            <a:prstGeom prst="rect">
              <a:avLst/>
            </a:prstGeom>
            <a:noFill/>
          </p:spPr>
          <p:txBody>
            <a:bodyPr wrap="square" rtlCol="0">
              <a:spAutoFit/>
            </a:bodyPr>
            <a:lstStyle/>
            <a:p>
              <a:r>
                <a:rPr lang="en-US" altLang="zh-CN" sz="1100" b="1" dirty="0">
                  <a:solidFill>
                    <a:srgbClr val="656462"/>
                  </a:solidFill>
                </a:rPr>
                <a:t>UNSTRUCTURED DATA</a:t>
              </a:r>
              <a:endParaRPr lang="zh-CN" altLang="en-US" sz="1100" b="1" dirty="0">
                <a:solidFill>
                  <a:srgbClr val="656462"/>
                </a:solidFill>
              </a:endParaRPr>
            </a:p>
          </p:txBody>
        </p:sp>
        <p:sp>
          <p:nvSpPr>
            <p:cNvPr id="32" name="矩形: 圆角 31"/>
            <p:cNvSpPr/>
            <p:nvPr/>
          </p:nvSpPr>
          <p:spPr>
            <a:xfrm>
              <a:off x="1903256" y="4037059"/>
              <a:ext cx="1025384"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Rank</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33" name="矩形: 圆角 32"/>
            <p:cNvSpPr/>
            <p:nvPr/>
          </p:nvSpPr>
          <p:spPr>
            <a:xfrm>
              <a:off x="3101009" y="4032791"/>
              <a:ext cx="1218712"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Price Value</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34" name="矩形: 圆角 33"/>
            <p:cNvSpPr/>
            <p:nvPr/>
          </p:nvSpPr>
          <p:spPr>
            <a:xfrm>
              <a:off x="4492090" y="4032791"/>
              <a:ext cx="1025384"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35" name="矩形: 圆角 34"/>
            <p:cNvSpPr/>
            <p:nvPr/>
          </p:nvSpPr>
          <p:spPr>
            <a:xfrm>
              <a:off x="685799" y="4924269"/>
              <a:ext cx="1723446"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Product Description</a:t>
              </a:r>
              <a:endParaRPr lang="zh-CN" altLang="en-US" sz="1100" b="1" dirty="0">
                <a:solidFill>
                  <a:srgbClr val="861D10"/>
                </a:solidFill>
                <a:latin typeface="Arial" panose="020B0604020202020204" pitchFamily="34" charset="0"/>
                <a:cs typeface="Arial" panose="020B0604020202020204" pitchFamily="34" charset="0"/>
              </a:endParaRPr>
            </a:p>
          </p:txBody>
        </p:sp>
        <p:sp>
          <p:nvSpPr>
            <p:cNvPr id="36" name="矩形: 圆角 35"/>
            <p:cNvSpPr/>
            <p:nvPr/>
          </p:nvSpPr>
          <p:spPr>
            <a:xfrm>
              <a:off x="2608156" y="4924269"/>
              <a:ext cx="1037471"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About Item</a:t>
              </a:r>
              <a:endParaRPr lang="zh-CN" altLang="en-US" sz="1100" b="1" dirty="0">
                <a:solidFill>
                  <a:srgbClr val="861D10"/>
                </a:solidFill>
                <a:latin typeface="Arial" panose="020B0604020202020204" pitchFamily="34" charset="0"/>
                <a:cs typeface="Arial" panose="020B0604020202020204" pitchFamily="34" charset="0"/>
              </a:endParaRPr>
            </a:p>
          </p:txBody>
        </p:sp>
        <p:sp>
          <p:nvSpPr>
            <p:cNvPr id="37" name="矩形: 圆角 36"/>
            <p:cNvSpPr/>
            <p:nvPr/>
          </p:nvSpPr>
          <p:spPr>
            <a:xfrm>
              <a:off x="3844537" y="4924269"/>
              <a:ext cx="1037471"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a:t>
              </a:r>
              <a:endParaRPr lang="zh-CN" altLang="en-US" sz="1100" b="1" dirty="0">
                <a:solidFill>
                  <a:srgbClr val="861D10"/>
                </a:solidFill>
                <a:latin typeface="Arial" panose="020B0604020202020204" pitchFamily="34" charset="0"/>
                <a:cs typeface="Arial" panose="020B0604020202020204" pitchFamily="34" charset="0"/>
              </a:endParaRPr>
            </a:p>
          </p:txBody>
        </p:sp>
      </p:grpSp>
      <p:grpSp>
        <p:nvGrpSpPr>
          <p:cNvPr id="68" name="组合 67"/>
          <p:cNvGrpSpPr/>
          <p:nvPr/>
        </p:nvGrpSpPr>
        <p:grpSpPr>
          <a:xfrm>
            <a:off x="6201960" y="2759527"/>
            <a:ext cx="5418814" cy="3026072"/>
            <a:chOff x="6201960" y="2759527"/>
            <a:chExt cx="5418814" cy="3026072"/>
          </a:xfrm>
        </p:grpSpPr>
        <p:sp>
          <p:nvSpPr>
            <p:cNvPr id="42" name="矩形: 圆角 41"/>
            <p:cNvSpPr/>
            <p:nvPr/>
          </p:nvSpPr>
          <p:spPr>
            <a:xfrm>
              <a:off x="6201960" y="2759527"/>
              <a:ext cx="5418814" cy="3026072"/>
            </a:xfrm>
            <a:prstGeom prst="roundRect">
              <a:avLst>
                <a:gd name="adj" fmla="val 5894"/>
              </a:avLst>
            </a:prstGeom>
            <a:solidFill>
              <a:schemeClr val="bg1"/>
            </a:solidFill>
            <a:ln w="19050">
              <a:solidFill>
                <a:srgbClr val="E2E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6807223" y="2991263"/>
              <a:ext cx="4466645" cy="338554"/>
            </a:xfrm>
            <a:prstGeom prst="rect">
              <a:avLst/>
            </a:prstGeom>
            <a:noFill/>
          </p:spPr>
          <p:txBody>
            <a:bodyPr wrap="square" rtlCol="0">
              <a:spAutoFit/>
            </a:bodyPr>
            <a:lstStyle/>
            <a:p>
              <a:r>
                <a:rPr lang="en-US" altLang="zh-CN" sz="1600" b="1" dirty="0">
                  <a:solidFill>
                    <a:schemeClr val="tx1"/>
                  </a:solidFill>
                </a:rPr>
                <a:t>USER REVIEWS</a:t>
              </a:r>
              <a:endParaRPr lang="zh-CN" altLang="en-US" sz="1600" b="1" dirty="0">
                <a:solidFill>
                  <a:schemeClr val="tx1"/>
                </a:solidFill>
              </a:endParaRPr>
            </a:p>
          </p:txBody>
        </p:sp>
        <p:cxnSp>
          <p:nvCxnSpPr>
            <p:cNvPr id="45" name="直接连接符 44"/>
            <p:cNvCxnSpPr/>
            <p:nvPr/>
          </p:nvCxnSpPr>
          <p:spPr>
            <a:xfrm>
              <a:off x="6430560" y="3423460"/>
              <a:ext cx="4967577" cy="0"/>
            </a:xfrm>
            <a:prstGeom prst="line">
              <a:avLst/>
            </a:prstGeom>
            <a:ln w="15875">
              <a:solidFill>
                <a:srgbClr val="CDD4DF"/>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6315986" y="3664098"/>
              <a:ext cx="4928453" cy="261610"/>
            </a:xfrm>
            <a:prstGeom prst="rect">
              <a:avLst/>
            </a:prstGeom>
            <a:noFill/>
          </p:spPr>
          <p:txBody>
            <a:bodyPr wrap="square" rtlCol="0">
              <a:spAutoFit/>
            </a:bodyPr>
            <a:lstStyle/>
            <a:p>
              <a:r>
                <a:rPr lang="en-US" altLang="zh-CN" sz="1100" b="1" dirty="0">
                  <a:solidFill>
                    <a:srgbClr val="656462"/>
                  </a:solidFill>
                </a:rPr>
                <a:t>STRUCTRED DATA</a:t>
              </a:r>
              <a:endParaRPr lang="zh-CN" altLang="en-US" sz="1100" b="1" dirty="0">
                <a:solidFill>
                  <a:srgbClr val="656462"/>
                </a:solidFill>
              </a:endParaRPr>
            </a:p>
          </p:txBody>
        </p:sp>
        <p:sp>
          <p:nvSpPr>
            <p:cNvPr id="47" name="矩形: 圆角 46"/>
            <p:cNvSpPr/>
            <p:nvPr/>
          </p:nvSpPr>
          <p:spPr>
            <a:xfrm>
              <a:off x="6430560" y="4031519"/>
              <a:ext cx="1238417"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Helpful Votes</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48" name="文本框 47"/>
            <p:cNvSpPr txBox="1"/>
            <p:nvPr/>
          </p:nvSpPr>
          <p:spPr>
            <a:xfrm>
              <a:off x="6315986" y="4572844"/>
              <a:ext cx="4466645" cy="261610"/>
            </a:xfrm>
            <a:prstGeom prst="rect">
              <a:avLst/>
            </a:prstGeom>
            <a:noFill/>
          </p:spPr>
          <p:txBody>
            <a:bodyPr wrap="square" rtlCol="0">
              <a:spAutoFit/>
            </a:bodyPr>
            <a:lstStyle/>
            <a:p>
              <a:r>
                <a:rPr lang="en-US" altLang="zh-CN" sz="1100" b="1" dirty="0">
                  <a:solidFill>
                    <a:srgbClr val="656462"/>
                  </a:solidFill>
                </a:rPr>
                <a:t>UNSTRUCTURED DATA</a:t>
              </a:r>
              <a:endParaRPr lang="zh-CN" altLang="en-US" sz="1100" b="1" dirty="0">
                <a:solidFill>
                  <a:srgbClr val="656462"/>
                </a:solidFill>
              </a:endParaRPr>
            </a:p>
          </p:txBody>
        </p:sp>
        <p:sp>
          <p:nvSpPr>
            <p:cNvPr id="49" name="矩形: 圆角 48"/>
            <p:cNvSpPr/>
            <p:nvPr/>
          </p:nvSpPr>
          <p:spPr>
            <a:xfrm>
              <a:off x="7822604" y="4027251"/>
              <a:ext cx="839212"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Rating</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50" name="矩形: 圆角 49"/>
            <p:cNvSpPr/>
            <p:nvPr/>
          </p:nvSpPr>
          <p:spPr>
            <a:xfrm>
              <a:off x="8815443" y="4027251"/>
              <a:ext cx="1478943"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Verified Purchase</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51" name="矩形: 圆角 50"/>
            <p:cNvSpPr/>
            <p:nvPr/>
          </p:nvSpPr>
          <p:spPr>
            <a:xfrm>
              <a:off x="10448014" y="4027251"/>
              <a:ext cx="814220" cy="318052"/>
            </a:xfrm>
            <a:prstGeom prst="roundRect">
              <a:avLst>
                <a:gd name="adj" fmla="val 50000"/>
              </a:avLst>
            </a:prstGeom>
            <a:solidFill>
              <a:srgbClr val="E3E8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656462"/>
                  </a:solidFill>
                  <a:latin typeface="Arial" panose="020B0604020202020204" pitchFamily="34" charset="0"/>
                  <a:cs typeface="Arial" panose="020B0604020202020204" pitchFamily="34" charset="0"/>
                </a:rPr>
                <a:t>…</a:t>
              </a:r>
              <a:endParaRPr lang="zh-CN" altLang="en-US" sz="1100" b="1" dirty="0">
                <a:solidFill>
                  <a:srgbClr val="656462"/>
                </a:solidFill>
                <a:latin typeface="Arial" panose="020B0604020202020204" pitchFamily="34" charset="0"/>
                <a:cs typeface="Arial" panose="020B0604020202020204" pitchFamily="34" charset="0"/>
              </a:endParaRPr>
            </a:p>
          </p:txBody>
        </p:sp>
        <p:sp>
          <p:nvSpPr>
            <p:cNvPr id="52" name="矩形: 圆角 51"/>
            <p:cNvSpPr/>
            <p:nvPr/>
          </p:nvSpPr>
          <p:spPr>
            <a:xfrm>
              <a:off x="6430559" y="4918729"/>
              <a:ext cx="1392045"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Review Title</a:t>
              </a:r>
              <a:endParaRPr lang="zh-CN" altLang="en-US" sz="1100" b="1" dirty="0">
                <a:solidFill>
                  <a:srgbClr val="861D10"/>
                </a:solidFill>
                <a:latin typeface="Arial" panose="020B0604020202020204" pitchFamily="34" charset="0"/>
                <a:cs typeface="Arial" panose="020B0604020202020204" pitchFamily="34" charset="0"/>
              </a:endParaRPr>
            </a:p>
          </p:txBody>
        </p:sp>
        <p:sp>
          <p:nvSpPr>
            <p:cNvPr id="53" name="矩形: 圆角 52"/>
            <p:cNvSpPr/>
            <p:nvPr/>
          </p:nvSpPr>
          <p:spPr>
            <a:xfrm>
              <a:off x="7993592" y="4918729"/>
              <a:ext cx="1241837"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Review Text</a:t>
              </a:r>
              <a:endParaRPr lang="zh-CN" altLang="en-US" sz="1100" b="1" dirty="0">
                <a:solidFill>
                  <a:srgbClr val="861D10"/>
                </a:solidFill>
                <a:latin typeface="Arial" panose="020B0604020202020204" pitchFamily="34" charset="0"/>
                <a:cs typeface="Arial" panose="020B0604020202020204" pitchFamily="34" charset="0"/>
              </a:endParaRPr>
            </a:p>
          </p:txBody>
        </p:sp>
        <p:sp>
          <p:nvSpPr>
            <p:cNvPr id="54" name="矩形: 圆角 53"/>
            <p:cNvSpPr/>
            <p:nvPr/>
          </p:nvSpPr>
          <p:spPr>
            <a:xfrm>
              <a:off x="9406417" y="4918729"/>
              <a:ext cx="787155" cy="318052"/>
            </a:xfrm>
            <a:prstGeom prst="roundRect">
              <a:avLst>
                <a:gd name="adj" fmla="val 50000"/>
              </a:avLst>
            </a:prstGeom>
            <a:solidFill>
              <a:srgbClr val="FAF2F2"/>
            </a:solidFill>
            <a:ln w="12700">
              <a:solidFill>
                <a:srgbClr val="F6E3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rgbClr val="861D10"/>
                  </a:solidFill>
                  <a:latin typeface="Arial" panose="020B0604020202020204" pitchFamily="34" charset="0"/>
                  <a:cs typeface="Arial" panose="020B0604020202020204" pitchFamily="34" charset="0"/>
                </a:rPr>
                <a:t>…</a:t>
              </a:r>
              <a:endParaRPr lang="zh-CN" altLang="en-US" sz="1100" b="1" dirty="0">
                <a:solidFill>
                  <a:srgbClr val="861D10"/>
                </a:solidFill>
                <a:latin typeface="Arial" panose="020B0604020202020204" pitchFamily="34" charset="0"/>
                <a:cs typeface="Arial" panose="020B0604020202020204" pitchFamily="34"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cxnSp>
        <p:nvCxnSpPr>
          <p:cNvPr id="28" name="直接连接符 27"/>
          <p:cNvCxnSpPr/>
          <p:nvPr/>
        </p:nvCxnSpPr>
        <p:spPr>
          <a:xfrm>
            <a:off x="1566407" y="2165154"/>
            <a:ext cx="8730532" cy="0"/>
          </a:xfrm>
          <a:prstGeom prst="line">
            <a:avLst/>
          </a:prstGeom>
          <a:ln w="25400">
            <a:solidFill>
              <a:srgbClr val="CDD4DF"/>
            </a:solidFill>
          </a:ln>
        </p:spPr>
        <p:style>
          <a:lnRef idx="1">
            <a:schemeClr val="accent1"/>
          </a:lnRef>
          <a:fillRef idx="0">
            <a:schemeClr val="accent1"/>
          </a:fillRef>
          <a:effectRef idx="0">
            <a:schemeClr val="accent1"/>
          </a:effectRef>
          <a:fontRef idx="minor">
            <a:schemeClr val="tx1"/>
          </a:fontRef>
        </p:style>
      </p:cxnSp>
      <p:sp>
        <p:nvSpPr>
          <p:cNvPr id="124" name="Google Shape;124;p5"/>
          <p:cNvSpPr txBox="1">
            <a:spLocks noGrp="1"/>
          </p:cNvSpPr>
          <p:nvPr>
            <p:ph type="ctrTitle"/>
          </p:nvPr>
        </p:nvSpPr>
        <p:spPr>
          <a:xfrm>
            <a:off x="685800" y="425647"/>
            <a:ext cx="8392416"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ea typeface="Arial" panose="020B0604020202020204"/>
                <a:cs typeface="Arial" panose="020B0604020202020204"/>
                <a:sym typeface="Arial" panose="020B0604020202020204"/>
              </a:rPr>
              <a:t>DATA PREPARATION &amp; SYNTHESIS</a:t>
            </a:r>
            <a:endParaRPr lang="en-US" sz="3600" dirty="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grpSp>
        <p:nvGrpSpPr>
          <p:cNvPr id="23" name="组合 22"/>
          <p:cNvGrpSpPr/>
          <p:nvPr/>
        </p:nvGrpSpPr>
        <p:grpSpPr>
          <a:xfrm>
            <a:off x="466915" y="1805154"/>
            <a:ext cx="3334285" cy="1801541"/>
            <a:chOff x="457200" y="1805154"/>
            <a:chExt cx="3334285" cy="1801541"/>
          </a:xfrm>
        </p:grpSpPr>
        <p:sp>
          <p:nvSpPr>
            <p:cNvPr id="3" name="椭圆 2"/>
            <p:cNvSpPr/>
            <p:nvPr/>
          </p:nvSpPr>
          <p:spPr>
            <a:xfrm>
              <a:off x="1764342" y="1805154"/>
              <a:ext cx="720000" cy="720000"/>
            </a:xfrm>
            <a:prstGeom prst="ellipse">
              <a:avLst/>
            </a:prstGeom>
            <a:solidFill>
              <a:schemeClr val="bg1"/>
            </a:solidFill>
            <a:ln w="31750">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895580" y="2589456"/>
              <a:ext cx="2457524" cy="306705"/>
            </a:xfrm>
            <a:prstGeom prst="rect">
              <a:avLst/>
            </a:prstGeom>
            <a:noFill/>
          </p:spPr>
          <p:txBody>
            <a:bodyPr wrap="square" rtlCol="0">
              <a:spAutoFit/>
            </a:bodyPr>
            <a:lstStyle/>
            <a:p>
              <a:pPr algn="ctr"/>
              <a:r>
                <a:rPr lang="en-US" altLang="zh-CN" b="1" dirty="0">
                  <a:solidFill>
                    <a:schemeClr val="tx1"/>
                  </a:solidFill>
                </a:rPr>
                <a:t>Minimal Pruning</a:t>
              </a:r>
              <a:endParaRPr lang="zh-CN" altLang="en-US" b="1" dirty="0">
                <a:solidFill>
                  <a:schemeClr val="tx1"/>
                </a:solidFill>
              </a:endParaRPr>
            </a:p>
          </p:txBody>
        </p:sp>
        <p:sp>
          <p:nvSpPr>
            <p:cNvPr id="8" name="文本框 7"/>
            <p:cNvSpPr txBox="1"/>
            <p:nvPr/>
          </p:nvSpPr>
          <p:spPr>
            <a:xfrm>
              <a:off x="457200" y="2961535"/>
              <a:ext cx="3334285" cy="645160"/>
            </a:xfrm>
            <a:prstGeom prst="rect">
              <a:avLst/>
            </a:prstGeom>
            <a:noFill/>
          </p:spPr>
          <p:txBody>
            <a:bodyPr wrap="square" rtlCol="0">
              <a:spAutoFit/>
            </a:bodyPr>
            <a:lstStyle/>
            <a:p>
              <a:pPr algn="ctr"/>
              <a:r>
                <a:rPr lang="en-US" altLang="zh-CN" sz="1200" dirty="0">
                  <a:solidFill>
                    <a:srgbClr val="636362"/>
                  </a:solidFill>
                </a:rPr>
                <a:t>Removed pure media (URLs, Images) but preserved real-world textual noise to maintain authenticity.</a:t>
              </a:r>
              <a:endParaRPr lang="zh-CN" altLang="en-US" sz="1200" dirty="0">
                <a:solidFill>
                  <a:srgbClr val="636362"/>
                </a:solidFill>
              </a:endParaRPr>
            </a:p>
          </p:txBody>
        </p:sp>
      </p:grpSp>
      <p:grpSp>
        <p:nvGrpSpPr>
          <p:cNvPr id="24" name="组合 23"/>
          <p:cNvGrpSpPr/>
          <p:nvPr/>
        </p:nvGrpSpPr>
        <p:grpSpPr>
          <a:xfrm>
            <a:off x="4283322" y="1805154"/>
            <a:ext cx="3334285" cy="1801541"/>
            <a:chOff x="4362615" y="1805154"/>
            <a:chExt cx="3334285" cy="1801541"/>
          </a:xfrm>
        </p:grpSpPr>
        <p:sp>
          <p:nvSpPr>
            <p:cNvPr id="9" name="椭圆 8"/>
            <p:cNvSpPr/>
            <p:nvPr/>
          </p:nvSpPr>
          <p:spPr>
            <a:xfrm>
              <a:off x="5669757" y="1805154"/>
              <a:ext cx="720000" cy="720000"/>
            </a:xfrm>
            <a:prstGeom prst="ellipse">
              <a:avLst/>
            </a:prstGeom>
            <a:solidFill>
              <a:schemeClr val="bg1"/>
            </a:solidFill>
            <a:ln w="31750">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4800995" y="2589456"/>
              <a:ext cx="2457524" cy="306705"/>
            </a:xfrm>
            <a:prstGeom prst="rect">
              <a:avLst/>
            </a:prstGeom>
            <a:noFill/>
          </p:spPr>
          <p:txBody>
            <a:bodyPr wrap="square" rtlCol="0">
              <a:spAutoFit/>
            </a:bodyPr>
            <a:lstStyle/>
            <a:p>
              <a:pPr algn="ctr"/>
              <a:r>
                <a:rPr lang="en-US" altLang="zh-CN" b="1" dirty="0">
                  <a:solidFill>
                    <a:schemeClr val="tx1"/>
                  </a:solidFill>
                </a:rPr>
                <a:t>LLM Ingestion</a:t>
              </a:r>
              <a:endParaRPr lang="zh-CN" altLang="en-US" b="1" dirty="0">
                <a:solidFill>
                  <a:schemeClr val="tx1"/>
                </a:solidFill>
              </a:endParaRPr>
            </a:p>
          </p:txBody>
        </p:sp>
        <p:sp>
          <p:nvSpPr>
            <p:cNvPr id="16" name="文本框 15"/>
            <p:cNvSpPr txBox="1"/>
            <p:nvPr/>
          </p:nvSpPr>
          <p:spPr>
            <a:xfrm>
              <a:off x="4362615" y="2961535"/>
              <a:ext cx="3334285" cy="645160"/>
            </a:xfrm>
            <a:prstGeom prst="rect">
              <a:avLst/>
            </a:prstGeom>
            <a:noFill/>
          </p:spPr>
          <p:txBody>
            <a:bodyPr wrap="square" rtlCol="0">
              <a:spAutoFit/>
            </a:bodyPr>
            <a:lstStyle/>
            <a:p>
              <a:pPr algn="ctr"/>
              <a:r>
                <a:rPr lang="en-US" altLang="zh-CN" sz="1200" dirty="0">
                  <a:solidFill>
                    <a:srgbClr val="636362"/>
                  </a:solidFill>
                </a:rPr>
                <a:t>Fed base reference data to LLM for deep pattern recognition of eCommerce structures and user behaviors.</a:t>
              </a:r>
              <a:endParaRPr lang="zh-CN" altLang="en-US" sz="1200" dirty="0">
                <a:solidFill>
                  <a:srgbClr val="636362"/>
                </a:solidFill>
              </a:endParaRPr>
            </a:p>
          </p:txBody>
        </p:sp>
      </p:grpSp>
      <p:grpSp>
        <p:nvGrpSpPr>
          <p:cNvPr id="25" name="组合 24"/>
          <p:cNvGrpSpPr/>
          <p:nvPr/>
        </p:nvGrpSpPr>
        <p:grpSpPr>
          <a:xfrm>
            <a:off x="8099729" y="1805154"/>
            <a:ext cx="3334285" cy="1801541"/>
            <a:chOff x="8099729" y="1805154"/>
            <a:chExt cx="3334285" cy="1801541"/>
          </a:xfrm>
        </p:grpSpPr>
        <p:sp>
          <p:nvSpPr>
            <p:cNvPr id="18" name="椭圆 17"/>
            <p:cNvSpPr/>
            <p:nvPr/>
          </p:nvSpPr>
          <p:spPr>
            <a:xfrm>
              <a:off x="9406871" y="1805154"/>
              <a:ext cx="720000" cy="720000"/>
            </a:xfrm>
            <a:prstGeom prst="ellipse">
              <a:avLst/>
            </a:prstGeom>
            <a:solidFill>
              <a:schemeClr val="bg1"/>
            </a:solidFill>
            <a:ln w="31750">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8538109" y="2589456"/>
              <a:ext cx="2457524" cy="306705"/>
            </a:xfrm>
            <a:prstGeom prst="rect">
              <a:avLst/>
            </a:prstGeom>
            <a:noFill/>
          </p:spPr>
          <p:txBody>
            <a:bodyPr wrap="square" rtlCol="0">
              <a:spAutoFit/>
            </a:bodyPr>
            <a:lstStyle/>
            <a:p>
              <a:pPr algn="ctr"/>
              <a:r>
                <a:rPr lang="en-US" altLang="zh-CN" b="1" dirty="0">
                  <a:solidFill>
                    <a:schemeClr val="tx1"/>
                  </a:solidFill>
                </a:rPr>
                <a:t>Thematic Synthesis</a:t>
              </a:r>
              <a:endParaRPr lang="zh-CN" altLang="en-US" b="1" dirty="0">
                <a:solidFill>
                  <a:schemeClr val="tx1"/>
                </a:solidFill>
              </a:endParaRPr>
            </a:p>
          </p:txBody>
        </p:sp>
        <p:sp>
          <p:nvSpPr>
            <p:cNvPr id="22" name="文本框 21"/>
            <p:cNvSpPr txBox="1"/>
            <p:nvPr/>
          </p:nvSpPr>
          <p:spPr>
            <a:xfrm>
              <a:off x="8099729" y="2961535"/>
              <a:ext cx="3334285" cy="645160"/>
            </a:xfrm>
            <a:prstGeom prst="rect">
              <a:avLst/>
            </a:prstGeom>
            <a:noFill/>
          </p:spPr>
          <p:txBody>
            <a:bodyPr wrap="square" rtlCol="0">
              <a:spAutoFit/>
            </a:bodyPr>
            <a:lstStyle/>
            <a:p>
              <a:pPr algn="ctr"/>
              <a:r>
                <a:rPr lang="en-US" altLang="zh-CN" sz="1200" dirty="0">
                  <a:solidFill>
                    <a:srgbClr val="636362"/>
                  </a:solidFill>
                </a:rPr>
                <a:t>Generated multiple parallel datasets across diverse market niches to ensure sample variety.</a:t>
              </a:r>
              <a:endParaRPr lang="zh-CN" altLang="en-US" sz="1200" dirty="0">
                <a:solidFill>
                  <a:srgbClr val="636362"/>
                </a:solidFill>
              </a:endParaRPr>
            </a:p>
          </p:txBody>
        </p:sp>
      </p:grpSp>
      <p:sp>
        <p:nvSpPr>
          <p:cNvPr id="60" name="矩形: 圆角 59"/>
          <p:cNvSpPr/>
          <p:nvPr/>
        </p:nvSpPr>
        <p:spPr>
          <a:xfrm>
            <a:off x="457200" y="4053351"/>
            <a:ext cx="11163574" cy="2233093"/>
          </a:xfrm>
          <a:prstGeom prst="roundRect">
            <a:avLst>
              <a:gd name="adj" fmla="val 4331"/>
            </a:avLst>
          </a:prstGeom>
          <a:solidFill>
            <a:srgbClr val="F8FAFC"/>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4474425" y="4273575"/>
            <a:ext cx="3129124" cy="307777"/>
          </a:xfrm>
          <a:prstGeom prst="rect">
            <a:avLst/>
          </a:prstGeom>
          <a:noFill/>
        </p:spPr>
        <p:txBody>
          <a:bodyPr wrap="square" rtlCol="0">
            <a:spAutoFit/>
          </a:bodyPr>
          <a:lstStyle/>
          <a:p>
            <a:pPr algn="ctr"/>
            <a:r>
              <a:rPr lang="en-US" altLang="zh-CN" b="1" dirty="0">
                <a:solidFill>
                  <a:schemeClr val="tx1"/>
                </a:solidFill>
              </a:rPr>
              <a:t>10 Synthesized Dataset Themes</a:t>
            </a:r>
            <a:endParaRPr lang="zh-CN" altLang="en-US" b="1" dirty="0">
              <a:solidFill>
                <a:schemeClr val="tx1"/>
              </a:solidFill>
            </a:endParaRPr>
          </a:p>
        </p:txBody>
      </p:sp>
      <p:sp>
        <p:nvSpPr>
          <p:cNvPr id="63" name="矩形: 圆角 62"/>
          <p:cNvSpPr/>
          <p:nvPr/>
        </p:nvSpPr>
        <p:spPr>
          <a:xfrm>
            <a:off x="624840" y="482727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矩形: 圆角 66"/>
          <p:cNvSpPr/>
          <p:nvPr/>
        </p:nvSpPr>
        <p:spPr>
          <a:xfrm>
            <a:off x="2822575" y="484251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5020310" y="484124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p:cNvSpPr/>
          <p:nvPr/>
        </p:nvSpPr>
        <p:spPr>
          <a:xfrm>
            <a:off x="7218045" y="484124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76"/>
          <p:cNvSpPr/>
          <p:nvPr/>
        </p:nvSpPr>
        <p:spPr>
          <a:xfrm>
            <a:off x="9415780" y="4839335"/>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624840" y="549402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2820035" y="5508625"/>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5015865" y="5507355"/>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圆角 88"/>
          <p:cNvSpPr/>
          <p:nvPr/>
        </p:nvSpPr>
        <p:spPr>
          <a:xfrm>
            <a:off x="7211060" y="5507355"/>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圆角 91"/>
          <p:cNvSpPr/>
          <p:nvPr/>
        </p:nvSpPr>
        <p:spPr>
          <a:xfrm>
            <a:off x="9415780" y="5505450"/>
            <a:ext cx="1979930" cy="430530"/>
          </a:xfrm>
          <a:prstGeom prst="roundRect">
            <a:avLst>
              <a:gd name="adj" fmla="val 11097"/>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a:xfrm>
            <a:off x="673699" y="4835315"/>
            <a:ext cx="1863838" cy="460375"/>
          </a:xfrm>
          <a:prstGeom prst="rect">
            <a:avLst/>
          </a:prstGeom>
          <a:noFill/>
        </p:spPr>
        <p:txBody>
          <a:bodyPr wrap="square">
            <a:spAutoFit/>
          </a:bodyPr>
          <a:lstStyle/>
          <a:p>
            <a:r>
              <a:rPr lang="en-US" altLang="zh-CN" sz="1200" dirty="0"/>
              <a:t>Professional-to-Consumer Crossover</a:t>
            </a:r>
            <a:endParaRPr lang="en-US" altLang="zh-CN" sz="1200" dirty="0"/>
          </a:p>
        </p:txBody>
      </p:sp>
      <p:sp>
        <p:nvSpPr>
          <p:cNvPr id="96" name="文本框 95"/>
          <p:cNvSpPr txBox="1"/>
          <p:nvPr/>
        </p:nvSpPr>
        <p:spPr>
          <a:xfrm>
            <a:off x="2889551" y="4935156"/>
            <a:ext cx="1863838" cy="275590"/>
          </a:xfrm>
          <a:prstGeom prst="rect">
            <a:avLst/>
          </a:prstGeom>
          <a:noFill/>
        </p:spPr>
        <p:txBody>
          <a:bodyPr wrap="square">
            <a:spAutoFit/>
          </a:bodyPr>
          <a:lstStyle/>
          <a:p>
            <a:r>
              <a:rPr lang="en-US" altLang="zh-CN" sz="1200" dirty="0"/>
              <a:t>Color Void Gap</a:t>
            </a:r>
            <a:endParaRPr lang="en-US" altLang="zh-CN" sz="1200" dirty="0"/>
          </a:p>
        </p:txBody>
      </p:sp>
      <p:sp>
        <p:nvSpPr>
          <p:cNvPr id="97" name="文本框 96"/>
          <p:cNvSpPr txBox="1"/>
          <p:nvPr/>
        </p:nvSpPr>
        <p:spPr>
          <a:xfrm>
            <a:off x="5075948" y="4935156"/>
            <a:ext cx="1863838" cy="275590"/>
          </a:xfrm>
          <a:prstGeom prst="rect">
            <a:avLst/>
          </a:prstGeom>
          <a:noFill/>
        </p:spPr>
        <p:txBody>
          <a:bodyPr wrap="square">
            <a:spAutoFit/>
          </a:bodyPr>
          <a:lstStyle/>
          <a:p>
            <a:r>
              <a:rPr lang="en-US" altLang="zh-CN" sz="1200" dirty="0"/>
              <a:t>Inclusive Sizing Void</a:t>
            </a:r>
            <a:endParaRPr lang="en-US" altLang="zh-CN" sz="1200" dirty="0"/>
          </a:p>
        </p:txBody>
      </p:sp>
      <p:sp>
        <p:nvSpPr>
          <p:cNvPr id="98" name="文本框 97"/>
          <p:cNvSpPr txBox="1"/>
          <p:nvPr/>
        </p:nvSpPr>
        <p:spPr>
          <a:xfrm>
            <a:off x="7303515" y="4935156"/>
            <a:ext cx="1863838" cy="275590"/>
          </a:xfrm>
          <a:prstGeom prst="rect">
            <a:avLst/>
          </a:prstGeom>
          <a:noFill/>
        </p:spPr>
        <p:txBody>
          <a:bodyPr wrap="square">
            <a:spAutoFit/>
          </a:bodyPr>
          <a:lstStyle/>
          <a:p>
            <a:r>
              <a:rPr lang="en-US" altLang="zh-CN" sz="1200" dirty="0"/>
              <a:t>Bundle Opportunity</a:t>
            </a:r>
            <a:endParaRPr lang="en-US" altLang="zh-CN" sz="1200" dirty="0"/>
          </a:p>
        </p:txBody>
      </p:sp>
      <p:sp>
        <p:nvSpPr>
          <p:cNvPr id="99" name="文本框 98"/>
          <p:cNvSpPr txBox="1"/>
          <p:nvPr/>
        </p:nvSpPr>
        <p:spPr>
          <a:xfrm>
            <a:off x="9495769" y="4842861"/>
            <a:ext cx="1863838" cy="460375"/>
          </a:xfrm>
          <a:prstGeom prst="rect">
            <a:avLst/>
          </a:prstGeom>
          <a:noFill/>
        </p:spPr>
        <p:txBody>
          <a:bodyPr wrap="square">
            <a:spAutoFit/>
          </a:bodyPr>
          <a:lstStyle/>
          <a:p>
            <a:r>
              <a:rPr lang="en-US" altLang="zh-CN" sz="1200" dirty="0"/>
              <a:t>Subscription/</a:t>
            </a:r>
            <a:endParaRPr lang="en-US" altLang="zh-CN" sz="1200" dirty="0"/>
          </a:p>
          <a:p>
            <a:r>
              <a:rPr lang="en-US" altLang="zh-CN" sz="1200" dirty="0"/>
              <a:t>Consumable Gap</a:t>
            </a:r>
            <a:endParaRPr lang="en-US" altLang="zh-CN" sz="1200" dirty="0"/>
          </a:p>
        </p:txBody>
      </p:sp>
      <p:sp>
        <p:nvSpPr>
          <p:cNvPr id="100" name="文本框 99"/>
          <p:cNvSpPr txBox="1"/>
          <p:nvPr/>
        </p:nvSpPr>
        <p:spPr>
          <a:xfrm>
            <a:off x="682697" y="5497049"/>
            <a:ext cx="1863838" cy="460375"/>
          </a:xfrm>
          <a:prstGeom prst="rect">
            <a:avLst/>
          </a:prstGeom>
          <a:noFill/>
        </p:spPr>
        <p:txBody>
          <a:bodyPr wrap="square">
            <a:spAutoFit/>
          </a:bodyPr>
          <a:lstStyle/>
          <a:p>
            <a:r>
              <a:rPr lang="en-US" altLang="zh-CN" sz="1200" dirty="0"/>
              <a:t>Wrong Demographic Marketing</a:t>
            </a:r>
            <a:endParaRPr lang="en-US" altLang="zh-CN" sz="1200" dirty="0"/>
          </a:p>
        </p:txBody>
      </p:sp>
      <p:sp>
        <p:nvSpPr>
          <p:cNvPr id="102" name="文本框 101"/>
          <p:cNvSpPr txBox="1"/>
          <p:nvPr/>
        </p:nvSpPr>
        <p:spPr>
          <a:xfrm>
            <a:off x="2869281" y="5582113"/>
            <a:ext cx="1863838" cy="275590"/>
          </a:xfrm>
          <a:prstGeom prst="rect">
            <a:avLst/>
          </a:prstGeom>
          <a:noFill/>
        </p:spPr>
        <p:txBody>
          <a:bodyPr wrap="square">
            <a:spAutoFit/>
          </a:bodyPr>
          <a:lstStyle/>
          <a:p>
            <a:r>
              <a:rPr lang="en-US" altLang="zh-CN" sz="1200" dirty="0"/>
              <a:t>Cross-Category Usage</a:t>
            </a:r>
            <a:endParaRPr lang="en-US" altLang="zh-CN" sz="1200" dirty="0"/>
          </a:p>
        </p:txBody>
      </p:sp>
      <p:sp>
        <p:nvSpPr>
          <p:cNvPr id="103" name="文本框 102"/>
          <p:cNvSpPr txBox="1"/>
          <p:nvPr/>
        </p:nvSpPr>
        <p:spPr>
          <a:xfrm>
            <a:off x="5067300" y="5582113"/>
            <a:ext cx="1863838" cy="275590"/>
          </a:xfrm>
          <a:prstGeom prst="rect">
            <a:avLst/>
          </a:prstGeom>
          <a:noFill/>
        </p:spPr>
        <p:txBody>
          <a:bodyPr wrap="square">
            <a:spAutoFit/>
          </a:bodyPr>
          <a:lstStyle/>
          <a:p>
            <a:r>
              <a:rPr lang="en-US" altLang="zh-CN" sz="1200" dirty="0"/>
              <a:t>Durability-Price Gap</a:t>
            </a:r>
            <a:endParaRPr lang="en-US" altLang="zh-CN" sz="1200" dirty="0"/>
          </a:p>
        </p:txBody>
      </p:sp>
      <p:sp>
        <p:nvSpPr>
          <p:cNvPr id="104" name="文本框 103"/>
          <p:cNvSpPr txBox="1"/>
          <p:nvPr/>
        </p:nvSpPr>
        <p:spPr>
          <a:xfrm>
            <a:off x="7286720" y="5604053"/>
            <a:ext cx="1863838" cy="275590"/>
          </a:xfrm>
          <a:prstGeom prst="rect">
            <a:avLst/>
          </a:prstGeom>
          <a:noFill/>
        </p:spPr>
        <p:txBody>
          <a:bodyPr wrap="square">
            <a:spAutoFit/>
          </a:bodyPr>
          <a:lstStyle/>
          <a:p>
            <a:r>
              <a:rPr lang="en-US" altLang="zh-CN" sz="1200" dirty="0"/>
              <a:t>Missing Feature</a:t>
            </a:r>
            <a:endParaRPr lang="en-US" altLang="zh-CN" sz="1200" dirty="0"/>
          </a:p>
        </p:txBody>
      </p:sp>
      <p:sp>
        <p:nvSpPr>
          <p:cNvPr id="106" name="文本框 105"/>
          <p:cNvSpPr txBox="1"/>
          <p:nvPr/>
        </p:nvSpPr>
        <p:spPr>
          <a:xfrm>
            <a:off x="9476923" y="5604053"/>
            <a:ext cx="1863838" cy="275590"/>
          </a:xfrm>
          <a:prstGeom prst="rect">
            <a:avLst/>
          </a:prstGeom>
          <a:noFill/>
        </p:spPr>
        <p:txBody>
          <a:bodyPr wrap="square">
            <a:spAutoFit/>
          </a:bodyPr>
          <a:lstStyle/>
          <a:p>
            <a:r>
              <a:rPr lang="en-US" altLang="zh-CN" sz="1200" dirty="0"/>
              <a:t>Onboarding Gap</a:t>
            </a:r>
            <a:endParaRPr lang="en-US" altLang="zh-CN" sz="1200" dirty="0"/>
          </a:p>
        </p:txBody>
      </p:sp>
      <p:sp>
        <p:nvSpPr>
          <p:cNvPr id="4" name="矩形 3"/>
          <p:cNvSpPr/>
          <p:nvPr/>
        </p:nvSpPr>
        <p:spPr>
          <a:xfrm>
            <a:off x="1903095" y="1793240"/>
            <a:ext cx="431165" cy="959485"/>
          </a:xfrm>
          <a:prstGeom prst="rect">
            <a:avLst/>
          </a:prstGeom>
          <a:noFill/>
          <a:ln>
            <a:noFill/>
          </a:ln>
        </p:spPr>
        <p:txBody>
          <a:bodyPr wrap="none" rtlCol="0" anchor="t">
            <a:noAutofit/>
          </a:bodyPr>
          <a:p>
            <a:pPr algn="ctr"/>
            <a:r>
              <a:rPr lang="en-US" altLang="zh-CN" sz="4400" b="1">
                <a:ln w="22225">
                  <a:solidFill>
                    <a:schemeClr val="accent2"/>
                  </a:solidFill>
                  <a:prstDash val="solid"/>
                </a:ln>
                <a:solidFill>
                  <a:srgbClr val="861D10"/>
                </a:solidFill>
                <a:effectLst/>
              </a:rPr>
              <a:t>1</a:t>
            </a:r>
            <a:endParaRPr lang="en-US" altLang="zh-CN" sz="4400" b="1">
              <a:ln w="22225">
                <a:solidFill>
                  <a:schemeClr val="accent2"/>
                </a:solidFill>
                <a:prstDash val="solid"/>
              </a:ln>
              <a:solidFill>
                <a:srgbClr val="861D10"/>
              </a:solidFill>
              <a:effectLst/>
            </a:endParaRPr>
          </a:p>
        </p:txBody>
      </p:sp>
      <p:sp>
        <p:nvSpPr>
          <p:cNvPr id="10" name="矩形 9"/>
          <p:cNvSpPr/>
          <p:nvPr>
            <p:custDataLst>
              <p:tags r:id="rId2"/>
            </p:custDataLst>
          </p:nvPr>
        </p:nvSpPr>
        <p:spPr>
          <a:xfrm>
            <a:off x="5735320" y="1766570"/>
            <a:ext cx="431165" cy="959485"/>
          </a:xfrm>
          <a:prstGeom prst="rect">
            <a:avLst/>
          </a:prstGeom>
          <a:noFill/>
          <a:ln>
            <a:noFill/>
          </a:ln>
        </p:spPr>
        <p:txBody>
          <a:bodyPr wrap="none" rtlCol="0" anchor="t">
            <a:noAutofit/>
          </a:bodyPr>
          <a:p>
            <a:pPr algn="ctr"/>
            <a:r>
              <a:rPr lang="en-US" altLang="zh-CN" sz="4400" b="1">
                <a:ln w="22225">
                  <a:solidFill>
                    <a:schemeClr val="accent2"/>
                  </a:solidFill>
                  <a:prstDash val="solid"/>
                </a:ln>
                <a:solidFill>
                  <a:srgbClr val="861D10"/>
                </a:solidFill>
                <a:effectLst/>
              </a:rPr>
              <a:t>2</a:t>
            </a:r>
            <a:endParaRPr lang="en-US" altLang="zh-CN" sz="4400" b="1">
              <a:ln w="22225">
                <a:solidFill>
                  <a:schemeClr val="accent2"/>
                </a:solidFill>
                <a:prstDash val="solid"/>
              </a:ln>
              <a:solidFill>
                <a:srgbClr val="861D10"/>
              </a:solidFill>
              <a:effectLst/>
            </a:endParaRPr>
          </a:p>
        </p:txBody>
      </p:sp>
      <p:sp>
        <p:nvSpPr>
          <p:cNvPr id="11" name="矩形 10"/>
          <p:cNvSpPr/>
          <p:nvPr>
            <p:custDataLst>
              <p:tags r:id="rId3"/>
            </p:custDataLst>
          </p:nvPr>
        </p:nvSpPr>
        <p:spPr>
          <a:xfrm>
            <a:off x="9556750" y="1772920"/>
            <a:ext cx="431165" cy="959485"/>
          </a:xfrm>
          <a:prstGeom prst="rect">
            <a:avLst/>
          </a:prstGeom>
          <a:noFill/>
          <a:ln>
            <a:noFill/>
          </a:ln>
        </p:spPr>
        <p:txBody>
          <a:bodyPr wrap="none" rtlCol="0" anchor="t">
            <a:noAutofit/>
          </a:bodyPr>
          <a:p>
            <a:pPr algn="ctr"/>
            <a:r>
              <a:rPr lang="en-US" altLang="zh-CN" sz="4400" b="1">
                <a:ln w="22225">
                  <a:solidFill>
                    <a:schemeClr val="accent2"/>
                  </a:solidFill>
                  <a:prstDash val="solid"/>
                </a:ln>
                <a:solidFill>
                  <a:srgbClr val="861D10"/>
                </a:solidFill>
                <a:effectLst/>
              </a:rPr>
              <a:t>3</a:t>
            </a:r>
            <a:endParaRPr lang="en-US" altLang="zh-CN" sz="4400" b="1">
              <a:ln w="22225">
                <a:solidFill>
                  <a:schemeClr val="accent2"/>
                </a:solidFill>
                <a:prstDash val="solid"/>
              </a:ln>
              <a:solidFill>
                <a:srgbClr val="861D10"/>
              </a:solidFill>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31"/>
        <p:cNvGrpSpPr/>
        <p:nvPr/>
      </p:nvGrpSpPr>
      <p:grpSpPr>
        <a:xfrm>
          <a:off x="0" y="0"/>
          <a:ext cx="0" cy="0"/>
          <a:chOff x="0" y="0"/>
          <a:chExt cx="0" cy="0"/>
        </a:xfrm>
      </p:grpSpPr>
      <p:sp>
        <p:nvSpPr>
          <p:cNvPr id="132" name="Google Shape;132;p6"/>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DATA</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33" name="Google Shape;133;p6"/>
          <p:cNvSpPr txBox="1">
            <a:spLocks noGrp="1"/>
          </p:cNvSpPr>
          <p:nvPr>
            <p:ph type="subTitle" idx="1"/>
          </p:nvPr>
        </p:nvSpPr>
        <p:spPr>
          <a:xfrm>
            <a:off x="838200" y="1600200"/>
            <a:ext cx="9296400"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What data did you use?</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Clr>
                <a:srgbClr val="595959"/>
              </a:buClr>
              <a:buSzPts val="1800"/>
              <a:buNone/>
            </a:pPr>
            <a:r>
              <a:rPr lang="en-US" sz="1800">
                <a:solidFill>
                  <a:srgbClr val="595959"/>
                </a:solidFill>
                <a:latin typeface="Arial" panose="020B0604020202020204"/>
                <a:ea typeface="Arial" panose="020B0604020202020204"/>
                <a:cs typeface="Arial" panose="020B0604020202020204"/>
                <a:sym typeface="Arial" panose="020B0604020202020204"/>
              </a:rPr>
              <a:t>[Source, size, key characteristics. Show a sample or diagram.]</a:t>
            </a:r>
            <a:endParaRPr lang="en-US" sz="180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200"/>
              </a:spcBef>
              <a:spcAft>
                <a:spcPts val="0"/>
              </a:spcAft>
              <a:buClr>
                <a:srgbClr val="888888"/>
              </a:buClr>
              <a:buSzPts val="1000"/>
              <a:buNone/>
            </a:pPr>
            <a:endParaRPr sz="1000"/>
          </a:p>
          <a:p>
            <a:pPr marL="0" lvl="0" indent="0" algn="l" rtl="0">
              <a:spcBef>
                <a:spcPts val="44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How did you prepare it?</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Clr>
                <a:srgbClr val="595959"/>
              </a:buClr>
              <a:buSzPts val="1800"/>
              <a:buNone/>
            </a:pPr>
            <a:r>
              <a:rPr lang="en-US" sz="1800">
                <a:solidFill>
                  <a:srgbClr val="595959"/>
                </a:solidFill>
                <a:latin typeface="Arial" panose="020B0604020202020204"/>
                <a:ea typeface="Arial" panose="020B0604020202020204"/>
                <a:cs typeface="Arial" panose="020B0604020202020204"/>
                <a:sym typeface="Arial" panose="020B0604020202020204"/>
              </a:rPr>
              <a:t>[Cleaning, augmentation, or preprocessing steps. Use visuals where possible.]</a:t>
            </a:r>
            <a:endParaRPr lang="en-US" sz="1800">
              <a:solidFill>
                <a:srgbClr val="595959"/>
              </a:solidFill>
              <a:latin typeface="Arial" panose="020B0604020202020204"/>
              <a:ea typeface="Arial" panose="020B0604020202020204"/>
              <a:cs typeface="Arial" panose="020B0604020202020204"/>
              <a:sym typeface="Arial" panose="020B0604020202020204"/>
            </a:endParaRPr>
          </a:p>
        </p:txBody>
      </p:sp>
      <p:cxnSp>
        <p:nvCxnSpPr>
          <p:cNvPr id="134" name="Google Shape;134;p6"/>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35" name="Google Shape;135;p6"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39"/>
        <p:cNvGrpSpPr/>
        <p:nvPr/>
      </p:nvGrpSpPr>
      <p:grpSpPr>
        <a:xfrm>
          <a:off x="0" y="0"/>
          <a:ext cx="0" cy="0"/>
          <a:chOff x="0" y="0"/>
          <a:chExt cx="0" cy="0"/>
        </a:xfrm>
      </p:grpSpPr>
      <p:sp>
        <p:nvSpPr>
          <p:cNvPr id="140" name="Google Shape;140;p7"/>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ea typeface="Arial" panose="020B0604020202020204"/>
                <a:cs typeface="Arial" panose="020B0604020202020204"/>
                <a:sym typeface="Arial" panose="020B0604020202020204"/>
              </a:rPr>
              <a:t>APPROACH &amp; TOOLS</a:t>
            </a:r>
            <a:endParaRPr dirty="0"/>
          </a:p>
        </p:txBody>
      </p:sp>
      <p:sp>
        <p:nvSpPr>
          <p:cNvPr id="141" name="Google Shape;141;p7"/>
          <p:cNvSpPr txBox="1">
            <a:spLocks noGrp="1"/>
          </p:cNvSpPr>
          <p:nvPr>
            <p:ph type="subTitle" idx="1"/>
          </p:nvPr>
        </p:nvSpPr>
        <p:spPr>
          <a:xfrm>
            <a:off x="914400" y="1600200"/>
            <a:ext cx="9296400" cy="49530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rgbClr val="595959"/>
              </a:buClr>
              <a:buSzPts val="22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How did you build it?</a:t>
            </a:r>
            <a:endParaRPr dirty="0"/>
          </a:p>
          <a:p>
            <a:pPr marL="0" lvl="0" indent="0" algn="l" rtl="0">
              <a:spcBef>
                <a:spcPts val="360"/>
              </a:spcBef>
              <a:spcAft>
                <a:spcPts val="0"/>
              </a:spcAft>
              <a:buClr>
                <a:srgbClr val="595959"/>
              </a:buClr>
              <a:buSzPts val="1800"/>
              <a:buNone/>
            </a:pPr>
            <a:r>
              <a:rPr lang="en-US" sz="1800" dirty="0">
                <a:solidFill>
                  <a:srgbClr val="595959"/>
                </a:solidFill>
                <a:latin typeface="Arial" panose="020B0604020202020204"/>
                <a:ea typeface="Arial" panose="020B0604020202020204"/>
                <a:cs typeface="Arial" panose="020B0604020202020204"/>
                <a:sym typeface="Arial" panose="020B0604020202020204"/>
              </a:rPr>
              <a:t>[Tools, frameworks, APIs, key design decisions]</a:t>
            </a:r>
            <a:endParaRPr dirty="0"/>
          </a:p>
          <a:p>
            <a:pPr marL="0" lvl="0" indent="0" algn="l" rtl="0">
              <a:spcBef>
                <a:spcPts val="220"/>
              </a:spcBef>
              <a:spcAft>
                <a:spcPts val="0"/>
              </a:spcAft>
              <a:buClr>
                <a:srgbClr val="888888"/>
              </a:buClr>
              <a:buSzPts val="1100"/>
              <a:buNone/>
            </a:pPr>
            <a:r>
              <a:rPr lang="en-US" sz="1600" b="1" dirty="0"/>
              <a:t>Frontend</a:t>
            </a:r>
            <a:endParaRPr sz="1600" dirty="0"/>
          </a:p>
          <a:p>
            <a:pPr marL="171450" lvl="0" indent="-203200" algn="l" rtl="0">
              <a:spcBef>
                <a:spcPts val="220"/>
              </a:spcBef>
              <a:spcAft>
                <a:spcPts val="0"/>
              </a:spcAft>
              <a:buClr>
                <a:srgbClr val="888888"/>
              </a:buClr>
              <a:buSzPts val="1600"/>
              <a:buFont typeface="Arial" panose="020B0604020202020204"/>
              <a:buChar char="•"/>
            </a:pPr>
            <a:r>
              <a:rPr lang="en-US" sz="1600" dirty="0"/>
              <a:t>Framework: React 18 + Vite</a:t>
            </a:r>
            <a:endParaRPr sz="3700" dirty="0"/>
          </a:p>
          <a:p>
            <a:pPr marL="171450" lvl="0" indent="-203200" algn="l" rtl="0">
              <a:spcBef>
                <a:spcPts val="220"/>
              </a:spcBef>
              <a:spcAft>
                <a:spcPts val="0"/>
              </a:spcAft>
              <a:buClr>
                <a:srgbClr val="888888"/>
              </a:buClr>
              <a:buSzPts val="1600"/>
              <a:buFont typeface="Arial" panose="020B0604020202020204"/>
              <a:buChar char="•"/>
            </a:pPr>
            <a:r>
              <a:rPr lang="en-US" sz="1600" dirty="0"/>
              <a:t>UI: Tailwind CSS + </a:t>
            </a:r>
            <a:r>
              <a:rPr lang="en-US" sz="1600" dirty="0" err="1"/>
              <a:t>shadcn</a:t>
            </a:r>
            <a:r>
              <a:rPr lang="en-US" sz="1600" dirty="0"/>
              <a:t>/</a:t>
            </a:r>
            <a:r>
              <a:rPr lang="en-US" sz="1600" dirty="0" err="1"/>
              <a:t>ui</a:t>
            </a:r>
            <a:endParaRPr sz="1600" dirty="0"/>
          </a:p>
          <a:p>
            <a:pPr marL="171450" lvl="0" indent="-203200" algn="l" rtl="0">
              <a:spcBef>
                <a:spcPts val="220"/>
              </a:spcBef>
              <a:spcAft>
                <a:spcPts val="0"/>
              </a:spcAft>
              <a:buClr>
                <a:srgbClr val="888888"/>
              </a:buClr>
              <a:buSzPts val="1600"/>
              <a:buFont typeface="Arial" panose="020B0604020202020204"/>
              <a:buChar char="•"/>
            </a:pPr>
            <a:r>
              <a:rPr lang="en-US" sz="1600" dirty="0"/>
              <a:t>Charts: Recharts (deep React ecosystem integration)</a:t>
            </a:r>
            <a:endParaRPr sz="3700" dirty="0"/>
          </a:p>
          <a:p>
            <a:pPr marL="171450" lvl="0" indent="-203200" algn="l" rtl="0">
              <a:spcBef>
                <a:spcPts val="220"/>
              </a:spcBef>
              <a:spcAft>
                <a:spcPts val="0"/>
              </a:spcAft>
              <a:buClr>
                <a:srgbClr val="888888"/>
              </a:buClr>
              <a:buSzPts val="1600"/>
              <a:buFont typeface="Arial" panose="020B0604020202020204"/>
              <a:buChar char="•"/>
            </a:pPr>
            <a:r>
              <a:rPr lang="en-US" sz="1600" dirty="0"/>
              <a:t>Markdown rendering: react-markdown + remark-</a:t>
            </a:r>
            <a:r>
              <a:rPr lang="en-US" sz="1600" dirty="0" err="1"/>
              <a:t>gfm</a:t>
            </a:r>
            <a:endParaRPr sz="1600" dirty="0"/>
          </a:p>
          <a:p>
            <a:pPr marL="0" lvl="0" indent="0" algn="l" rtl="0">
              <a:spcBef>
                <a:spcPts val="220"/>
              </a:spcBef>
              <a:spcAft>
                <a:spcPts val="0"/>
              </a:spcAft>
              <a:buClr>
                <a:srgbClr val="888888"/>
              </a:buClr>
              <a:buSzPts val="1100"/>
              <a:buNone/>
            </a:pPr>
            <a:r>
              <a:rPr lang="en-US" sz="1600" b="1" dirty="0"/>
              <a:t>Backend</a:t>
            </a:r>
            <a:endParaRPr sz="1600" dirty="0"/>
          </a:p>
          <a:p>
            <a:pPr marL="171450" lvl="0" indent="-203200" algn="l" rtl="0">
              <a:spcBef>
                <a:spcPts val="220"/>
              </a:spcBef>
              <a:spcAft>
                <a:spcPts val="0"/>
              </a:spcAft>
              <a:buClr>
                <a:srgbClr val="888888"/>
              </a:buClr>
              <a:buSzPts val="1600"/>
              <a:buFont typeface="Arial" panose="020B0604020202020204"/>
              <a:buChar char="•"/>
            </a:pPr>
            <a:r>
              <a:rPr lang="en-US" sz="1600" dirty="0"/>
              <a:t>Framework: Python </a:t>
            </a:r>
            <a:r>
              <a:rPr lang="en-US" sz="1600" dirty="0" err="1"/>
              <a:t>FastAPI</a:t>
            </a:r>
            <a:endParaRPr sz="1600" dirty="0"/>
          </a:p>
          <a:p>
            <a:pPr marL="171450" lvl="0" indent="-203200" algn="l" rtl="0">
              <a:spcBef>
                <a:spcPts val="220"/>
              </a:spcBef>
              <a:spcAft>
                <a:spcPts val="0"/>
              </a:spcAft>
              <a:buClr>
                <a:srgbClr val="888888"/>
              </a:buClr>
              <a:buSzPts val="1600"/>
              <a:buFont typeface="Arial" panose="020B0604020202020204"/>
              <a:buChar char="•"/>
            </a:pPr>
            <a:r>
              <a:rPr lang="en-US" sz="1600" dirty="0"/>
              <a:t>CSV processing: pandas</a:t>
            </a:r>
            <a:endParaRPr sz="3700" dirty="0"/>
          </a:p>
          <a:p>
            <a:pPr marL="171450" lvl="0" indent="-203200" algn="l" rtl="0">
              <a:spcBef>
                <a:spcPts val="220"/>
              </a:spcBef>
              <a:spcAft>
                <a:spcPts val="0"/>
              </a:spcAft>
              <a:buClr>
                <a:srgbClr val="888888"/>
              </a:buClr>
              <a:buSzPts val="1600"/>
              <a:buFont typeface="Arial" panose="020B0604020202020204"/>
              <a:buChar char="•"/>
            </a:pPr>
            <a:r>
              <a:rPr lang="en-US" sz="1600" dirty="0"/>
              <a:t>AI integration: Google Gemini API (gemini-2.5-pro) + Minimax M2.5 + </a:t>
            </a:r>
            <a:r>
              <a:rPr lang="en-US" sz="1600" dirty="0" err="1"/>
              <a:t>Nemotron</a:t>
            </a:r>
            <a:r>
              <a:rPr lang="en-US" sz="1600" dirty="0"/>
              <a:t> 3 + Qwen3, Server-Sent Events streaming</a:t>
            </a:r>
            <a:endParaRPr sz="3700" dirty="0"/>
          </a:p>
          <a:p>
            <a:pPr marL="171450" lvl="0" indent="-203200" algn="l" rtl="0">
              <a:spcBef>
                <a:spcPts val="220"/>
              </a:spcBef>
              <a:spcAft>
                <a:spcPts val="0"/>
              </a:spcAft>
              <a:buClr>
                <a:srgbClr val="888888"/>
              </a:buClr>
              <a:buSzPts val="1600"/>
              <a:buFont typeface="Arial" panose="020B0604020202020204"/>
              <a:buChar char="•"/>
            </a:pPr>
            <a:r>
              <a:rPr lang="en-US" sz="1600" dirty="0"/>
              <a:t>Code sandbox: restricted Python environment on the backend to safely execute AI-generated pandas code</a:t>
            </a:r>
            <a:endParaRPr sz="3700" dirty="0"/>
          </a:p>
          <a:p>
            <a:pPr marL="171450" lvl="0" indent="-203200" algn="l" rtl="0">
              <a:spcBef>
                <a:spcPts val="220"/>
              </a:spcBef>
              <a:spcAft>
                <a:spcPts val="0"/>
              </a:spcAft>
              <a:buClr>
                <a:srgbClr val="888888"/>
              </a:buClr>
              <a:buSzPts val="1600"/>
              <a:buFont typeface="Arial" panose="020B0604020202020204"/>
              <a:buChar char="•"/>
            </a:pPr>
            <a:r>
              <a:rPr lang="en-US" sz="1600" dirty="0"/>
              <a:t>Persistence: SQLite (file metadata + conversation history) + local filesystem (raw CSV storage)</a:t>
            </a:r>
            <a:endParaRPr sz="1500" dirty="0"/>
          </a:p>
          <a:p>
            <a:pPr marL="0" lvl="0" indent="0" algn="l" rtl="0">
              <a:spcBef>
                <a:spcPts val="440"/>
              </a:spcBef>
              <a:spcAft>
                <a:spcPts val="0"/>
              </a:spcAft>
              <a:buClr>
                <a:srgbClr val="595959"/>
              </a:buClr>
              <a:buSzPts val="2200"/>
              <a:buNone/>
            </a:pPr>
            <a:r>
              <a:rPr lang="en-US" sz="2200" b="1" dirty="0">
                <a:solidFill>
                  <a:srgbClr val="595959"/>
                </a:solidFill>
                <a:latin typeface="Arial" panose="020B0604020202020204"/>
                <a:ea typeface="Arial" panose="020B0604020202020204"/>
                <a:cs typeface="Arial" panose="020B0604020202020204"/>
                <a:sym typeface="Arial" panose="020B0604020202020204"/>
              </a:rPr>
              <a:t>How did you measure success?</a:t>
            </a:r>
            <a:endParaRPr dirty="0"/>
          </a:p>
          <a:p>
            <a:pPr marL="0" lvl="0" indent="0" algn="l" rtl="0">
              <a:spcBef>
                <a:spcPts val="360"/>
              </a:spcBef>
              <a:spcAft>
                <a:spcPts val="0"/>
              </a:spcAft>
              <a:buClr>
                <a:srgbClr val="595959"/>
              </a:buClr>
              <a:buSzPts val="1800"/>
              <a:buNone/>
            </a:pPr>
            <a:r>
              <a:rPr lang="en-US" sz="1800" dirty="0">
                <a:solidFill>
                  <a:srgbClr val="595959"/>
                </a:solidFill>
                <a:latin typeface="Arial" panose="020B0604020202020204"/>
                <a:ea typeface="Arial" panose="020B0604020202020204"/>
                <a:cs typeface="Arial" panose="020B0604020202020204"/>
                <a:sym typeface="Arial" panose="020B0604020202020204"/>
              </a:rPr>
              <a:t>[Evaluation metrics and why you chose them]</a:t>
            </a:r>
            <a:endParaRPr dirty="0"/>
          </a:p>
          <a:p>
            <a:pPr marL="285750" lvl="0" indent="-285750" algn="l" rtl="0">
              <a:spcBef>
                <a:spcPts val="280"/>
              </a:spcBef>
              <a:spcAft>
                <a:spcPts val="0"/>
              </a:spcAft>
              <a:buClr>
                <a:srgbClr val="595959"/>
              </a:buClr>
              <a:buSzPts val="1400"/>
              <a:buFont typeface="Arial" panose="020B0604020202020204"/>
              <a:buChar char="•"/>
            </a:pPr>
            <a:r>
              <a:rPr lang="en-US" sz="1400" dirty="0">
                <a:solidFill>
                  <a:srgbClr val="595959"/>
                </a:solidFill>
                <a:latin typeface="Arial" panose="020B0604020202020204"/>
                <a:ea typeface="Arial" panose="020B0604020202020204"/>
                <a:cs typeface="Arial" panose="020B0604020202020204"/>
                <a:sym typeface="Arial" panose="020B0604020202020204"/>
              </a:rPr>
              <a:t>Precision of Trend Identification：% of recommended products that align with actual high-demand items</a:t>
            </a:r>
            <a:endParaRPr dirty="0"/>
          </a:p>
          <a:p>
            <a:pPr marL="285750" lvl="0" indent="-285750" algn="l" rtl="0">
              <a:spcBef>
                <a:spcPts val="280"/>
              </a:spcBef>
              <a:spcAft>
                <a:spcPts val="0"/>
              </a:spcAft>
              <a:buClr>
                <a:srgbClr val="595959"/>
              </a:buClr>
              <a:buSzPts val="1400"/>
              <a:buFont typeface="Arial" panose="020B0604020202020204"/>
              <a:buChar char="•"/>
            </a:pPr>
            <a:r>
              <a:rPr lang="en-US" sz="1400" dirty="0">
                <a:solidFill>
                  <a:srgbClr val="595959"/>
                </a:solidFill>
                <a:latin typeface="Arial" panose="020B0604020202020204"/>
                <a:ea typeface="Arial" panose="020B0604020202020204"/>
                <a:cs typeface="Arial" panose="020B0604020202020204"/>
                <a:sym typeface="Arial" panose="020B0604020202020204"/>
              </a:rPr>
              <a:t>Insight Relevance Score (1–5 scale)：Human-rated score for how useful and relevant the generated insights are</a:t>
            </a:r>
            <a:endParaRPr dirty="0"/>
          </a:p>
          <a:p>
            <a:pPr marL="285750" lvl="0" indent="-285750" algn="l" rtl="0">
              <a:spcBef>
                <a:spcPts val="280"/>
              </a:spcBef>
              <a:spcAft>
                <a:spcPts val="0"/>
              </a:spcAft>
              <a:buClr>
                <a:srgbClr val="595959"/>
              </a:buClr>
              <a:buSzPts val="1400"/>
              <a:buFont typeface="Arial" panose="020B0604020202020204"/>
              <a:buChar char="•"/>
            </a:pPr>
            <a:r>
              <a:rPr lang="en-US" sz="1400" dirty="0">
                <a:solidFill>
                  <a:srgbClr val="595959"/>
                </a:solidFill>
                <a:latin typeface="Arial" panose="020B0604020202020204"/>
                <a:ea typeface="Arial" panose="020B0604020202020204"/>
                <a:cs typeface="Arial" panose="020B0604020202020204"/>
                <a:sym typeface="Arial" panose="020B0604020202020204"/>
              </a:rPr>
              <a:t>Consistency </a:t>
            </a:r>
            <a:r>
              <a:rPr lang="en-US" sz="1400" dirty="0" err="1">
                <a:solidFill>
                  <a:srgbClr val="595959"/>
                </a:solidFill>
                <a:latin typeface="Arial" panose="020B0604020202020204"/>
                <a:ea typeface="Arial" panose="020B0604020202020204"/>
                <a:cs typeface="Arial" panose="020B0604020202020204"/>
                <a:sym typeface="Arial" panose="020B0604020202020204"/>
              </a:rPr>
              <a:t>Score：Degree</a:t>
            </a:r>
            <a:r>
              <a:rPr lang="en-US" sz="1400" dirty="0">
                <a:solidFill>
                  <a:srgbClr val="595959"/>
                </a:solidFill>
                <a:latin typeface="Arial" panose="020B0604020202020204"/>
                <a:ea typeface="Arial" panose="020B0604020202020204"/>
                <a:cs typeface="Arial" panose="020B0604020202020204"/>
                <a:sym typeface="Arial" panose="020B0604020202020204"/>
              </a:rPr>
              <a:t> of variation across multiple runs with similar inputs</a:t>
            </a:r>
            <a:endParaRPr dirty="0"/>
          </a:p>
          <a:p>
            <a:pPr marL="285750" lvl="0" indent="-285750" algn="l" rtl="0">
              <a:spcBef>
                <a:spcPts val="280"/>
              </a:spcBef>
              <a:spcAft>
                <a:spcPts val="0"/>
              </a:spcAft>
              <a:buClr>
                <a:srgbClr val="595959"/>
              </a:buClr>
              <a:buSzPts val="1400"/>
              <a:buFont typeface="Arial" panose="020B0604020202020204"/>
              <a:buChar char="•"/>
            </a:pPr>
            <a:r>
              <a:rPr lang="en-US" sz="1400" dirty="0">
                <a:solidFill>
                  <a:srgbClr val="595959"/>
                </a:solidFill>
                <a:latin typeface="Arial" panose="020B0604020202020204"/>
                <a:ea typeface="Arial" panose="020B0604020202020204"/>
                <a:cs typeface="Arial" panose="020B0604020202020204"/>
                <a:sym typeface="Arial" panose="020B0604020202020204"/>
              </a:rPr>
              <a:t>Actionability Rate：% of outputs that include clear, implementable recommendations</a:t>
            </a:r>
            <a:endParaRPr dirty="0"/>
          </a:p>
        </p:txBody>
      </p:sp>
      <p:cxnSp>
        <p:nvCxnSpPr>
          <p:cNvPr id="142" name="Google Shape;142;p7"/>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43" name="Google Shape;143;p7"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799" y="425647"/>
            <a:ext cx="9865581"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cs typeface="Arial" panose="020B0604020202020204"/>
                <a:sym typeface="Arial" panose="020B0604020202020204"/>
              </a:rPr>
              <a:t>SYSTEM ARCHITECTURE &amp; TECH STACK </a:t>
            </a:r>
            <a:endParaRPr lang="en-US" sz="3600" dirty="0">
              <a:solidFill>
                <a:srgbClr val="990000"/>
              </a:solidFill>
              <a:latin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grpSp>
        <p:nvGrpSpPr>
          <p:cNvPr id="47" name="组合 46"/>
          <p:cNvGrpSpPr/>
          <p:nvPr/>
        </p:nvGrpSpPr>
        <p:grpSpPr>
          <a:xfrm>
            <a:off x="457200" y="1597247"/>
            <a:ext cx="5299544" cy="2235275"/>
            <a:chOff x="457200" y="1597247"/>
            <a:chExt cx="5299544" cy="2235275"/>
          </a:xfrm>
        </p:grpSpPr>
        <p:grpSp>
          <p:nvGrpSpPr>
            <p:cNvPr id="7" name="组合 6"/>
            <p:cNvGrpSpPr/>
            <p:nvPr/>
          </p:nvGrpSpPr>
          <p:grpSpPr>
            <a:xfrm>
              <a:off x="457200" y="1597247"/>
              <a:ext cx="5299544" cy="2235275"/>
              <a:chOff x="728677" y="4991574"/>
              <a:chExt cx="11163574" cy="829804"/>
            </a:xfrm>
          </p:grpSpPr>
          <p:sp>
            <p:nvSpPr>
              <p:cNvPr id="10" name="矩形: 圆角 9"/>
              <p:cNvSpPr/>
              <p:nvPr/>
            </p:nvSpPr>
            <p:spPr>
              <a:xfrm>
                <a:off x="728677" y="4991574"/>
                <a:ext cx="11163574" cy="826768"/>
              </a:xfrm>
              <a:prstGeom prst="roundRect">
                <a:avLst>
                  <a:gd name="adj" fmla="val 3221"/>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p:nvCxnSpPr>
            <p:spPr>
              <a:xfrm>
                <a:off x="760261" y="4994610"/>
                <a:ext cx="0" cy="826768"/>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a:off x="755374" y="2085229"/>
              <a:ext cx="4762831" cy="0"/>
            </a:xfrm>
            <a:prstGeom prst="line">
              <a:avLst/>
            </a:prstGeom>
            <a:ln w="15875">
              <a:solidFill>
                <a:srgbClr val="CDD4DF"/>
              </a:solidFill>
              <a:prstDash val="solid"/>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457200" y="4143115"/>
            <a:ext cx="5299544" cy="2235275"/>
            <a:chOff x="457200" y="1597247"/>
            <a:chExt cx="5299544" cy="2235275"/>
          </a:xfrm>
        </p:grpSpPr>
        <p:grpSp>
          <p:nvGrpSpPr>
            <p:cNvPr id="50" name="组合 49"/>
            <p:cNvGrpSpPr/>
            <p:nvPr/>
          </p:nvGrpSpPr>
          <p:grpSpPr>
            <a:xfrm>
              <a:off x="457200" y="1597247"/>
              <a:ext cx="5299544" cy="2235275"/>
              <a:chOff x="728677" y="4991574"/>
              <a:chExt cx="11163574" cy="829804"/>
            </a:xfrm>
          </p:grpSpPr>
          <p:sp>
            <p:nvSpPr>
              <p:cNvPr id="52" name="矩形: 圆角 51"/>
              <p:cNvSpPr/>
              <p:nvPr/>
            </p:nvSpPr>
            <p:spPr>
              <a:xfrm>
                <a:off x="728677" y="4991574"/>
                <a:ext cx="11163574" cy="826768"/>
              </a:xfrm>
              <a:prstGeom prst="roundRect">
                <a:avLst>
                  <a:gd name="adj" fmla="val 3221"/>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连接符 52"/>
              <p:cNvCxnSpPr/>
              <p:nvPr/>
            </p:nvCxnSpPr>
            <p:spPr>
              <a:xfrm>
                <a:off x="760261" y="4994610"/>
                <a:ext cx="0" cy="826768"/>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pSp>
        <p:cxnSp>
          <p:nvCxnSpPr>
            <p:cNvPr id="51" name="直接连接符 50"/>
            <p:cNvCxnSpPr/>
            <p:nvPr/>
          </p:nvCxnSpPr>
          <p:spPr>
            <a:xfrm>
              <a:off x="755374" y="2085229"/>
              <a:ext cx="4762831" cy="0"/>
            </a:xfrm>
            <a:prstGeom prst="line">
              <a:avLst/>
            </a:prstGeom>
            <a:ln w="15875">
              <a:solidFill>
                <a:srgbClr val="CDD4DF"/>
              </a:solidFill>
              <a:prstDash val="solid"/>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6152984" y="1589069"/>
            <a:ext cx="5299544" cy="2235275"/>
            <a:chOff x="457200" y="1597247"/>
            <a:chExt cx="5299544" cy="2235275"/>
          </a:xfrm>
        </p:grpSpPr>
        <p:grpSp>
          <p:nvGrpSpPr>
            <p:cNvPr id="56" name="组合 55"/>
            <p:cNvGrpSpPr/>
            <p:nvPr/>
          </p:nvGrpSpPr>
          <p:grpSpPr>
            <a:xfrm>
              <a:off x="457200" y="1597247"/>
              <a:ext cx="5299544" cy="2235275"/>
              <a:chOff x="728677" y="4991574"/>
              <a:chExt cx="11163574" cy="829804"/>
            </a:xfrm>
          </p:grpSpPr>
          <p:sp>
            <p:nvSpPr>
              <p:cNvPr id="62" name="矩形: 圆角 61"/>
              <p:cNvSpPr/>
              <p:nvPr/>
            </p:nvSpPr>
            <p:spPr>
              <a:xfrm>
                <a:off x="728677" y="4991574"/>
                <a:ext cx="11163574" cy="826768"/>
              </a:xfrm>
              <a:prstGeom prst="roundRect">
                <a:avLst>
                  <a:gd name="adj" fmla="val 3221"/>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8" name="直接连接符 67"/>
              <p:cNvCxnSpPr/>
              <p:nvPr/>
            </p:nvCxnSpPr>
            <p:spPr>
              <a:xfrm>
                <a:off x="760261" y="4994610"/>
                <a:ext cx="0" cy="826768"/>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pSp>
        <p:cxnSp>
          <p:nvCxnSpPr>
            <p:cNvPr id="58" name="直接连接符 57"/>
            <p:cNvCxnSpPr/>
            <p:nvPr/>
          </p:nvCxnSpPr>
          <p:spPr>
            <a:xfrm>
              <a:off x="755374" y="2085229"/>
              <a:ext cx="4762831" cy="0"/>
            </a:xfrm>
            <a:prstGeom prst="line">
              <a:avLst/>
            </a:prstGeom>
            <a:ln w="15875">
              <a:solidFill>
                <a:srgbClr val="CDD4DF"/>
              </a:solidFill>
              <a:prstDash val="solid"/>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6152984" y="4151293"/>
            <a:ext cx="5299544" cy="2235275"/>
            <a:chOff x="457200" y="1597247"/>
            <a:chExt cx="5299544" cy="2235275"/>
          </a:xfrm>
        </p:grpSpPr>
        <p:grpSp>
          <p:nvGrpSpPr>
            <p:cNvPr id="101" name="组合 100"/>
            <p:cNvGrpSpPr/>
            <p:nvPr/>
          </p:nvGrpSpPr>
          <p:grpSpPr>
            <a:xfrm>
              <a:off x="457200" y="1597247"/>
              <a:ext cx="5299544" cy="2235275"/>
              <a:chOff x="728677" y="4991574"/>
              <a:chExt cx="11163574" cy="829804"/>
            </a:xfrm>
          </p:grpSpPr>
          <p:sp>
            <p:nvSpPr>
              <p:cNvPr id="107" name="矩形: 圆角 106"/>
              <p:cNvSpPr/>
              <p:nvPr/>
            </p:nvSpPr>
            <p:spPr>
              <a:xfrm>
                <a:off x="728677" y="4991574"/>
                <a:ext cx="11163574" cy="826768"/>
              </a:xfrm>
              <a:prstGeom prst="roundRect">
                <a:avLst>
                  <a:gd name="adj" fmla="val 3221"/>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8" name="直接连接符 107"/>
              <p:cNvCxnSpPr/>
              <p:nvPr/>
            </p:nvCxnSpPr>
            <p:spPr>
              <a:xfrm>
                <a:off x="760261" y="4994610"/>
                <a:ext cx="0" cy="826768"/>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pSp>
        <p:cxnSp>
          <p:nvCxnSpPr>
            <p:cNvPr id="105" name="直接连接符 104"/>
            <p:cNvCxnSpPr/>
            <p:nvPr/>
          </p:nvCxnSpPr>
          <p:spPr>
            <a:xfrm>
              <a:off x="755374" y="2085229"/>
              <a:ext cx="4762831" cy="0"/>
            </a:xfrm>
            <a:prstGeom prst="line">
              <a:avLst/>
            </a:prstGeom>
            <a:ln w="15875">
              <a:solidFill>
                <a:srgbClr val="CDD4DF"/>
              </a:solidFill>
              <a:prstDash val="solid"/>
            </a:ln>
          </p:spPr>
          <p:style>
            <a:lnRef idx="1">
              <a:schemeClr val="accent1"/>
            </a:lnRef>
            <a:fillRef idx="0">
              <a:schemeClr val="accent1"/>
            </a:fillRef>
            <a:effectRef idx="0">
              <a:schemeClr val="accent1"/>
            </a:effectRef>
            <a:fontRef idx="minor">
              <a:schemeClr val="tx1"/>
            </a:fontRef>
          </p:style>
        </p:cxnSp>
      </p:grpSp>
      <p:sp>
        <p:nvSpPr>
          <p:cNvPr id="109" name="文本框 108"/>
          <p:cNvSpPr txBox="1"/>
          <p:nvPr/>
        </p:nvSpPr>
        <p:spPr>
          <a:xfrm>
            <a:off x="1051314" y="1687350"/>
            <a:ext cx="3129124" cy="307777"/>
          </a:xfrm>
          <a:prstGeom prst="rect">
            <a:avLst/>
          </a:prstGeom>
          <a:noFill/>
        </p:spPr>
        <p:txBody>
          <a:bodyPr wrap="square" rtlCol="0">
            <a:spAutoFit/>
          </a:bodyPr>
          <a:lstStyle/>
          <a:p>
            <a:r>
              <a:rPr lang="en-US" altLang="zh-CN" b="1" dirty="0">
                <a:solidFill>
                  <a:schemeClr val="tx1"/>
                </a:solidFill>
              </a:rPr>
              <a:t>Technology Stacks</a:t>
            </a:r>
            <a:endParaRPr lang="zh-CN" altLang="en-US" b="1" dirty="0">
              <a:solidFill>
                <a:schemeClr val="tx1"/>
              </a:solidFill>
            </a:endParaRPr>
          </a:p>
        </p:txBody>
      </p:sp>
      <p:sp>
        <p:nvSpPr>
          <p:cNvPr id="110" name="文本框 109"/>
          <p:cNvSpPr txBox="1"/>
          <p:nvPr/>
        </p:nvSpPr>
        <p:spPr>
          <a:xfrm>
            <a:off x="755373" y="2160009"/>
            <a:ext cx="4762827" cy="1223412"/>
          </a:xfrm>
          <a:prstGeom prst="rect">
            <a:avLst/>
          </a:prstGeom>
          <a:noFill/>
        </p:spPr>
        <p:txBody>
          <a:bodyPr wrap="square" rtlCol="0">
            <a:spAutoFit/>
          </a:bodyPr>
          <a:lstStyle/>
          <a:p>
            <a:pPr marL="171450" indent="-171450">
              <a:buFont typeface="Wingdings" panose="05000000000000000000" pitchFamily="2" charset="2"/>
              <a:buChar char="Ø"/>
            </a:pPr>
            <a:r>
              <a:rPr lang="en-US" altLang="zh-CN" sz="1050" b="1" dirty="0">
                <a:solidFill>
                  <a:schemeClr val="tx1"/>
                </a:solidFill>
              </a:rPr>
              <a:t>AI-power Coding Assistant: </a:t>
            </a:r>
            <a:r>
              <a:rPr lang="en-US" altLang="zh-CN" sz="1050" dirty="0">
                <a:solidFill>
                  <a:schemeClr val="tx1"/>
                </a:solidFill>
              </a:rPr>
              <a:t>Claude Code</a:t>
            </a:r>
            <a:endParaRPr lang="en-US" altLang="zh-CN" sz="1050" dirty="0">
              <a:solidFill>
                <a:schemeClr val="tx1"/>
              </a:solidFill>
            </a:endParaRPr>
          </a:p>
          <a:p>
            <a:pPr marL="171450" indent="-171450">
              <a:buFont typeface="Wingdings" panose="05000000000000000000" pitchFamily="2" charset="2"/>
              <a:buChar char="Ø"/>
            </a:pPr>
            <a:endParaRPr lang="en-US" altLang="zh-CN" sz="1050" b="1" dirty="0">
              <a:solidFill>
                <a:schemeClr val="tx1"/>
              </a:solidFill>
            </a:endParaRPr>
          </a:p>
          <a:p>
            <a:pPr marL="171450" indent="-171450">
              <a:buFont typeface="Wingdings" panose="05000000000000000000" pitchFamily="2" charset="2"/>
              <a:buChar char="Ø"/>
            </a:pPr>
            <a:r>
              <a:rPr lang="en-US" altLang="zh-CN" sz="1050" b="1" dirty="0">
                <a:solidFill>
                  <a:schemeClr val="tx1"/>
                </a:solidFill>
              </a:rPr>
              <a:t>Frontend: </a:t>
            </a:r>
            <a:r>
              <a:rPr lang="en-US" altLang="zh-CN" sz="1050" dirty="0">
                <a:solidFill>
                  <a:schemeClr val="tx1"/>
                </a:solidFill>
              </a:rPr>
              <a:t>React 18 + Vite</a:t>
            </a:r>
            <a:endParaRPr lang="en-US" altLang="zh-CN" sz="1050" dirty="0">
              <a:solidFill>
                <a:schemeClr val="tx1"/>
              </a:solidFill>
            </a:endParaRPr>
          </a:p>
          <a:p>
            <a:pPr marL="171450" indent="-171450">
              <a:buFont typeface="Wingdings" panose="05000000000000000000" pitchFamily="2" charset="2"/>
              <a:buChar char="Ø"/>
            </a:pPr>
            <a:endParaRPr lang="en-US" altLang="zh-CN" sz="1050" b="1" dirty="0">
              <a:solidFill>
                <a:schemeClr val="tx1"/>
              </a:solidFill>
            </a:endParaRPr>
          </a:p>
          <a:p>
            <a:pPr marL="171450" indent="-171450">
              <a:buFont typeface="Wingdings" panose="05000000000000000000" pitchFamily="2" charset="2"/>
              <a:buChar char="Ø"/>
            </a:pPr>
            <a:r>
              <a:rPr lang="en-US" altLang="zh-CN" sz="1050" b="1" dirty="0">
                <a:solidFill>
                  <a:schemeClr val="tx1"/>
                </a:solidFill>
              </a:rPr>
              <a:t>Backend: </a:t>
            </a:r>
            <a:r>
              <a:rPr lang="en-US" altLang="zh-CN" sz="1050" dirty="0">
                <a:solidFill>
                  <a:schemeClr val="tx1"/>
                </a:solidFill>
              </a:rPr>
              <a:t>Python </a:t>
            </a:r>
            <a:r>
              <a:rPr lang="en-US" altLang="zh-CN" sz="1050" dirty="0" err="1">
                <a:solidFill>
                  <a:schemeClr val="tx1"/>
                </a:solidFill>
              </a:rPr>
              <a:t>FastAPI</a:t>
            </a:r>
            <a:endParaRPr lang="en-US" altLang="zh-CN" sz="1050" dirty="0">
              <a:solidFill>
                <a:schemeClr val="tx1"/>
              </a:solidFill>
            </a:endParaRPr>
          </a:p>
          <a:p>
            <a:pPr marL="171450" indent="-171450">
              <a:buFont typeface="Wingdings" panose="05000000000000000000" pitchFamily="2" charset="2"/>
              <a:buChar char="Ø"/>
            </a:pPr>
            <a:endParaRPr lang="en-US" altLang="zh-CN" sz="1050" b="1" dirty="0">
              <a:solidFill>
                <a:schemeClr val="tx1"/>
              </a:solidFill>
            </a:endParaRPr>
          </a:p>
          <a:p>
            <a:pPr marL="171450" indent="-171450">
              <a:buFont typeface="Wingdings" panose="05000000000000000000" pitchFamily="2" charset="2"/>
              <a:buChar char="Ø"/>
            </a:pPr>
            <a:r>
              <a:rPr lang="en-US" altLang="zh-CN" sz="1050" b="1" dirty="0">
                <a:solidFill>
                  <a:schemeClr val="tx1"/>
                </a:solidFill>
              </a:rPr>
              <a:t>Libraries: </a:t>
            </a:r>
            <a:r>
              <a:rPr lang="en-US" altLang="zh-CN" sz="1050" dirty="0">
                <a:solidFill>
                  <a:schemeClr val="tx1"/>
                </a:solidFill>
              </a:rPr>
              <a:t>pandas, </a:t>
            </a:r>
            <a:r>
              <a:rPr lang="en-US" altLang="zh-CN" sz="1050" dirty="0" err="1">
                <a:solidFill>
                  <a:schemeClr val="tx1"/>
                </a:solidFill>
              </a:rPr>
              <a:t>numpy</a:t>
            </a:r>
            <a:r>
              <a:rPr lang="en-US" altLang="zh-CN" sz="1050" dirty="0">
                <a:solidFill>
                  <a:schemeClr val="tx1"/>
                </a:solidFill>
              </a:rPr>
              <a:t>, tabulate, threading, </a:t>
            </a:r>
            <a:r>
              <a:rPr lang="en-US" altLang="zh-CN" sz="1050" dirty="0" err="1">
                <a:solidFill>
                  <a:schemeClr val="tx1"/>
                </a:solidFill>
              </a:rPr>
              <a:t>builtins</a:t>
            </a:r>
            <a:r>
              <a:rPr lang="en-US" altLang="zh-CN" sz="1050" dirty="0">
                <a:solidFill>
                  <a:schemeClr val="tx1"/>
                </a:solidFill>
              </a:rPr>
              <a:t>, re, io, </a:t>
            </a:r>
            <a:r>
              <a:rPr lang="en-US" altLang="zh-CN" sz="1050" dirty="0" err="1">
                <a:solidFill>
                  <a:schemeClr val="tx1"/>
                </a:solidFill>
              </a:rPr>
              <a:t>json</a:t>
            </a:r>
            <a:endParaRPr lang="zh-CN" altLang="en-US" sz="1050" dirty="0">
              <a:solidFill>
                <a:schemeClr val="tx1"/>
              </a:solidFill>
            </a:endParaRPr>
          </a:p>
        </p:txBody>
      </p:sp>
      <p:sp>
        <p:nvSpPr>
          <p:cNvPr id="113" name="文本框 112"/>
          <p:cNvSpPr txBox="1"/>
          <p:nvPr/>
        </p:nvSpPr>
        <p:spPr>
          <a:xfrm>
            <a:off x="6808953" y="1687350"/>
            <a:ext cx="3129124" cy="307777"/>
          </a:xfrm>
          <a:prstGeom prst="rect">
            <a:avLst/>
          </a:prstGeom>
          <a:noFill/>
        </p:spPr>
        <p:txBody>
          <a:bodyPr wrap="square" rtlCol="0">
            <a:spAutoFit/>
          </a:bodyPr>
          <a:lstStyle/>
          <a:p>
            <a:r>
              <a:rPr lang="en-US" altLang="zh-CN" b="1" dirty="0">
                <a:solidFill>
                  <a:schemeClr val="tx1"/>
                </a:solidFill>
              </a:rPr>
              <a:t>LLM Integration Hub</a:t>
            </a:r>
            <a:endParaRPr lang="zh-CN" altLang="en-US" b="1" dirty="0">
              <a:solidFill>
                <a:schemeClr val="tx1"/>
              </a:solidFill>
            </a:endParaRPr>
          </a:p>
        </p:txBody>
      </p:sp>
      <p:sp>
        <p:nvSpPr>
          <p:cNvPr id="115" name="文本框 114"/>
          <p:cNvSpPr txBox="1"/>
          <p:nvPr/>
        </p:nvSpPr>
        <p:spPr>
          <a:xfrm>
            <a:off x="6451162" y="2160009"/>
            <a:ext cx="4762827" cy="577081"/>
          </a:xfrm>
          <a:prstGeom prst="rect">
            <a:avLst/>
          </a:prstGeom>
          <a:noFill/>
        </p:spPr>
        <p:txBody>
          <a:bodyPr wrap="square" rtlCol="0">
            <a:spAutoFit/>
          </a:bodyPr>
          <a:lstStyle/>
          <a:p>
            <a:pPr marL="171450" indent="-171450">
              <a:buFont typeface="Wingdings" panose="05000000000000000000" pitchFamily="2" charset="2"/>
              <a:buChar char="Ø"/>
            </a:pPr>
            <a:r>
              <a:rPr lang="en-US" altLang="zh-CN" sz="1050" b="1" dirty="0">
                <a:solidFill>
                  <a:schemeClr val="tx1"/>
                </a:solidFill>
              </a:rPr>
              <a:t>Services: </a:t>
            </a:r>
            <a:r>
              <a:rPr lang="en-US" altLang="zh-CN" sz="1050" dirty="0" err="1">
                <a:solidFill>
                  <a:schemeClr val="tx1"/>
                </a:solidFill>
              </a:rPr>
              <a:t>OpenRouter</a:t>
            </a:r>
            <a:r>
              <a:rPr lang="en-US" altLang="zh-CN" sz="1050" dirty="0">
                <a:solidFill>
                  <a:schemeClr val="tx1"/>
                </a:solidFill>
              </a:rPr>
              <a:t> API</a:t>
            </a:r>
            <a:endParaRPr lang="en-US" altLang="zh-CN" sz="1050" dirty="0">
              <a:solidFill>
                <a:schemeClr val="tx1"/>
              </a:solidFill>
            </a:endParaRPr>
          </a:p>
          <a:p>
            <a:pPr marL="171450" indent="-171450">
              <a:buFont typeface="Wingdings" panose="05000000000000000000" pitchFamily="2" charset="2"/>
              <a:buChar char="Ø"/>
            </a:pPr>
            <a:endParaRPr lang="en-US" altLang="zh-CN" sz="1050" b="1" dirty="0">
              <a:solidFill>
                <a:schemeClr val="tx1"/>
              </a:solidFill>
            </a:endParaRPr>
          </a:p>
          <a:p>
            <a:pPr marL="171450" indent="-171450">
              <a:buFont typeface="Wingdings" panose="05000000000000000000" pitchFamily="2" charset="2"/>
              <a:buChar char="Ø"/>
            </a:pPr>
            <a:r>
              <a:rPr lang="en-US" altLang="zh-CN" sz="1050" b="1" dirty="0">
                <a:solidFill>
                  <a:schemeClr val="tx1"/>
                </a:solidFill>
              </a:rPr>
              <a:t>Selected Models:</a:t>
            </a:r>
            <a:endParaRPr lang="en-US" altLang="zh-CN" sz="1050" b="1" dirty="0">
              <a:solidFill>
                <a:schemeClr val="tx1"/>
              </a:solidFill>
            </a:endParaRPr>
          </a:p>
        </p:txBody>
      </p:sp>
      <p:sp>
        <p:nvSpPr>
          <p:cNvPr id="117" name="文本框 116"/>
          <p:cNvSpPr txBox="1"/>
          <p:nvPr/>
        </p:nvSpPr>
        <p:spPr>
          <a:xfrm>
            <a:off x="6634687" y="2770023"/>
            <a:ext cx="3988918" cy="854080"/>
          </a:xfrm>
          <a:prstGeom prst="rect">
            <a:avLst/>
          </a:prstGeom>
          <a:noFill/>
        </p:spPr>
        <p:txBody>
          <a:bodyPr wrap="square">
            <a:spAutoFit/>
          </a:bodyPr>
          <a:lstStyle/>
          <a:p>
            <a:pPr marL="171450" lvl="8" indent="-171450">
              <a:spcAft>
                <a:spcPts val="300"/>
              </a:spcAft>
              <a:buFont typeface="Arial" panose="020B0604020202020204" pitchFamily="34" charset="0"/>
              <a:buChar char="•"/>
            </a:pPr>
            <a:r>
              <a:rPr lang="en-US" altLang="zh-CN" sz="1050" dirty="0">
                <a:solidFill>
                  <a:schemeClr val="tx1"/>
                </a:solidFill>
              </a:rPr>
              <a:t>Nvidia </a:t>
            </a:r>
            <a:r>
              <a:rPr lang="en-US" altLang="zh-CN" sz="1050" dirty="0" err="1">
                <a:solidFill>
                  <a:schemeClr val="tx1"/>
                </a:solidFill>
              </a:rPr>
              <a:t>Nemotron</a:t>
            </a:r>
            <a:r>
              <a:rPr lang="en-US" altLang="zh-CN" sz="1050" dirty="0">
                <a:solidFill>
                  <a:schemeClr val="tx1"/>
                </a:solidFill>
              </a:rPr>
              <a:t> 3 Super</a:t>
            </a:r>
            <a:endParaRPr lang="en-US" altLang="zh-CN" sz="1050" dirty="0">
              <a:solidFill>
                <a:schemeClr val="tx1"/>
              </a:solidFill>
            </a:endParaRPr>
          </a:p>
          <a:p>
            <a:pPr marL="171450" lvl="8" indent="-171450">
              <a:spcAft>
                <a:spcPts val="300"/>
              </a:spcAft>
              <a:buFont typeface="Arial" panose="020B0604020202020204" pitchFamily="34" charset="0"/>
              <a:buChar char="•"/>
            </a:pPr>
            <a:r>
              <a:rPr lang="en-US" altLang="zh-CN" sz="1050" dirty="0">
                <a:solidFill>
                  <a:schemeClr val="tx1"/>
                </a:solidFill>
              </a:rPr>
              <a:t>Elephant</a:t>
            </a:r>
            <a:endParaRPr lang="en-US" altLang="zh-CN" sz="1050" dirty="0">
              <a:solidFill>
                <a:schemeClr val="tx1"/>
              </a:solidFill>
            </a:endParaRPr>
          </a:p>
          <a:p>
            <a:pPr marL="171450" lvl="8" indent="-171450">
              <a:spcAft>
                <a:spcPts val="300"/>
              </a:spcAft>
              <a:buFont typeface="Arial" panose="020B0604020202020204" pitchFamily="34" charset="0"/>
              <a:buChar char="•"/>
            </a:pPr>
            <a:r>
              <a:rPr lang="en-US" altLang="zh-CN" sz="1050" dirty="0" err="1">
                <a:solidFill>
                  <a:schemeClr val="tx1"/>
                </a:solidFill>
              </a:rPr>
              <a:t>Arcee</a:t>
            </a:r>
            <a:r>
              <a:rPr lang="en-US" altLang="zh-CN" sz="1050" dirty="0">
                <a:solidFill>
                  <a:schemeClr val="tx1"/>
                </a:solidFill>
              </a:rPr>
              <a:t> AI: Trinity Large Preview</a:t>
            </a:r>
            <a:endParaRPr lang="en-US" altLang="zh-CN" sz="1050" dirty="0">
              <a:solidFill>
                <a:schemeClr val="tx1"/>
              </a:solidFill>
            </a:endParaRPr>
          </a:p>
          <a:p>
            <a:pPr marL="171450" lvl="8" indent="-171450">
              <a:spcAft>
                <a:spcPts val="300"/>
              </a:spcAft>
              <a:buFont typeface="Arial" panose="020B0604020202020204" pitchFamily="34" charset="0"/>
              <a:buChar char="•"/>
            </a:pPr>
            <a:r>
              <a:rPr lang="en-US" altLang="zh-CN" sz="1050" dirty="0">
                <a:solidFill>
                  <a:schemeClr val="tx1"/>
                </a:solidFill>
              </a:rPr>
              <a:t>OpenAI: gpt-oss-20b</a:t>
            </a:r>
            <a:endParaRPr lang="en-US" altLang="zh-CN" sz="1050" dirty="0">
              <a:solidFill>
                <a:schemeClr val="tx1"/>
              </a:solidFill>
            </a:endParaRPr>
          </a:p>
        </p:txBody>
      </p:sp>
      <p:sp>
        <p:nvSpPr>
          <p:cNvPr id="120" name="文本框 119"/>
          <p:cNvSpPr txBox="1"/>
          <p:nvPr/>
        </p:nvSpPr>
        <p:spPr>
          <a:xfrm>
            <a:off x="6808953" y="4243268"/>
            <a:ext cx="3129124" cy="307777"/>
          </a:xfrm>
          <a:prstGeom prst="rect">
            <a:avLst/>
          </a:prstGeom>
          <a:noFill/>
        </p:spPr>
        <p:txBody>
          <a:bodyPr wrap="square" rtlCol="0">
            <a:spAutoFit/>
          </a:bodyPr>
          <a:lstStyle/>
          <a:p>
            <a:r>
              <a:rPr lang="en-US" altLang="zh-CN" b="1" dirty="0">
                <a:solidFill>
                  <a:schemeClr val="tx1"/>
                </a:solidFill>
              </a:rPr>
              <a:t>Prompt Design</a:t>
            </a:r>
            <a:endParaRPr lang="zh-CN" altLang="en-US" b="1"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27" y="1740407"/>
            <a:ext cx="216000" cy="22371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0488" y="1745449"/>
            <a:ext cx="26069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0411" y="4311027"/>
            <a:ext cx="208551" cy="216000"/>
          </a:xfrm>
          <a:prstGeom prst="rect">
            <a:avLst/>
          </a:prstGeom>
          <a:noFill/>
          <a:extLst>
            <a:ext uri="{909E8E84-426E-40DD-AFC4-6F175D3DCCD1}">
              <a14:hiddenFill xmlns:a14="http://schemas.microsoft.com/office/drawing/2010/main">
                <a:solidFill>
                  <a:srgbClr val="FFFFFF"/>
                </a:solidFill>
              </a14:hiddenFill>
            </a:ext>
          </a:extLst>
        </p:spPr>
      </p:pic>
      <p:sp>
        <p:nvSpPr>
          <p:cNvPr id="122" name="文本框 121"/>
          <p:cNvSpPr txBox="1"/>
          <p:nvPr/>
        </p:nvSpPr>
        <p:spPr>
          <a:xfrm>
            <a:off x="1051314" y="4243268"/>
            <a:ext cx="3129124" cy="307777"/>
          </a:xfrm>
          <a:prstGeom prst="rect">
            <a:avLst/>
          </a:prstGeom>
          <a:noFill/>
        </p:spPr>
        <p:txBody>
          <a:bodyPr wrap="square" rtlCol="0">
            <a:spAutoFit/>
          </a:bodyPr>
          <a:lstStyle/>
          <a:p>
            <a:r>
              <a:rPr lang="en-US" altLang="zh-CN" b="1" dirty="0">
                <a:solidFill>
                  <a:schemeClr val="tx1"/>
                </a:solidFill>
              </a:rPr>
              <a:t>Execution Environment</a:t>
            </a:r>
            <a:endParaRPr lang="zh-CN" altLang="en-US" b="1" dirty="0">
              <a:solidFill>
                <a:schemeClr val="tx1"/>
              </a:solidFill>
            </a:endParaRPr>
          </a:p>
        </p:txBody>
      </p:sp>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925" y="4300512"/>
            <a:ext cx="238345" cy="216000"/>
          </a:xfrm>
          <a:prstGeom prst="rect">
            <a:avLst/>
          </a:prstGeom>
          <a:noFill/>
          <a:extLst>
            <a:ext uri="{909E8E84-426E-40DD-AFC4-6F175D3DCCD1}">
              <a14:hiddenFill xmlns:a14="http://schemas.microsoft.com/office/drawing/2010/main">
                <a:solidFill>
                  <a:srgbClr val="FFFFFF"/>
                </a:solidFill>
              </a14:hiddenFill>
            </a:ext>
          </a:extLst>
        </p:spPr>
      </p:pic>
      <p:sp>
        <p:nvSpPr>
          <p:cNvPr id="1024" name="文本框 1023"/>
          <p:cNvSpPr txBox="1"/>
          <p:nvPr/>
        </p:nvSpPr>
        <p:spPr>
          <a:xfrm>
            <a:off x="733722" y="4743346"/>
            <a:ext cx="4778287" cy="738664"/>
          </a:xfrm>
          <a:prstGeom prst="rect">
            <a:avLst/>
          </a:prstGeom>
          <a:noFill/>
        </p:spPr>
        <p:txBody>
          <a:bodyPr wrap="square">
            <a:spAutoFit/>
          </a:bodyPr>
          <a:lstStyle/>
          <a:p>
            <a:pPr marL="171450" indent="-171450" rtl="0">
              <a:buFont typeface="Wingdings" panose="05000000000000000000" pitchFamily="2" charset="2"/>
              <a:buChar char="Ø"/>
            </a:pPr>
            <a:r>
              <a:rPr lang="en-US" altLang="zh-CN" sz="1050" b="1" i="0" u="none" strike="noStrike" dirty="0">
                <a:solidFill>
                  <a:srgbClr val="121212"/>
                </a:solidFill>
                <a:effectLst/>
                <a:latin typeface="Arial" panose="020B0604020202020204" pitchFamily="34" charset="0"/>
                <a:cs typeface="Arial" panose="020B0604020202020204" pitchFamily="34" charset="0"/>
              </a:rPr>
              <a:t>Local Sandbox:</a:t>
            </a:r>
            <a:r>
              <a:rPr lang="en-US" altLang="zh-CN" sz="1050" b="0" i="0" u="none" strike="noStrike" dirty="0">
                <a:solidFill>
                  <a:srgbClr val="444444"/>
                </a:solidFill>
                <a:effectLst/>
                <a:latin typeface="Arial" panose="020B0604020202020204" pitchFamily="34" charset="0"/>
                <a:cs typeface="Arial" panose="020B0604020202020204" pitchFamily="34" charset="0"/>
              </a:rPr>
              <a:t> </a:t>
            </a:r>
            <a:r>
              <a:rPr lang="en-US" altLang="zh-CN" sz="1050" b="0" i="0" u="none" strike="noStrike" dirty="0">
                <a:effectLst/>
                <a:latin typeface="Arial" panose="020B0604020202020204" pitchFamily="34" charset="0"/>
                <a:cs typeface="Arial" panose="020B0604020202020204" pitchFamily="34" charset="0"/>
              </a:rPr>
              <a:t>Securely isolates and executes dynamically generated Python scripts.</a:t>
            </a:r>
            <a:endParaRPr lang="en-US" altLang="zh-CN" sz="1050" b="0" dirty="0">
              <a:effectLst/>
              <a:latin typeface="Arial" panose="020B0604020202020204" pitchFamily="34" charset="0"/>
              <a:cs typeface="Arial" panose="020B0604020202020204" pitchFamily="34" charset="0"/>
            </a:endParaRPr>
          </a:p>
          <a:p>
            <a:pPr>
              <a:buNone/>
            </a:pPr>
            <a:br>
              <a:rPr lang="en-US" altLang="zh-CN" sz="1050" dirty="0">
                <a:latin typeface="Arial" panose="020B0604020202020204" pitchFamily="34" charset="0"/>
                <a:cs typeface="Arial" panose="020B0604020202020204" pitchFamily="34" charset="0"/>
              </a:rPr>
            </a:br>
            <a:endParaRPr lang="zh-CN" altLang="en-US" sz="1050" dirty="0">
              <a:latin typeface="Arial" panose="020B0604020202020204" pitchFamily="34" charset="0"/>
              <a:cs typeface="Arial" panose="020B0604020202020204" pitchFamily="34" charset="0"/>
            </a:endParaRPr>
          </a:p>
        </p:txBody>
      </p:sp>
      <p:sp>
        <p:nvSpPr>
          <p:cNvPr id="1025" name="文本框 1024"/>
          <p:cNvSpPr txBox="1"/>
          <p:nvPr/>
        </p:nvSpPr>
        <p:spPr>
          <a:xfrm>
            <a:off x="6480488" y="4743346"/>
            <a:ext cx="4778287" cy="1384995"/>
          </a:xfrm>
          <a:prstGeom prst="rect">
            <a:avLst/>
          </a:prstGeom>
          <a:noFill/>
        </p:spPr>
        <p:txBody>
          <a:bodyPr wrap="square">
            <a:spAutoFit/>
          </a:bodyPr>
          <a:lstStyle/>
          <a:p>
            <a:pPr marL="171450" indent="-171450" rtl="0">
              <a:buFont typeface="Wingdings" panose="05000000000000000000" pitchFamily="2" charset="2"/>
              <a:buChar char="Ø"/>
            </a:pPr>
            <a:r>
              <a:rPr lang="en-US" altLang="zh-CN" sz="1050" b="1" i="0" u="none" strike="noStrike" dirty="0">
                <a:solidFill>
                  <a:srgbClr val="121212"/>
                </a:solidFill>
                <a:effectLst/>
                <a:latin typeface="Arial" panose="020B0604020202020204" pitchFamily="34" charset="0"/>
                <a:cs typeface="Arial" panose="020B0604020202020204" pitchFamily="34" charset="0"/>
              </a:rPr>
              <a:t>Code Generation Prompt (1x): </a:t>
            </a:r>
            <a:r>
              <a:rPr lang="en-US" altLang="zh-CN" sz="1050" i="0" u="none" strike="noStrike" dirty="0">
                <a:solidFill>
                  <a:srgbClr val="121212"/>
                </a:solidFill>
                <a:effectLst/>
                <a:latin typeface="Arial" panose="020B0604020202020204" pitchFamily="34" charset="0"/>
                <a:cs typeface="Arial" panose="020B0604020202020204" pitchFamily="34" charset="0"/>
              </a:rPr>
              <a:t>Dedicated prompt to instruct the LLM on strict Python script writing.</a:t>
            </a:r>
            <a:endParaRPr lang="en-US" altLang="zh-CN" sz="1050" i="0" u="none" strike="noStrike" dirty="0">
              <a:solidFill>
                <a:srgbClr val="121212"/>
              </a:solidFill>
              <a:effectLst/>
              <a:latin typeface="Arial" panose="020B0604020202020204" pitchFamily="34" charset="0"/>
              <a:cs typeface="Arial" panose="020B0604020202020204" pitchFamily="34" charset="0"/>
            </a:endParaRPr>
          </a:p>
          <a:p>
            <a:pPr marL="171450" indent="-171450" rtl="0">
              <a:buFont typeface="Wingdings" panose="05000000000000000000" pitchFamily="2" charset="2"/>
              <a:buChar char="Ø"/>
            </a:pPr>
            <a:endParaRPr lang="en-US" altLang="zh-CN" sz="1050" dirty="0">
              <a:solidFill>
                <a:srgbClr val="444444"/>
              </a:solidFill>
              <a:latin typeface="Arial" panose="020B0604020202020204" pitchFamily="34" charset="0"/>
              <a:cs typeface="Arial" panose="020B0604020202020204" pitchFamily="34" charset="0"/>
            </a:endParaRPr>
          </a:p>
          <a:p>
            <a:pPr marL="171450" indent="-171450" rtl="0">
              <a:buFont typeface="Wingdings" panose="05000000000000000000" pitchFamily="2" charset="2"/>
              <a:buChar char="Ø"/>
            </a:pPr>
            <a:r>
              <a:rPr lang="en-US" altLang="zh-CN" sz="1050" b="1" dirty="0">
                <a:solidFill>
                  <a:srgbClr val="444444"/>
                </a:solidFill>
                <a:latin typeface="Arial" panose="020B0604020202020204" pitchFamily="34" charset="0"/>
                <a:cs typeface="Arial" panose="020B0604020202020204" pitchFamily="34" charset="0"/>
              </a:rPr>
              <a:t>Analysis &amp; QA</a:t>
            </a:r>
            <a:r>
              <a:rPr lang="en-US" altLang="zh-CN" sz="1050" b="1" dirty="0">
                <a:solidFill>
                  <a:srgbClr val="444444"/>
                </a:solidFill>
                <a:effectLst/>
                <a:latin typeface="Arial" panose="020B0604020202020204" pitchFamily="34" charset="0"/>
                <a:cs typeface="Arial" panose="020B0604020202020204" pitchFamily="34" charset="0"/>
              </a:rPr>
              <a:t> Prompts (3x): </a:t>
            </a:r>
            <a:r>
              <a:rPr lang="en-US" altLang="zh-CN" sz="1050" dirty="0">
                <a:solidFill>
                  <a:srgbClr val="444444"/>
                </a:solidFill>
                <a:effectLst/>
                <a:latin typeface="Arial" panose="020B0604020202020204" pitchFamily="34" charset="0"/>
                <a:cs typeface="Arial" panose="020B0604020202020204" pitchFamily="34" charset="0"/>
              </a:rPr>
              <a:t>Specialized prompts guiding the LLM to interpret output data, diagnose issues, and answer user queries naturally.</a:t>
            </a:r>
            <a:endParaRPr lang="en-US" altLang="zh-CN" sz="1050" dirty="0">
              <a:solidFill>
                <a:srgbClr val="444444"/>
              </a:solidFill>
              <a:effectLst/>
              <a:latin typeface="Arial" panose="020B0604020202020204" pitchFamily="34" charset="0"/>
              <a:cs typeface="Arial" panose="020B0604020202020204" pitchFamily="34" charset="0"/>
            </a:endParaRPr>
          </a:p>
          <a:p>
            <a:pPr marL="171450" indent="-171450" rtl="0">
              <a:buFont typeface="Wingdings" panose="05000000000000000000" pitchFamily="2" charset="2"/>
              <a:buChar char="Ø"/>
            </a:pPr>
            <a:endParaRPr lang="en-US" altLang="zh-CN" sz="1050" b="1" dirty="0">
              <a:effectLst/>
              <a:latin typeface="Arial" panose="020B0604020202020204" pitchFamily="34" charset="0"/>
              <a:cs typeface="Arial" panose="020B0604020202020204" pitchFamily="34" charset="0"/>
            </a:endParaRPr>
          </a:p>
          <a:p>
            <a:pPr>
              <a:buNone/>
            </a:pPr>
            <a:br>
              <a:rPr lang="en-US" altLang="zh-CN" sz="1050" dirty="0">
                <a:latin typeface="Arial" panose="020B0604020202020204" pitchFamily="34" charset="0"/>
                <a:cs typeface="Arial" panose="020B0604020202020204" pitchFamily="34" charset="0"/>
              </a:rPr>
            </a:br>
            <a:endParaRPr lang="zh-CN" altLang="en-US" sz="105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799" y="425647"/>
            <a:ext cx="9865581"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cs typeface="Arial" panose="020B0604020202020204"/>
                <a:sym typeface="Arial" panose="020B0604020202020204"/>
              </a:rPr>
              <a:t>PROMPT ENGINEERING</a:t>
            </a:r>
            <a:endParaRPr lang="en-US" sz="3600" dirty="0">
              <a:solidFill>
                <a:srgbClr val="990000"/>
              </a:solidFill>
              <a:latin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2" name="矩形: 圆角 1"/>
          <p:cNvSpPr/>
          <p:nvPr/>
        </p:nvSpPr>
        <p:spPr>
          <a:xfrm>
            <a:off x="457200" y="1597247"/>
            <a:ext cx="5299544" cy="4835106"/>
          </a:xfrm>
          <a:prstGeom prst="roundRect">
            <a:avLst>
              <a:gd name="adj" fmla="val 1412"/>
            </a:avLst>
          </a:prstGeom>
          <a:solidFill>
            <a:schemeClr val="tx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6" name="文本框 5"/>
          <p:cNvSpPr txBox="1"/>
          <p:nvPr/>
        </p:nvSpPr>
        <p:spPr>
          <a:xfrm>
            <a:off x="685799" y="1789394"/>
            <a:ext cx="1969937" cy="307777"/>
          </a:xfrm>
          <a:prstGeom prst="rect">
            <a:avLst/>
          </a:prstGeom>
          <a:solidFill>
            <a:schemeClr val="accent3">
              <a:alpha val="46000"/>
            </a:schemeClr>
          </a:solidFill>
        </p:spPr>
        <p:txBody>
          <a:bodyPr wrap="square" rtlCol="0">
            <a:spAutoFit/>
          </a:bodyPr>
          <a:lstStyle/>
          <a:p>
            <a:pPr algn="ctr"/>
            <a:r>
              <a:rPr lang="en-US" altLang="zh-CN" b="1" dirty="0">
                <a:solidFill>
                  <a:schemeClr val="accent3"/>
                </a:solidFill>
                <a:latin typeface="Arial" panose="020B0604020202020204" pitchFamily="34" charset="0"/>
                <a:cs typeface="Arial" panose="020B0604020202020204" pitchFamily="34" charset="0"/>
              </a:rPr>
              <a:t>CODE GENERATION</a:t>
            </a:r>
            <a:endParaRPr lang="zh-CN" altLang="en-US" b="1" dirty="0">
              <a:solidFill>
                <a:schemeClr val="accent3"/>
              </a:solidFill>
              <a:latin typeface="Arial" panose="020B0604020202020204" pitchFamily="34" charset="0"/>
              <a:cs typeface="Arial" panose="020B0604020202020204" pitchFamily="34" charset="0"/>
            </a:endParaRPr>
          </a:p>
        </p:txBody>
      </p:sp>
      <p:sp>
        <p:nvSpPr>
          <p:cNvPr id="8" name="文本框 7"/>
          <p:cNvSpPr txBox="1"/>
          <p:nvPr/>
        </p:nvSpPr>
        <p:spPr>
          <a:xfrm>
            <a:off x="591031" y="2165154"/>
            <a:ext cx="3623159" cy="400110"/>
          </a:xfrm>
          <a:prstGeom prst="rect">
            <a:avLst/>
          </a:prstGeom>
          <a:noFill/>
        </p:spPr>
        <p:txBody>
          <a:bodyPr wrap="square" rtlCol="0">
            <a:spAutoFit/>
          </a:bodyPr>
          <a:lstStyle/>
          <a:p>
            <a:r>
              <a:rPr lang="en-US" altLang="zh-CN" sz="2000" b="1" dirty="0">
                <a:solidFill>
                  <a:schemeClr val="bg1"/>
                </a:solidFill>
                <a:latin typeface="Arial" panose="020B0604020202020204" pitchFamily="34" charset="0"/>
                <a:cs typeface="Arial" panose="020B0604020202020204" pitchFamily="34" charset="0"/>
              </a:rPr>
              <a:t>Python &amp; Pandas Expert</a:t>
            </a:r>
            <a:endParaRPr lang="zh-CN" altLang="en-US" sz="2000" b="1" dirty="0">
              <a:solidFill>
                <a:schemeClr val="bg1"/>
              </a:solidFill>
              <a:latin typeface="Arial" panose="020B0604020202020204" pitchFamily="34" charset="0"/>
              <a:cs typeface="Arial" panose="020B0604020202020204" pitchFamily="34" charset="0"/>
            </a:endParaRPr>
          </a:p>
        </p:txBody>
      </p:sp>
      <p:sp>
        <p:nvSpPr>
          <p:cNvPr id="9" name="文本框 8"/>
          <p:cNvSpPr txBox="1"/>
          <p:nvPr/>
        </p:nvSpPr>
        <p:spPr>
          <a:xfrm>
            <a:off x="591031" y="2766454"/>
            <a:ext cx="3623159" cy="307777"/>
          </a:xfrm>
          <a:prstGeom prst="rect">
            <a:avLst/>
          </a:prstGeom>
          <a:noFill/>
        </p:spPr>
        <p:txBody>
          <a:bodyPr wrap="square" rtlCol="0">
            <a:spAutoFit/>
          </a:bodyPr>
          <a:lstStyle/>
          <a:p>
            <a:r>
              <a:rPr lang="en-US" altLang="zh-CN" b="1" dirty="0">
                <a:solidFill>
                  <a:schemeClr val="bg1"/>
                </a:solidFill>
                <a:latin typeface="Arial" panose="020B0604020202020204" pitchFamily="34" charset="0"/>
                <a:cs typeface="Arial" panose="020B0604020202020204" pitchFamily="34" charset="0"/>
              </a:rPr>
              <a:t>Core objective</a:t>
            </a:r>
            <a:endParaRPr lang="zh-CN" altLang="en-US" b="1" dirty="0">
              <a:solidFill>
                <a:schemeClr val="bg1"/>
              </a:solidFill>
              <a:latin typeface="Arial" panose="020B0604020202020204" pitchFamily="34" charset="0"/>
              <a:cs typeface="Arial" panose="020B0604020202020204" pitchFamily="34" charset="0"/>
            </a:endParaRPr>
          </a:p>
        </p:txBody>
      </p:sp>
      <p:sp>
        <p:nvSpPr>
          <p:cNvPr id="13" name="文本框 12"/>
          <p:cNvSpPr txBox="1"/>
          <p:nvPr/>
        </p:nvSpPr>
        <p:spPr>
          <a:xfrm>
            <a:off x="591031" y="3238403"/>
            <a:ext cx="4855612" cy="572208"/>
          </a:xfrm>
          <a:prstGeom prst="rect">
            <a:avLst/>
          </a:prstGeom>
          <a:noFill/>
        </p:spPr>
        <p:txBody>
          <a:bodyPr wrap="square">
            <a:spAutoFit/>
          </a:bodyPr>
          <a:lstStyle/>
          <a:p>
            <a:pPr>
              <a:lnSpc>
                <a:spcPct val="150000"/>
              </a:lnSpc>
            </a:pPr>
            <a:r>
              <a:rPr lang="en-US" altLang="zh-CN" sz="1100" b="0" i="0" dirty="0">
                <a:solidFill>
                  <a:srgbClr val="D4D4D8"/>
                </a:solidFill>
                <a:effectLst/>
                <a:latin typeface="Arial" panose="020B0604020202020204" pitchFamily="34" charset="0"/>
                <a:cs typeface="Arial" panose="020B0604020202020204" pitchFamily="34" charset="0"/>
              </a:rPr>
              <a:t>Synthesize user queries into flawless, executable Python scripts to process raw eCommerce data.</a:t>
            </a:r>
            <a:endParaRPr lang="zh-CN" altLang="en-US" sz="1100" dirty="0">
              <a:solidFill>
                <a:srgbClr val="D4D4D8"/>
              </a:solidFill>
              <a:latin typeface="Arial" panose="020B0604020202020204" pitchFamily="34" charset="0"/>
              <a:cs typeface="Arial" panose="020B0604020202020204" pitchFamily="34" charset="0"/>
            </a:endParaRPr>
          </a:p>
        </p:txBody>
      </p:sp>
      <p:cxnSp>
        <p:nvCxnSpPr>
          <p:cNvPr id="14" name="直接连接符 13"/>
          <p:cNvCxnSpPr/>
          <p:nvPr/>
        </p:nvCxnSpPr>
        <p:spPr>
          <a:xfrm>
            <a:off x="683812" y="3137962"/>
            <a:ext cx="4762831" cy="0"/>
          </a:xfrm>
          <a:prstGeom prst="line">
            <a:avLst/>
          </a:prstGeom>
          <a:ln w="9525">
            <a:solidFill>
              <a:srgbClr val="CDD4DF"/>
            </a:solidFill>
            <a:prstDash val="solid"/>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91030" y="4040867"/>
            <a:ext cx="3623159" cy="307777"/>
          </a:xfrm>
          <a:prstGeom prst="rect">
            <a:avLst/>
          </a:prstGeom>
          <a:noFill/>
        </p:spPr>
        <p:txBody>
          <a:bodyPr wrap="square" rtlCol="0">
            <a:spAutoFit/>
          </a:bodyPr>
          <a:lstStyle/>
          <a:p>
            <a:r>
              <a:rPr lang="en-US" altLang="zh-CN" b="1" dirty="0">
                <a:solidFill>
                  <a:schemeClr val="bg1"/>
                </a:solidFill>
                <a:latin typeface="Arial" panose="020B0604020202020204" pitchFamily="34" charset="0"/>
                <a:cs typeface="Arial" panose="020B0604020202020204" pitchFamily="34" charset="0"/>
              </a:rPr>
              <a:t>Strict Constraints</a:t>
            </a:r>
            <a:endParaRPr lang="zh-CN" altLang="en-US" b="1" dirty="0">
              <a:solidFill>
                <a:schemeClr val="bg1"/>
              </a:solidFill>
              <a:latin typeface="Arial" panose="020B0604020202020204" pitchFamily="34" charset="0"/>
              <a:cs typeface="Arial" panose="020B0604020202020204" pitchFamily="34" charset="0"/>
            </a:endParaRPr>
          </a:p>
        </p:txBody>
      </p:sp>
      <p:cxnSp>
        <p:nvCxnSpPr>
          <p:cNvPr id="16" name="直接连接符 15"/>
          <p:cNvCxnSpPr/>
          <p:nvPr/>
        </p:nvCxnSpPr>
        <p:spPr>
          <a:xfrm>
            <a:off x="683811" y="4411496"/>
            <a:ext cx="4762831" cy="0"/>
          </a:xfrm>
          <a:prstGeom prst="line">
            <a:avLst/>
          </a:prstGeom>
          <a:ln w="9525">
            <a:solidFill>
              <a:srgbClr val="CDD4DF"/>
            </a:solidFill>
            <a:prstDash val="solid"/>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83811" y="4570162"/>
            <a:ext cx="4762831" cy="1084912"/>
          </a:xfrm>
          <a:prstGeom prst="rect">
            <a:avLst/>
          </a:prstGeom>
          <a:noFill/>
        </p:spPr>
        <p:txBody>
          <a:bodyPr wrap="square">
            <a:spAutoFit/>
          </a:bodyPr>
          <a:lstStyle/>
          <a:p>
            <a:pPr marL="171450" indent="-171450" algn="l">
              <a:spcAft>
                <a:spcPts val="900"/>
              </a:spcAft>
              <a:buClr>
                <a:schemeClr val="bg1"/>
              </a:buClr>
              <a:buFont typeface="Wingdings" panose="05000000000000000000" pitchFamily="2" charset="2"/>
              <a:buChar char="ü"/>
            </a:pPr>
            <a:r>
              <a:rPr lang="en-US" altLang="zh-CN" sz="1050" b="0" i="0" dirty="0">
                <a:solidFill>
                  <a:srgbClr val="D4D4D8"/>
                </a:solidFill>
                <a:effectLst/>
                <a:latin typeface="Arial" panose="020B0604020202020204" pitchFamily="34" charset="0"/>
                <a:cs typeface="Arial" panose="020B0604020202020204" pitchFamily="34" charset="0"/>
              </a:rPr>
              <a:t>Must define absolute tasks and expected outputs.</a:t>
            </a:r>
            <a:endParaRPr lang="en-US" altLang="zh-CN" sz="1050" b="0" i="0" dirty="0">
              <a:solidFill>
                <a:srgbClr val="D4D4D8"/>
              </a:solidFill>
              <a:effectLst/>
              <a:latin typeface="Arial" panose="020B0604020202020204" pitchFamily="34" charset="0"/>
              <a:cs typeface="Arial" panose="020B0604020202020204" pitchFamily="34" charset="0"/>
            </a:endParaRPr>
          </a:p>
          <a:p>
            <a:pPr marL="171450" indent="-171450" algn="l">
              <a:spcAft>
                <a:spcPts val="900"/>
              </a:spcAft>
              <a:buClr>
                <a:schemeClr val="bg1"/>
              </a:buClr>
              <a:buFont typeface="Wingdings" panose="05000000000000000000" pitchFamily="2" charset="2"/>
              <a:buChar char="ü"/>
            </a:pPr>
            <a:r>
              <a:rPr lang="en-US" altLang="zh-CN" sz="1050" b="0" i="0" dirty="0">
                <a:solidFill>
                  <a:srgbClr val="D4D4D8"/>
                </a:solidFill>
                <a:effectLst/>
                <a:latin typeface="Arial" panose="020B0604020202020204" pitchFamily="34" charset="0"/>
                <a:cs typeface="Arial" panose="020B0604020202020204" pitchFamily="34" charset="0"/>
              </a:rPr>
              <a:t>Enforced Type Safety across all variables.</a:t>
            </a:r>
            <a:endParaRPr lang="en-US" altLang="zh-CN" sz="1050" b="0" i="0" dirty="0">
              <a:solidFill>
                <a:srgbClr val="D4D4D8"/>
              </a:solidFill>
              <a:effectLst/>
              <a:latin typeface="Arial" panose="020B0604020202020204" pitchFamily="34" charset="0"/>
              <a:cs typeface="Arial" panose="020B0604020202020204" pitchFamily="34" charset="0"/>
            </a:endParaRPr>
          </a:p>
          <a:p>
            <a:pPr marL="171450" indent="-171450" algn="l">
              <a:spcAft>
                <a:spcPts val="900"/>
              </a:spcAft>
              <a:buClr>
                <a:schemeClr val="bg1"/>
              </a:buClr>
              <a:buFont typeface="Wingdings" panose="05000000000000000000" pitchFamily="2" charset="2"/>
              <a:buChar char="ü"/>
            </a:pPr>
            <a:r>
              <a:rPr lang="en-US" altLang="zh-CN" sz="1050" b="0" i="0" dirty="0">
                <a:solidFill>
                  <a:srgbClr val="D4D4D8"/>
                </a:solidFill>
                <a:effectLst/>
                <a:latin typeface="Arial" panose="020B0604020202020204" pitchFamily="34" charset="0"/>
                <a:cs typeface="Arial" panose="020B0604020202020204" pitchFamily="34" charset="0"/>
              </a:rPr>
              <a:t>Zero hallucinated columns allowed.</a:t>
            </a:r>
            <a:endParaRPr lang="en-US" altLang="zh-CN" sz="1050" b="0" i="0" dirty="0">
              <a:solidFill>
                <a:srgbClr val="D4D4D8"/>
              </a:solidFill>
              <a:effectLst/>
              <a:latin typeface="Arial" panose="020B0604020202020204" pitchFamily="34" charset="0"/>
              <a:cs typeface="Arial" panose="020B0604020202020204" pitchFamily="34" charset="0"/>
            </a:endParaRPr>
          </a:p>
          <a:p>
            <a:pPr marL="171450" indent="-171450" algn="l">
              <a:spcAft>
                <a:spcPts val="900"/>
              </a:spcAft>
              <a:buClr>
                <a:schemeClr val="bg1"/>
              </a:buClr>
              <a:buFont typeface="Wingdings" panose="05000000000000000000" pitchFamily="2" charset="2"/>
              <a:buChar char="ü"/>
            </a:pPr>
            <a:r>
              <a:rPr lang="en-US" altLang="zh-CN" sz="1050" b="0" i="0" dirty="0">
                <a:solidFill>
                  <a:srgbClr val="D4D4D8"/>
                </a:solidFill>
                <a:effectLst/>
                <a:latin typeface="Arial" panose="020B0604020202020204" pitchFamily="34" charset="0"/>
                <a:cs typeface="Arial" panose="020B0604020202020204" pitchFamily="34" charset="0"/>
              </a:rPr>
              <a:t>Must autonomously perform optimal Primary Key joins.</a:t>
            </a:r>
            <a:endParaRPr lang="en-US" altLang="zh-CN" sz="1050" b="0" i="0" dirty="0">
              <a:solidFill>
                <a:srgbClr val="D4D4D8"/>
              </a:solidFill>
              <a:effectLst/>
              <a:latin typeface="Arial" panose="020B0604020202020204" pitchFamily="34" charset="0"/>
              <a:cs typeface="Arial" panose="020B0604020202020204" pitchFamily="34" charset="0"/>
            </a:endParaRPr>
          </a:p>
        </p:txBody>
      </p:sp>
      <p:grpSp>
        <p:nvGrpSpPr>
          <p:cNvPr id="27" name="组合 26"/>
          <p:cNvGrpSpPr/>
          <p:nvPr/>
        </p:nvGrpSpPr>
        <p:grpSpPr>
          <a:xfrm>
            <a:off x="6183464" y="1597247"/>
            <a:ext cx="5299544" cy="1432200"/>
            <a:chOff x="6183464" y="1597247"/>
            <a:chExt cx="5299544" cy="1432200"/>
          </a:xfrm>
        </p:grpSpPr>
        <p:sp>
          <p:nvSpPr>
            <p:cNvPr id="3" name="矩形: 圆角 2"/>
            <p:cNvSpPr/>
            <p:nvPr/>
          </p:nvSpPr>
          <p:spPr>
            <a:xfrm>
              <a:off x="6183464" y="1597247"/>
              <a:ext cx="5299544" cy="1432200"/>
            </a:xfrm>
            <a:prstGeom prst="roundRect">
              <a:avLst>
                <a:gd name="adj" fmla="val 1412"/>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9" name="文本框 18"/>
            <p:cNvSpPr txBox="1"/>
            <p:nvPr/>
          </p:nvSpPr>
          <p:spPr>
            <a:xfrm>
              <a:off x="7159141" y="1734940"/>
              <a:ext cx="3623159" cy="261610"/>
            </a:xfrm>
            <a:prstGeom prst="rect">
              <a:avLst/>
            </a:prstGeom>
            <a:noFill/>
          </p:spPr>
          <p:txBody>
            <a:bodyPr wrap="square" rtlCol="0">
              <a:spAutoFit/>
            </a:bodyPr>
            <a:lstStyle/>
            <a:p>
              <a:r>
                <a:rPr lang="en-US" altLang="zh-CN" sz="1100" b="1" dirty="0">
                  <a:solidFill>
                    <a:srgbClr val="861D10"/>
                  </a:solidFill>
                  <a:latin typeface="Arial" panose="020B0604020202020204" pitchFamily="34" charset="0"/>
                  <a:cs typeface="Arial" panose="020B0604020202020204" pitchFamily="34" charset="0"/>
                </a:rPr>
                <a:t>Analysis &amp; QA - BASELINE</a:t>
              </a:r>
              <a:endParaRPr lang="zh-CN" altLang="en-US" sz="1100" b="1" dirty="0">
                <a:solidFill>
                  <a:srgbClr val="861D10"/>
                </a:solidFill>
                <a:latin typeface="Arial" panose="020B0604020202020204" pitchFamily="34" charset="0"/>
                <a:cs typeface="Arial" panose="020B0604020202020204" pitchFamily="34" charset="0"/>
              </a:endParaRPr>
            </a:p>
          </p:txBody>
        </p:sp>
        <p:cxnSp>
          <p:nvCxnSpPr>
            <p:cNvPr id="20" name="直接连接符 19"/>
            <p:cNvCxnSpPr/>
            <p:nvPr/>
          </p:nvCxnSpPr>
          <p:spPr>
            <a:xfrm>
              <a:off x="6189010" y="1597247"/>
              <a:ext cx="0" cy="1432200"/>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164388" y="1990507"/>
              <a:ext cx="4044632" cy="338554"/>
            </a:xfrm>
            <a:prstGeom prst="rect">
              <a:avLst/>
            </a:prstGeom>
            <a:noFill/>
          </p:spPr>
          <p:txBody>
            <a:bodyPr wrap="square" rtlCol="0">
              <a:spAutoFit/>
            </a:bodyPr>
            <a:lstStyle/>
            <a:p>
              <a:r>
                <a:rPr lang="en-US" altLang="zh-CN" sz="1600" b="1" dirty="0">
                  <a:solidFill>
                    <a:schemeClr val="tx1"/>
                  </a:solidFill>
                  <a:latin typeface="Arial" panose="020B0604020202020204" pitchFamily="34" charset="0"/>
                  <a:cs typeface="Arial" panose="020B0604020202020204" pitchFamily="34" charset="0"/>
                </a:rPr>
                <a:t>E-Commerce Business Assistant</a:t>
              </a:r>
              <a:endParaRPr lang="zh-CN" altLang="en-US" sz="1600" b="1" dirty="0">
                <a:solidFill>
                  <a:schemeClr val="tx1"/>
                </a:solidFill>
                <a:latin typeface="Arial" panose="020B0604020202020204" pitchFamily="34" charset="0"/>
                <a:cs typeface="Arial" panose="020B0604020202020204" pitchFamily="34" charset="0"/>
              </a:endParaRPr>
            </a:p>
          </p:txBody>
        </p:sp>
        <p:sp>
          <p:nvSpPr>
            <p:cNvPr id="26" name="文本框 25"/>
            <p:cNvSpPr txBox="1"/>
            <p:nvPr/>
          </p:nvSpPr>
          <p:spPr>
            <a:xfrm>
              <a:off x="7159141" y="2379244"/>
              <a:ext cx="4250980" cy="577081"/>
            </a:xfrm>
            <a:prstGeom prst="rect">
              <a:avLst/>
            </a:prstGeom>
            <a:noFill/>
          </p:spPr>
          <p:txBody>
            <a:bodyPr wrap="square">
              <a:spAutoFit/>
            </a:bodyPr>
            <a:lstStyle/>
            <a:p>
              <a:r>
                <a:rPr lang="en-US" altLang="zh-CN" sz="1050" b="0" i="0" dirty="0">
                  <a:solidFill>
                    <a:srgbClr val="555555"/>
                  </a:solidFill>
                  <a:effectLst/>
                  <a:latin typeface="Arial" panose="020B0604020202020204" pitchFamily="34" charset="0"/>
                  <a:cs typeface="Arial" panose="020B0604020202020204" pitchFamily="34" charset="0"/>
                </a:rPr>
                <a:t>Directly answers user questions based on data outputs, focusing on fulfill the user's requests and provide recommendations based on the information found within the data.</a:t>
              </a:r>
              <a:endParaRPr lang="zh-CN" altLang="en-US" sz="1050" dirty="0">
                <a:latin typeface="Arial" panose="020B0604020202020204" pitchFamily="34" charset="0"/>
                <a:cs typeface="Arial" panose="020B0604020202020204" pitchFamily="34" charset="0"/>
              </a:endParaRPr>
            </a:p>
          </p:txBody>
        </p:sp>
      </p:grpSp>
      <p:grpSp>
        <p:nvGrpSpPr>
          <p:cNvPr id="30" name="组合 29"/>
          <p:cNvGrpSpPr/>
          <p:nvPr/>
        </p:nvGrpSpPr>
        <p:grpSpPr>
          <a:xfrm>
            <a:off x="6183464" y="3254469"/>
            <a:ext cx="5299544" cy="1432200"/>
            <a:chOff x="6183464" y="1597247"/>
            <a:chExt cx="5299544" cy="1432200"/>
          </a:xfrm>
        </p:grpSpPr>
        <p:sp>
          <p:nvSpPr>
            <p:cNvPr id="31" name="矩形: 圆角 30"/>
            <p:cNvSpPr/>
            <p:nvPr/>
          </p:nvSpPr>
          <p:spPr>
            <a:xfrm>
              <a:off x="6183464" y="1597247"/>
              <a:ext cx="5299544" cy="1432200"/>
            </a:xfrm>
            <a:prstGeom prst="roundRect">
              <a:avLst>
                <a:gd name="adj" fmla="val 1412"/>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2" name="文本框 31"/>
            <p:cNvSpPr txBox="1"/>
            <p:nvPr/>
          </p:nvSpPr>
          <p:spPr>
            <a:xfrm>
              <a:off x="7159141" y="1734940"/>
              <a:ext cx="3623159" cy="261610"/>
            </a:xfrm>
            <a:prstGeom prst="rect">
              <a:avLst/>
            </a:prstGeom>
            <a:noFill/>
          </p:spPr>
          <p:txBody>
            <a:bodyPr wrap="square" rtlCol="0">
              <a:spAutoFit/>
            </a:bodyPr>
            <a:lstStyle/>
            <a:p>
              <a:r>
                <a:rPr lang="en-US" altLang="zh-CN" sz="1100" b="1" dirty="0">
                  <a:solidFill>
                    <a:srgbClr val="861D10"/>
                  </a:solidFill>
                  <a:latin typeface="Arial" panose="020B0604020202020204" pitchFamily="34" charset="0"/>
                  <a:cs typeface="Arial" panose="020B0604020202020204" pitchFamily="34" charset="0"/>
                </a:rPr>
                <a:t>Analysis &amp; QA – CHAIN OF THOUGHT</a:t>
              </a:r>
              <a:endParaRPr lang="zh-CN" altLang="en-US" sz="1100" b="1" dirty="0">
                <a:solidFill>
                  <a:srgbClr val="861D10"/>
                </a:solidFill>
                <a:latin typeface="Arial" panose="020B0604020202020204" pitchFamily="34" charset="0"/>
                <a:cs typeface="Arial" panose="020B0604020202020204" pitchFamily="34" charset="0"/>
              </a:endParaRPr>
            </a:p>
          </p:txBody>
        </p:sp>
        <p:cxnSp>
          <p:nvCxnSpPr>
            <p:cNvPr id="33" name="直接连接符 32"/>
            <p:cNvCxnSpPr/>
            <p:nvPr/>
          </p:nvCxnSpPr>
          <p:spPr>
            <a:xfrm>
              <a:off x="6189010" y="1597247"/>
              <a:ext cx="0" cy="1432200"/>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7164388" y="1990507"/>
              <a:ext cx="4044632" cy="338554"/>
            </a:xfrm>
            <a:prstGeom prst="rect">
              <a:avLst/>
            </a:prstGeom>
            <a:noFill/>
          </p:spPr>
          <p:txBody>
            <a:bodyPr wrap="square" rtlCol="0">
              <a:spAutoFit/>
            </a:bodyPr>
            <a:lstStyle/>
            <a:p>
              <a:r>
                <a:rPr lang="en-US" altLang="zh-CN" sz="1600" b="1" dirty="0">
                  <a:solidFill>
                    <a:schemeClr val="tx1"/>
                  </a:solidFill>
                  <a:latin typeface="Arial" panose="020B0604020202020204" pitchFamily="34" charset="0"/>
                  <a:cs typeface="Arial" panose="020B0604020202020204" pitchFamily="34" charset="0"/>
                </a:rPr>
                <a:t>Data Scientist</a:t>
              </a:r>
              <a:endParaRPr lang="zh-CN" altLang="en-US" sz="1600" b="1" dirty="0">
                <a:solidFill>
                  <a:schemeClr val="tx1"/>
                </a:solidFill>
                <a:latin typeface="Arial" panose="020B0604020202020204" pitchFamily="34" charset="0"/>
                <a:cs typeface="Arial" panose="020B0604020202020204" pitchFamily="34" charset="0"/>
              </a:endParaRPr>
            </a:p>
          </p:txBody>
        </p:sp>
        <p:sp>
          <p:nvSpPr>
            <p:cNvPr id="35" name="文本框 34"/>
            <p:cNvSpPr txBox="1"/>
            <p:nvPr/>
          </p:nvSpPr>
          <p:spPr>
            <a:xfrm>
              <a:off x="7159141" y="2379244"/>
              <a:ext cx="4250980" cy="577081"/>
            </a:xfrm>
            <a:prstGeom prst="rect">
              <a:avLst/>
            </a:prstGeom>
            <a:noFill/>
          </p:spPr>
          <p:txBody>
            <a:bodyPr wrap="square">
              <a:spAutoFit/>
            </a:bodyPr>
            <a:lstStyle/>
            <a:p>
              <a:r>
                <a:rPr lang="en-US" altLang="zh-CN" sz="1050" b="0" i="0" dirty="0">
                  <a:solidFill>
                    <a:srgbClr val="555555"/>
                  </a:solidFill>
                  <a:effectLst/>
                  <a:latin typeface="Arial" panose="020B0604020202020204" pitchFamily="34" charset="0"/>
                  <a:cs typeface="Arial" panose="020B0604020202020204" pitchFamily="34" charset="0"/>
                </a:rPr>
                <a:t>Ensure the absolute authenticity and logical consistency of your data-driven conclusions. Before answering, execute the verification steps such as cross-validation.</a:t>
              </a:r>
              <a:endParaRPr lang="zh-CN" altLang="en-US" sz="1050" dirty="0">
                <a:latin typeface="Arial" panose="020B0604020202020204" pitchFamily="34" charset="0"/>
                <a:cs typeface="Arial" panose="020B0604020202020204" pitchFamily="34" charset="0"/>
              </a:endParaRPr>
            </a:p>
          </p:txBody>
        </p:sp>
      </p:grpSp>
      <p:grpSp>
        <p:nvGrpSpPr>
          <p:cNvPr id="36" name="组合 35"/>
          <p:cNvGrpSpPr/>
          <p:nvPr/>
        </p:nvGrpSpPr>
        <p:grpSpPr>
          <a:xfrm>
            <a:off x="6183464" y="4911691"/>
            <a:ext cx="5299544" cy="1520662"/>
            <a:chOff x="6183464" y="1597246"/>
            <a:chExt cx="5299544" cy="1520662"/>
          </a:xfrm>
        </p:grpSpPr>
        <p:sp>
          <p:nvSpPr>
            <p:cNvPr id="37" name="矩形: 圆角 36"/>
            <p:cNvSpPr/>
            <p:nvPr/>
          </p:nvSpPr>
          <p:spPr>
            <a:xfrm>
              <a:off x="6183464" y="1597246"/>
              <a:ext cx="5299544" cy="1520661"/>
            </a:xfrm>
            <a:prstGeom prst="roundRect">
              <a:avLst>
                <a:gd name="adj" fmla="val 1412"/>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8" name="文本框 37"/>
            <p:cNvSpPr txBox="1"/>
            <p:nvPr/>
          </p:nvSpPr>
          <p:spPr>
            <a:xfrm>
              <a:off x="7159141" y="1734940"/>
              <a:ext cx="3623159" cy="261610"/>
            </a:xfrm>
            <a:prstGeom prst="rect">
              <a:avLst/>
            </a:prstGeom>
            <a:noFill/>
          </p:spPr>
          <p:txBody>
            <a:bodyPr wrap="square" rtlCol="0">
              <a:spAutoFit/>
            </a:bodyPr>
            <a:lstStyle/>
            <a:p>
              <a:r>
                <a:rPr lang="en-US" altLang="zh-CN" sz="1100" b="1" dirty="0">
                  <a:solidFill>
                    <a:srgbClr val="861D10"/>
                  </a:solidFill>
                  <a:latin typeface="Arial" panose="020B0604020202020204" pitchFamily="34" charset="0"/>
                  <a:cs typeface="Arial" panose="020B0604020202020204" pitchFamily="34" charset="0"/>
                </a:rPr>
                <a:t>Analysis &amp; QA – ACTION ORIENTED</a:t>
              </a:r>
              <a:endParaRPr lang="zh-CN" altLang="en-US" sz="1100" b="1" dirty="0">
                <a:solidFill>
                  <a:srgbClr val="861D10"/>
                </a:solidFill>
                <a:latin typeface="Arial" panose="020B0604020202020204" pitchFamily="34" charset="0"/>
                <a:cs typeface="Arial" panose="020B0604020202020204" pitchFamily="34" charset="0"/>
              </a:endParaRPr>
            </a:p>
          </p:txBody>
        </p:sp>
        <p:cxnSp>
          <p:nvCxnSpPr>
            <p:cNvPr id="39" name="直接连接符 38"/>
            <p:cNvCxnSpPr/>
            <p:nvPr/>
          </p:nvCxnSpPr>
          <p:spPr>
            <a:xfrm>
              <a:off x="6189010" y="1597247"/>
              <a:ext cx="0" cy="1520660"/>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7164388" y="1990507"/>
              <a:ext cx="4044632" cy="338554"/>
            </a:xfrm>
            <a:prstGeom prst="rect">
              <a:avLst/>
            </a:prstGeom>
            <a:noFill/>
          </p:spPr>
          <p:txBody>
            <a:bodyPr wrap="square" rtlCol="0">
              <a:spAutoFit/>
            </a:bodyPr>
            <a:lstStyle/>
            <a:p>
              <a:r>
                <a:rPr lang="en-US" altLang="zh-CN" sz="1600" b="1" dirty="0">
                  <a:solidFill>
                    <a:schemeClr val="tx1"/>
                  </a:solidFill>
                  <a:latin typeface="Arial" panose="020B0604020202020204" pitchFamily="34" charset="0"/>
                  <a:cs typeface="Arial" panose="020B0604020202020204" pitchFamily="34" charset="0"/>
                </a:rPr>
                <a:t>Brand Operator &amp; Venture Capitalist</a:t>
              </a:r>
              <a:endParaRPr lang="zh-CN" altLang="en-US" sz="1600" b="1" dirty="0">
                <a:solidFill>
                  <a:schemeClr val="tx1"/>
                </a:solidFill>
                <a:latin typeface="Arial" panose="020B0604020202020204" pitchFamily="34" charset="0"/>
                <a:cs typeface="Arial" panose="020B0604020202020204" pitchFamily="34" charset="0"/>
              </a:endParaRPr>
            </a:p>
          </p:txBody>
        </p:sp>
        <p:sp>
          <p:nvSpPr>
            <p:cNvPr id="41" name="文本框 40"/>
            <p:cNvSpPr txBox="1"/>
            <p:nvPr/>
          </p:nvSpPr>
          <p:spPr>
            <a:xfrm>
              <a:off x="7159141" y="2379244"/>
              <a:ext cx="4250980" cy="738664"/>
            </a:xfrm>
            <a:prstGeom prst="rect">
              <a:avLst/>
            </a:prstGeom>
            <a:noFill/>
          </p:spPr>
          <p:txBody>
            <a:bodyPr wrap="square">
              <a:spAutoFit/>
            </a:bodyPr>
            <a:lstStyle/>
            <a:p>
              <a:r>
                <a:rPr lang="en-US" altLang="zh-CN" sz="1050" b="0" i="0" dirty="0">
                  <a:solidFill>
                    <a:srgbClr val="555555"/>
                  </a:solidFill>
                  <a:effectLst/>
                  <a:latin typeface="Arial" panose="020B0604020202020204" pitchFamily="34" charset="0"/>
                  <a:cs typeface="Arial" panose="020B0604020202020204" pitchFamily="34" charset="0"/>
                </a:rPr>
                <a:t>Focus on core pain points in reviews to identify profitable opportunities and unmet blue-ocean markets, ignoring irrelevant data. Deliver actionable recommendations to help the brand capture the market quickly.</a:t>
              </a:r>
              <a:endParaRPr lang="zh-CN" altLang="en-US" sz="1050" dirty="0">
                <a:latin typeface="Arial" panose="020B0604020202020204" pitchFamily="34" charset="0"/>
                <a:cs typeface="Arial" panose="020B0604020202020204" pitchFamily="34" charset="0"/>
              </a:endParaRPr>
            </a:p>
          </p:txBody>
        </p:sp>
      </p:grpSp>
      <p:sp>
        <p:nvSpPr>
          <p:cNvPr id="44" name="椭圆 43"/>
          <p:cNvSpPr/>
          <p:nvPr/>
        </p:nvSpPr>
        <p:spPr>
          <a:xfrm>
            <a:off x="6456874" y="1943282"/>
            <a:ext cx="540000" cy="540000"/>
          </a:xfrm>
          <a:prstGeom prst="ellipse">
            <a:avLst/>
          </a:prstGeom>
          <a:solidFill>
            <a:srgbClr val="C00000">
              <a:alpha val="10000"/>
            </a:srgbClr>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6" name="椭圆 45"/>
          <p:cNvSpPr/>
          <p:nvPr/>
        </p:nvSpPr>
        <p:spPr>
          <a:xfrm>
            <a:off x="6456874" y="3653800"/>
            <a:ext cx="540000" cy="540000"/>
          </a:xfrm>
          <a:prstGeom prst="ellipse">
            <a:avLst/>
          </a:prstGeom>
          <a:solidFill>
            <a:srgbClr val="C00000">
              <a:alpha val="10000"/>
            </a:srgbClr>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8" name="椭圆 47"/>
          <p:cNvSpPr/>
          <p:nvPr/>
        </p:nvSpPr>
        <p:spPr>
          <a:xfrm>
            <a:off x="6456874" y="5304952"/>
            <a:ext cx="540000" cy="540000"/>
          </a:xfrm>
          <a:prstGeom prst="ellipse">
            <a:avLst/>
          </a:prstGeom>
          <a:solidFill>
            <a:srgbClr val="C00000">
              <a:alpha val="10000"/>
            </a:srgbClr>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63" name="图形 62" descr="呼叫中心 纯色填充"/>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2874" y="2069282"/>
            <a:ext cx="288000" cy="288000"/>
          </a:xfrm>
          <a:prstGeom prst="rect">
            <a:avLst/>
          </a:prstGeom>
        </p:spPr>
      </p:pic>
      <p:pic>
        <p:nvPicPr>
          <p:cNvPr id="65" name="图形 64" descr="科学思想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2874" y="3779800"/>
            <a:ext cx="288000" cy="288000"/>
          </a:xfrm>
          <a:prstGeom prst="rect">
            <a:avLst/>
          </a:prstGeom>
        </p:spPr>
      </p:pic>
      <p:pic>
        <p:nvPicPr>
          <p:cNvPr id="67" name="图形 66" descr="办公室男工作人员 纯色填充"/>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82874" y="5431631"/>
            <a:ext cx="288000" cy="28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ctrTitle"/>
          </p:nvPr>
        </p:nvSpPr>
        <p:spPr>
          <a:xfrm>
            <a:off x="685799" y="425647"/>
            <a:ext cx="9865581"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cs typeface="Arial" panose="020B0604020202020204"/>
                <a:sym typeface="Arial" panose="020B0604020202020204"/>
              </a:rPr>
              <a:t>SYSTEM LOGIC &amp; FLOW</a:t>
            </a:r>
            <a:endParaRPr lang="en-US" sz="3600" dirty="0">
              <a:solidFill>
                <a:srgbClr val="990000"/>
              </a:solidFill>
              <a:latin typeface="Arial" panose="020B0604020202020204"/>
              <a:cs typeface="Arial" panose="020B0604020202020204"/>
              <a:sym typeface="Arial" panose="020B0604020202020204"/>
            </a:endParaRPr>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pic>
        <p:nvPicPr>
          <p:cNvPr id="7" name="Google Shape;297;p20"/>
          <p:cNvPicPr preferRelativeResize="0"/>
          <p:nvPr/>
        </p:nvPicPr>
        <p:blipFill rotWithShape="1">
          <a:blip r:embed="rId2"/>
          <a:srcRect/>
          <a:stretch>
            <a:fillRect/>
          </a:stretch>
        </p:blipFill>
        <p:spPr>
          <a:xfrm>
            <a:off x="457200" y="2021115"/>
            <a:ext cx="2988171" cy="3632894"/>
          </a:xfrm>
          <a:prstGeom prst="rect">
            <a:avLst/>
          </a:prstGeom>
          <a:noFill/>
          <a:ln>
            <a:noFill/>
          </a:ln>
        </p:spPr>
      </p:pic>
      <p:pic>
        <p:nvPicPr>
          <p:cNvPr id="10" name="Google Shape;298;p20"/>
          <p:cNvPicPr preferRelativeResize="0"/>
          <p:nvPr/>
        </p:nvPicPr>
        <p:blipFill rotWithShape="1">
          <a:blip r:embed="rId3"/>
          <a:srcRect/>
          <a:stretch>
            <a:fillRect/>
          </a:stretch>
        </p:blipFill>
        <p:spPr>
          <a:xfrm>
            <a:off x="3940671" y="2021115"/>
            <a:ext cx="4272706" cy="3632894"/>
          </a:xfrm>
          <a:prstGeom prst="rect">
            <a:avLst/>
          </a:prstGeom>
          <a:noFill/>
          <a:ln>
            <a:noFill/>
          </a:ln>
        </p:spPr>
      </p:pic>
      <p:pic>
        <p:nvPicPr>
          <p:cNvPr id="11" name="Google Shape;299;p20"/>
          <p:cNvPicPr preferRelativeResize="0"/>
          <p:nvPr/>
        </p:nvPicPr>
        <p:blipFill rotWithShape="1">
          <a:blip r:embed="rId4"/>
          <a:srcRect/>
          <a:stretch>
            <a:fillRect/>
          </a:stretch>
        </p:blipFill>
        <p:spPr>
          <a:xfrm>
            <a:off x="8708677" y="2021115"/>
            <a:ext cx="2988171" cy="3632894"/>
          </a:xfrm>
          <a:prstGeom prst="rect">
            <a:avLst/>
          </a:prstGeom>
          <a:noFill/>
          <a:ln>
            <a:noFill/>
          </a:ln>
        </p:spPr>
      </p:pic>
      <p:pic>
        <p:nvPicPr>
          <p:cNvPr id="12" name="Google Shape;300;p20"/>
          <p:cNvPicPr preferRelativeResize="0"/>
          <p:nvPr/>
        </p:nvPicPr>
        <p:blipFill rotWithShape="1">
          <a:blip r:embed="rId5"/>
          <a:srcRect/>
          <a:stretch>
            <a:fillRect/>
          </a:stretch>
        </p:blipFill>
        <p:spPr>
          <a:xfrm>
            <a:off x="4150221" y="4175700"/>
            <a:ext cx="3853606" cy="590550"/>
          </a:xfrm>
          <a:prstGeom prst="rect">
            <a:avLst/>
          </a:prstGeom>
          <a:noFill/>
          <a:ln>
            <a:noFill/>
          </a:ln>
        </p:spPr>
      </p:pic>
      <p:sp>
        <p:nvSpPr>
          <p:cNvPr id="22" name="Google Shape;306;p20"/>
          <p:cNvSpPr txBox="1"/>
          <p:nvPr/>
        </p:nvSpPr>
        <p:spPr>
          <a:xfrm>
            <a:off x="602523" y="3647062"/>
            <a:ext cx="2697524"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r>
              <a:rPr lang="en-US" sz="1350" b="1" i="0" u="none" strike="noStrike" cap="none">
                <a:solidFill>
                  <a:srgbClr val="121212"/>
                </a:solidFill>
                <a:latin typeface="Arial" panose="020B0604020202020204" pitchFamily="34" charset="0"/>
                <a:ea typeface="Open Sans"/>
                <a:cs typeface="Arial" panose="020B0604020202020204" pitchFamily="34" charset="0"/>
                <a:sym typeface="Open Sans"/>
              </a:rPr>
              <a:t>1. Data Injection</a:t>
            </a:r>
            <a:endParaRPr>
              <a:latin typeface="Arial" panose="020B0604020202020204" pitchFamily="34" charset="0"/>
              <a:cs typeface="Arial" panose="020B0604020202020204" pitchFamily="34" charset="0"/>
            </a:endParaRPr>
          </a:p>
        </p:txBody>
      </p:sp>
      <p:sp>
        <p:nvSpPr>
          <p:cNvPr id="23" name="Google Shape;307;p20"/>
          <p:cNvSpPr txBox="1"/>
          <p:nvPr/>
        </p:nvSpPr>
        <p:spPr>
          <a:xfrm>
            <a:off x="666750" y="3970912"/>
            <a:ext cx="2569071" cy="72712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50000"/>
              </a:lnSpc>
              <a:spcBef>
                <a:spcPts val="0"/>
              </a:spcBef>
              <a:spcAft>
                <a:spcPts val="0"/>
              </a:spcAft>
              <a:buNone/>
            </a:pPr>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User queries combined with CSV headers and sample data are dispatched via </a:t>
            </a:r>
            <a:r>
              <a:rPr lang="en-US" sz="1050" b="0" i="0" u="none" strike="noStrike" cap="none" dirty="0" err="1">
                <a:solidFill>
                  <a:srgbClr val="555555"/>
                </a:solidFill>
                <a:latin typeface="Arial" panose="020B0604020202020204" pitchFamily="34" charset="0"/>
                <a:ea typeface="Open Sans"/>
                <a:cs typeface="Arial" panose="020B0604020202020204" pitchFamily="34" charset="0"/>
                <a:sym typeface="Open Sans"/>
              </a:rPr>
              <a:t>call_api</a:t>
            </a:r>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a:t>
            </a:r>
            <a:endParaRPr dirty="0">
              <a:latin typeface="Arial" panose="020B0604020202020204" pitchFamily="34" charset="0"/>
              <a:cs typeface="Arial" panose="020B0604020202020204" pitchFamily="34" charset="0"/>
            </a:endParaRPr>
          </a:p>
        </p:txBody>
      </p:sp>
      <p:pic>
        <p:nvPicPr>
          <p:cNvPr id="25" name="Google Shape;308;p20"/>
          <p:cNvPicPr preferRelativeResize="0"/>
          <p:nvPr/>
        </p:nvPicPr>
        <p:blipFill rotWithShape="1">
          <a:blip r:embed="rId6"/>
          <a:srcRect/>
          <a:stretch>
            <a:fillRect/>
          </a:stretch>
        </p:blipFill>
        <p:spPr>
          <a:xfrm>
            <a:off x="3635871" y="3723262"/>
            <a:ext cx="114300" cy="228600"/>
          </a:xfrm>
          <a:prstGeom prst="rect">
            <a:avLst/>
          </a:prstGeom>
          <a:noFill/>
          <a:ln>
            <a:noFill/>
          </a:ln>
        </p:spPr>
      </p:pic>
      <p:sp>
        <p:nvSpPr>
          <p:cNvPr id="28" name="Google Shape;309;p20"/>
          <p:cNvSpPr txBox="1"/>
          <p:nvPr/>
        </p:nvSpPr>
        <p:spPr>
          <a:xfrm>
            <a:off x="4053880" y="3461325"/>
            <a:ext cx="4046286"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r>
              <a:rPr lang="en-US" sz="1350" b="1" i="0" u="none" strike="noStrike" cap="none">
                <a:solidFill>
                  <a:srgbClr val="121212"/>
                </a:solidFill>
                <a:latin typeface="Arial" panose="020B0604020202020204" pitchFamily="34" charset="0"/>
                <a:ea typeface="Open Sans"/>
                <a:cs typeface="Arial" panose="020B0604020202020204" pitchFamily="34" charset="0"/>
                <a:sym typeface="Open Sans"/>
              </a:rPr>
              <a:t>2. Code Gen &amp; Sandbox Engine</a:t>
            </a:r>
            <a:endParaRPr>
              <a:latin typeface="Arial" panose="020B0604020202020204" pitchFamily="34" charset="0"/>
              <a:cs typeface="Arial" panose="020B0604020202020204" pitchFamily="34" charset="0"/>
            </a:endParaRPr>
          </a:p>
        </p:txBody>
      </p:sp>
      <p:sp>
        <p:nvSpPr>
          <p:cNvPr id="29" name="Google Shape;310;p20"/>
          <p:cNvSpPr txBox="1"/>
          <p:nvPr/>
        </p:nvSpPr>
        <p:spPr>
          <a:xfrm>
            <a:off x="4150221" y="3785175"/>
            <a:ext cx="3853606" cy="24237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50000"/>
              </a:lnSpc>
              <a:spcBef>
                <a:spcPts val="0"/>
              </a:spcBef>
              <a:spcAft>
                <a:spcPts val="0"/>
              </a:spcAft>
              <a:buNone/>
            </a:pPr>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LLM writes Python code -&gt; Local Sandbox executes.</a:t>
            </a:r>
            <a:endParaRPr dirty="0">
              <a:latin typeface="Arial" panose="020B0604020202020204" pitchFamily="34" charset="0"/>
              <a:cs typeface="Arial" panose="020B0604020202020204" pitchFamily="34" charset="0"/>
            </a:endParaRPr>
          </a:p>
        </p:txBody>
      </p:sp>
      <p:pic>
        <p:nvPicPr>
          <p:cNvPr id="42" name="Google Shape;311;p20"/>
          <p:cNvPicPr preferRelativeResize="0"/>
          <p:nvPr/>
        </p:nvPicPr>
        <p:blipFill rotWithShape="1">
          <a:blip r:embed="rId7"/>
          <a:srcRect/>
          <a:stretch>
            <a:fillRect/>
          </a:stretch>
        </p:blipFill>
        <p:spPr>
          <a:xfrm>
            <a:off x="8403877" y="3723262"/>
            <a:ext cx="114300" cy="228600"/>
          </a:xfrm>
          <a:prstGeom prst="rect">
            <a:avLst/>
          </a:prstGeom>
          <a:noFill/>
          <a:ln>
            <a:noFill/>
          </a:ln>
        </p:spPr>
      </p:pic>
      <p:sp>
        <p:nvSpPr>
          <p:cNvPr id="43" name="Google Shape;312;p20"/>
          <p:cNvSpPr txBox="1"/>
          <p:nvPr/>
        </p:nvSpPr>
        <p:spPr>
          <a:xfrm>
            <a:off x="8854000" y="3651825"/>
            <a:ext cx="2697524" cy="2077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r>
              <a:rPr lang="en-US" sz="1350" b="1" i="0" u="none" strike="noStrike" cap="none">
                <a:solidFill>
                  <a:srgbClr val="121212"/>
                </a:solidFill>
                <a:latin typeface="Arial" panose="020B0604020202020204" pitchFamily="34" charset="0"/>
                <a:ea typeface="Open Sans"/>
                <a:cs typeface="Arial" panose="020B0604020202020204" pitchFamily="34" charset="0"/>
                <a:sym typeface="Open Sans"/>
              </a:rPr>
              <a:t>3. Synthesis &amp; QA</a:t>
            </a:r>
            <a:endParaRPr>
              <a:latin typeface="Arial" panose="020B0604020202020204" pitchFamily="34" charset="0"/>
              <a:cs typeface="Arial" panose="020B0604020202020204" pitchFamily="34" charset="0"/>
            </a:endParaRPr>
          </a:p>
        </p:txBody>
      </p:sp>
      <p:sp>
        <p:nvSpPr>
          <p:cNvPr id="45" name="Google Shape;313;p20"/>
          <p:cNvSpPr txBox="1"/>
          <p:nvPr/>
        </p:nvSpPr>
        <p:spPr>
          <a:xfrm>
            <a:off x="8918227" y="3975675"/>
            <a:ext cx="2569071" cy="72712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50000"/>
              </a:lnSpc>
              <a:spcBef>
                <a:spcPts val="0"/>
              </a:spcBef>
              <a:spcAft>
                <a:spcPts val="0"/>
              </a:spcAft>
              <a:buNone/>
            </a:pPr>
            <a:r>
              <a:rPr lang="en-US" sz="1050" b="0" i="0" u="none" strike="noStrike" cap="none">
                <a:solidFill>
                  <a:srgbClr val="555555"/>
                </a:solidFill>
                <a:latin typeface="Arial" panose="020B0604020202020204" pitchFamily="34" charset="0"/>
                <a:ea typeface="Open Sans"/>
                <a:cs typeface="Arial" panose="020B0604020202020204" pitchFamily="34" charset="0"/>
                <a:sym typeface="Open Sans"/>
              </a:rPr>
              <a:t>Execution results are re-analyzed by the LLM to output a natural language response to the user.</a:t>
            </a:r>
            <a:endParaRPr>
              <a:latin typeface="Arial" panose="020B0604020202020204" pitchFamily="34" charset="0"/>
              <a:cs typeface="Arial" panose="020B0604020202020204" pitchFamily="34" charset="0"/>
            </a:endParaRPr>
          </a:p>
        </p:txBody>
      </p:sp>
      <p:pic>
        <p:nvPicPr>
          <p:cNvPr id="47" name="Google Shape;327;p20"/>
          <p:cNvPicPr preferRelativeResize="0"/>
          <p:nvPr/>
        </p:nvPicPr>
        <p:blipFill rotWithShape="1">
          <a:blip r:embed="rId8"/>
          <a:srcRect/>
          <a:stretch>
            <a:fillRect/>
          </a:stretch>
        </p:blipFill>
        <p:spPr>
          <a:xfrm>
            <a:off x="1817935" y="3151762"/>
            <a:ext cx="266700" cy="304800"/>
          </a:xfrm>
          <a:prstGeom prst="rect">
            <a:avLst/>
          </a:prstGeom>
          <a:noFill/>
          <a:ln>
            <a:noFill/>
          </a:ln>
        </p:spPr>
      </p:pic>
      <p:pic>
        <p:nvPicPr>
          <p:cNvPr id="49" name="Google Shape;328;p20"/>
          <p:cNvPicPr preferRelativeResize="0"/>
          <p:nvPr/>
        </p:nvPicPr>
        <p:blipFill rotWithShape="1">
          <a:blip r:embed="rId9"/>
          <a:srcRect/>
          <a:stretch>
            <a:fillRect/>
          </a:stretch>
        </p:blipFill>
        <p:spPr>
          <a:xfrm>
            <a:off x="5886450" y="2966025"/>
            <a:ext cx="381000" cy="304800"/>
          </a:xfrm>
          <a:prstGeom prst="rect">
            <a:avLst/>
          </a:prstGeom>
          <a:noFill/>
          <a:ln>
            <a:noFill/>
          </a:ln>
        </p:spPr>
      </p:pic>
      <p:pic>
        <p:nvPicPr>
          <p:cNvPr id="50" name="Google Shape;329;p20"/>
          <p:cNvPicPr preferRelativeResize="0"/>
          <p:nvPr/>
        </p:nvPicPr>
        <p:blipFill rotWithShape="1">
          <a:blip r:embed="rId10"/>
          <a:srcRect/>
          <a:stretch>
            <a:fillRect/>
          </a:stretch>
        </p:blipFill>
        <p:spPr>
          <a:xfrm>
            <a:off x="10050363" y="3156525"/>
            <a:ext cx="304800" cy="304800"/>
          </a:xfrm>
          <a:prstGeom prst="rect">
            <a:avLst/>
          </a:prstGeom>
          <a:noFill/>
          <a:ln>
            <a:noFill/>
          </a:ln>
        </p:spPr>
      </p:pic>
      <p:grpSp>
        <p:nvGrpSpPr>
          <p:cNvPr id="56" name="组合 55"/>
          <p:cNvGrpSpPr/>
          <p:nvPr/>
        </p:nvGrpSpPr>
        <p:grpSpPr>
          <a:xfrm>
            <a:off x="4466450" y="4440919"/>
            <a:ext cx="1629004" cy="257115"/>
            <a:chOff x="4150369" y="5682324"/>
            <a:chExt cx="1629004" cy="257115"/>
          </a:xfrm>
        </p:grpSpPr>
        <p:sp>
          <p:nvSpPr>
            <p:cNvPr id="53" name="矩形: 圆角 52"/>
            <p:cNvSpPr/>
            <p:nvPr/>
          </p:nvSpPr>
          <p:spPr>
            <a:xfrm>
              <a:off x="4150369" y="5682324"/>
              <a:ext cx="1629004" cy="257115"/>
            </a:xfrm>
            <a:prstGeom prst="roundRect">
              <a:avLst>
                <a:gd name="adj" fmla="val 17366"/>
              </a:avLst>
            </a:prstGeom>
            <a:solidFill>
              <a:schemeClr val="bg1"/>
            </a:solidFill>
            <a:ln w="9525">
              <a:solidFill>
                <a:srgbClr val="861D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pic>
          <p:nvPicPr>
            <p:cNvPr id="51" name="Google Shape;330;p20"/>
            <p:cNvPicPr preferRelativeResize="0"/>
            <p:nvPr/>
          </p:nvPicPr>
          <p:blipFill rotWithShape="1">
            <a:blip r:embed="rId11"/>
            <a:srcRect/>
            <a:stretch>
              <a:fillRect/>
            </a:stretch>
          </p:blipFill>
          <p:spPr>
            <a:xfrm>
              <a:off x="4235698" y="5755717"/>
              <a:ext cx="123825" cy="123825"/>
            </a:xfrm>
            <a:prstGeom prst="rect">
              <a:avLst/>
            </a:prstGeom>
            <a:noFill/>
            <a:ln>
              <a:noFill/>
            </a:ln>
          </p:spPr>
        </p:pic>
        <p:sp>
          <p:nvSpPr>
            <p:cNvPr id="55" name="文本框 54"/>
            <p:cNvSpPr txBox="1"/>
            <p:nvPr/>
          </p:nvSpPr>
          <p:spPr>
            <a:xfrm>
              <a:off x="4332436" y="5691824"/>
              <a:ext cx="1424290" cy="230832"/>
            </a:xfrm>
            <a:prstGeom prst="rect">
              <a:avLst/>
            </a:prstGeom>
            <a:noFill/>
          </p:spPr>
          <p:txBody>
            <a:bodyPr wrap="square">
              <a:spAutoFit/>
            </a:bodyPr>
            <a:lstStyle/>
            <a:p>
              <a:pPr marL="0" marR="0" lvl="0" indent="0" rtl="0">
                <a:spcBef>
                  <a:spcPts val="0"/>
                </a:spcBef>
                <a:spcAft>
                  <a:spcPts val="0"/>
                </a:spcAft>
                <a:buNone/>
              </a:pPr>
              <a:r>
                <a:rPr lang="en-US" altLang="zh-CN" sz="900" b="1" dirty="0">
                  <a:solidFill>
                    <a:srgbClr val="861D10"/>
                  </a:solidFill>
                  <a:latin typeface="Arial" panose="020B0604020202020204" pitchFamily="34" charset="0"/>
                  <a:ea typeface="Open Sans"/>
                  <a:cs typeface="Arial" panose="020B0604020202020204" pitchFamily="34" charset="0"/>
                  <a:sym typeface="Open Sans"/>
                </a:rPr>
                <a:t>Max 3 Retires on Error</a:t>
              </a:r>
              <a:endParaRPr lang="en-US" altLang="zh-CN" sz="900" b="1" dirty="0">
                <a:solidFill>
                  <a:srgbClr val="861D10"/>
                </a:solidFill>
                <a:latin typeface="Arial" panose="020B0604020202020204" pitchFamily="34" charset="0"/>
                <a:cs typeface="Arial" panose="020B0604020202020204" pitchFamily="34" charset="0"/>
              </a:endParaRPr>
            </a:p>
          </p:txBody>
        </p:sp>
      </p:grpSp>
      <p:grpSp>
        <p:nvGrpSpPr>
          <p:cNvPr id="61" name="组合 60"/>
          <p:cNvGrpSpPr/>
          <p:nvPr/>
        </p:nvGrpSpPr>
        <p:grpSpPr>
          <a:xfrm>
            <a:off x="6192192" y="4437277"/>
            <a:ext cx="1652271" cy="257115"/>
            <a:chOff x="4576460" y="6175238"/>
            <a:chExt cx="1652271" cy="257115"/>
          </a:xfrm>
        </p:grpSpPr>
        <p:sp>
          <p:nvSpPr>
            <p:cNvPr id="58" name="矩形: 圆角 57"/>
            <p:cNvSpPr/>
            <p:nvPr/>
          </p:nvSpPr>
          <p:spPr>
            <a:xfrm>
              <a:off x="4576460" y="6175238"/>
              <a:ext cx="1629004" cy="257115"/>
            </a:xfrm>
            <a:prstGeom prst="roundRect">
              <a:avLst>
                <a:gd name="adj" fmla="val 17366"/>
              </a:avLst>
            </a:prstGeom>
            <a:solidFill>
              <a:schemeClr val="bg1"/>
            </a:solidFill>
            <a:ln w="9525">
              <a:solidFill>
                <a:srgbClr val="54CC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60" name="文本框 59"/>
            <p:cNvSpPr txBox="1"/>
            <p:nvPr/>
          </p:nvSpPr>
          <p:spPr>
            <a:xfrm>
              <a:off x="4781794" y="6190357"/>
              <a:ext cx="1446937" cy="230832"/>
            </a:xfrm>
            <a:prstGeom prst="rect">
              <a:avLst/>
            </a:prstGeom>
            <a:noFill/>
          </p:spPr>
          <p:txBody>
            <a:bodyPr wrap="square">
              <a:spAutoFit/>
            </a:bodyPr>
            <a:lstStyle/>
            <a:p>
              <a:pPr marL="0" marR="0" lvl="0" indent="0" rtl="0">
                <a:spcBef>
                  <a:spcPts val="0"/>
                </a:spcBef>
                <a:spcAft>
                  <a:spcPts val="0"/>
                </a:spcAft>
                <a:buNone/>
              </a:pPr>
              <a:r>
                <a:rPr lang="en-US" altLang="zh-CN" sz="900" b="1" dirty="0">
                  <a:solidFill>
                    <a:srgbClr val="54CCA4"/>
                  </a:solidFill>
                  <a:latin typeface="Arial" panose="020B0604020202020204" pitchFamily="34" charset="0"/>
                  <a:ea typeface="Open Sans"/>
                  <a:cs typeface="Arial" panose="020B0604020202020204" pitchFamily="34" charset="0"/>
                  <a:sym typeface="Open Sans"/>
                </a:rPr>
                <a:t>On Success: Proceed</a:t>
              </a:r>
              <a:endParaRPr lang="en-US" altLang="zh-CN" sz="900" b="1" dirty="0">
                <a:solidFill>
                  <a:srgbClr val="54CCA4"/>
                </a:solidFill>
                <a:latin typeface="Arial" panose="020B0604020202020204" pitchFamily="34" charset="0"/>
                <a:cs typeface="Arial" panose="020B0604020202020204" pitchFamily="34" charset="0"/>
              </a:endParaRPr>
            </a:p>
          </p:txBody>
        </p:sp>
        <p:pic>
          <p:nvPicPr>
            <p:cNvPr id="52" name="Google Shape;331;p20"/>
            <p:cNvPicPr preferRelativeResize="0"/>
            <p:nvPr/>
          </p:nvPicPr>
          <p:blipFill rotWithShape="1">
            <a:blip r:embed="rId12"/>
            <a:srcRect/>
            <a:stretch>
              <a:fillRect/>
            </a:stretch>
          </p:blipFill>
          <p:spPr>
            <a:xfrm>
              <a:off x="4677019" y="6255024"/>
              <a:ext cx="104775" cy="123825"/>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04" name="矩形: 圆角 103"/>
          <p:cNvSpPr/>
          <p:nvPr/>
        </p:nvSpPr>
        <p:spPr>
          <a:xfrm>
            <a:off x="457200" y="2583278"/>
            <a:ext cx="11114468" cy="3730726"/>
          </a:xfrm>
          <a:prstGeom prst="roundRect">
            <a:avLst>
              <a:gd name="adj" fmla="val 1391"/>
            </a:avLst>
          </a:prstGeom>
          <a:solidFill>
            <a:srgbClr val="CDD4DF">
              <a:alpha val="10000"/>
            </a:srgbClr>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3868970" y="2731786"/>
            <a:ext cx="4032218" cy="3366359"/>
            <a:chOff x="4313292" y="3143911"/>
            <a:chExt cx="3199024" cy="2870602"/>
          </a:xfrm>
        </p:grpSpPr>
        <p:sp>
          <p:nvSpPr>
            <p:cNvPr id="88" name="任意多边形: 形状 87"/>
            <p:cNvSpPr/>
            <p:nvPr/>
          </p:nvSpPr>
          <p:spPr>
            <a:xfrm>
              <a:off x="4906342" y="3143911"/>
              <a:ext cx="1816163" cy="1751565"/>
            </a:xfrm>
            <a:custGeom>
              <a:avLst/>
              <a:gdLst>
                <a:gd name="csX0" fmla="*/ 968046 w 1816163"/>
                <a:gd name="csY0" fmla="*/ 1054 h 1751565"/>
                <a:gd name="csX1" fmla="*/ 1029332 w 1816163"/>
                <a:gd name="csY1" fmla="*/ 1173 h 1751565"/>
                <a:gd name="csX2" fmla="*/ 1030998 w 1816163"/>
                <a:gd name="csY2" fmla="*/ 1422 h 1751565"/>
                <a:gd name="csX3" fmla="*/ 1044882 w 1816163"/>
                <a:gd name="csY3" fmla="*/ 1056 h 1751565"/>
                <a:gd name="csX4" fmla="*/ 1381892 w 1816163"/>
                <a:gd name="csY4" fmla="*/ 211649 h 1751565"/>
                <a:gd name="csX5" fmla="*/ 1816163 w 1816163"/>
                <a:gd name="csY5" fmla="*/ 963828 h 1751565"/>
                <a:gd name="csX6" fmla="*/ 1815090 w 1816163"/>
                <a:gd name="csY6" fmla="*/ 964165 h 1751565"/>
                <a:gd name="csX7" fmla="*/ 1279398 w 1816163"/>
                <a:gd name="csY7" fmla="*/ 1328653 h 1751565"/>
                <a:gd name="csX8" fmla="*/ 1216746 w 1816163"/>
                <a:gd name="csY8" fmla="*/ 1413829 h 1751565"/>
                <a:gd name="csX9" fmla="*/ 1207743 w 1816163"/>
                <a:gd name="csY9" fmla="*/ 1406400 h 1751565"/>
                <a:gd name="csX10" fmla="*/ 1006463 w 1816163"/>
                <a:gd name="csY10" fmla="*/ 1344918 h 1751565"/>
                <a:gd name="csX11" fmla="*/ 646463 w 1816163"/>
                <a:gd name="csY11" fmla="*/ 1704918 h 1751565"/>
                <a:gd name="csX12" fmla="*/ 651166 w 1816163"/>
                <a:gd name="csY12" fmla="*/ 1751565 h 1751565"/>
                <a:gd name="csX13" fmla="*/ 601363 w 1816163"/>
                <a:gd name="csY13" fmla="*/ 1737139 h 1751565"/>
                <a:gd name="csX14" fmla="*/ 3376 w 1816163"/>
                <a:gd name="csY14" fmla="*/ 1309426 h 1751565"/>
                <a:gd name="csX15" fmla="*/ 0 w 1816163"/>
                <a:gd name="csY15" fmla="*/ 1304633 h 1751565"/>
                <a:gd name="csX16" fmla="*/ 631036 w 1816163"/>
                <a:gd name="csY16" fmla="*/ 211647 h 1751565"/>
                <a:gd name="csX17" fmla="*/ 968046 w 1816163"/>
                <a:gd name="csY17" fmla="*/ 1054 h 1751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816163" h="1751565">
                  <a:moveTo>
                    <a:pt x="968046" y="1054"/>
                  </a:moveTo>
                  <a:cubicBezTo>
                    <a:pt x="988371" y="-382"/>
                    <a:pt x="1008855" y="-356"/>
                    <a:pt x="1029332" y="1173"/>
                  </a:cubicBezTo>
                  <a:lnTo>
                    <a:pt x="1030998" y="1422"/>
                  </a:lnTo>
                  <a:lnTo>
                    <a:pt x="1044882" y="1056"/>
                  </a:lnTo>
                  <a:cubicBezTo>
                    <a:pt x="1180382" y="10633"/>
                    <a:pt x="1308861" y="85155"/>
                    <a:pt x="1381892" y="211649"/>
                  </a:cubicBezTo>
                  <a:lnTo>
                    <a:pt x="1816163" y="963828"/>
                  </a:lnTo>
                  <a:lnTo>
                    <a:pt x="1815090" y="964165"/>
                  </a:lnTo>
                  <a:cubicBezTo>
                    <a:pt x="1611618" y="1037476"/>
                    <a:pt x="1426375" y="1161379"/>
                    <a:pt x="1279398" y="1328653"/>
                  </a:cubicBezTo>
                  <a:lnTo>
                    <a:pt x="1216746" y="1413829"/>
                  </a:lnTo>
                  <a:lnTo>
                    <a:pt x="1207743" y="1406400"/>
                  </a:lnTo>
                  <a:cubicBezTo>
                    <a:pt x="1150287" y="1367584"/>
                    <a:pt x="1081022" y="1344918"/>
                    <a:pt x="1006463" y="1344918"/>
                  </a:cubicBezTo>
                  <a:cubicBezTo>
                    <a:pt x="807640" y="1344918"/>
                    <a:pt x="646463" y="1506095"/>
                    <a:pt x="646463" y="1704918"/>
                  </a:cubicBezTo>
                  <a:lnTo>
                    <a:pt x="651166" y="1751565"/>
                  </a:lnTo>
                  <a:lnTo>
                    <a:pt x="601363" y="1737139"/>
                  </a:lnTo>
                  <a:cubicBezTo>
                    <a:pt x="358934" y="1655344"/>
                    <a:pt x="152923" y="1504076"/>
                    <a:pt x="3376" y="1309426"/>
                  </a:cubicBezTo>
                  <a:lnTo>
                    <a:pt x="0" y="1304633"/>
                  </a:lnTo>
                  <a:lnTo>
                    <a:pt x="631036" y="211647"/>
                  </a:lnTo>
                  <a:cubicBezTo>
                    <a:pt x="704067" y="85154"/>
                    <a:pt x="832545" y="10631"/>
                    <a:pt x="968046" y="1054"/>
                  </a:cubicBez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6" name="任意多边形: 形状 85"/>
            <p:cNvSpPr/>
            <p:nvPr/>
          </p:nvSpPr>
          <p:spPr>
            <a:xfrm>
              <a:off x="6104586" y="4139070"/>
              <a:ext cx="1407730" cy="1875443"/>
            </a:xfrm>
            <a:custGeom>
              <a:avLst/>
              <a:gdLst>
                <a:gd name="csX0" fmla="*/ 636007 w 1407730"/>
                <a:gd name="csY0" fmla="*/ 0 h 1875443"/>
                <a:gd name="csX1" fmla="*/ 1350969 w 1407730"/>
                <a:gd name="csY1" fmla="*/ 1238350 h 1875443"/>
                <a:gd name="csX2" fmla="*/ 1196085 w 1407730"/>
                <a:gd name="csY2" fmla="*/ 1816385 h 1875443"/>
                <a:gd name="csX3" fmla="*/ 1147391 w 1407730"/>
                <a:gd name="csY3" fmla="*/ 1838313 h 1875443"/>
                <a:gd name="csX4" fmla="*/ 1140251 w 1407730"/>
                <a:gd name="csY4" fmla="*/ 1842190 h 1875443"/>
                <a:gd name="csX5" fmla="*/ 1135532 w 1407730"/>
                <a:gd name="csY5" fmla="*/ 1843654 h 1875443"/>
                <a:gd name="csX6" fmla="*/ 1117932 w 1407730"/>
                <a:gd name="csY6" fmla="*/ 1851580 h 1875443"/>
                <a:gd name="csX7" fmla="*/ 1088635 w 1407730"/>
                <a:gd name="csY7" fmla="*/ 1858212 h 1875443"/>
                <a:gd name="csX8" fmla="*/ 1060820 w 1407730"/>
                <a:gd name="csY8" fmla="*/ 1866846 h 1875443"/>
                <a:gd name="csX9" fmla="*/ 1042201 w 1407730"/>
                <a:gd name="csY9" fmla="*/ 1868722 h 1875443"/>
                <a:gd name="csX10" fmla="*/ 1036815 w 1407730"/>
                <a:gd name="csY10" fmla="*/ 1869942 h 1875443"/>
                <a:gd name="csX11" fmla="*/ 1027739 w 1407730"/>
                <a:gd name="csY11" fmla="*/ 1870181 h 1875443"/>
                <a:gd name="csX12" fmla="*/ 975541 w 1407730"/>
                <a:gd name="csY12" fmla="*/ 1875443 h 1875443"/>
                <a:gd name="csX13" fmla="*/ 0 w 1407730"/>
                <a:gd name="csY13" fmla="*/ 1875443 h 1875443"/>
                <a:gd name="csX14" fmla="*/ 26184 w 1407730"/>
                <a:gd name="csY14" fmla="*/ 1799879 h 1875443"/>
                <a:gd name="csX15" fmla="*/ 24154 w 1407730"/>
                <a:gd name="csY15" fmla="*/ 1044136 h 1875443"/>
                <a:gd name="csX16" fmla="*/ 10972 w 1407730"/>
                <a:gd name="csY16" fmla="*/ 1007061 h 1875443"/>
                <a:gd name="csX17" fmla="*/ 62777 w 1407730"/>
                <a:gd name="csY17" fmla="*/ 964318 h 1875443"/>
                <a:gd name="csX18" fmla="*/ 168218 w 1407730"/>
                <a:gd name="csY18" fmla="*/ 709759 h 1875443"/>
                <a:gd name="csX19" fmla="*/ 62777 w 1407730"/>
                <a:gd name="csY19" fmla="*/ 455200 h 1875443"/>
                <a:gd name="csX20" fmla="*/ 45704 w 1407730"/>
                <a:gd name="csY20" fmla="*/ 441113 h 1875443"/>
                <a:gd name="csX21" fmla="*/ 107694 w 1407730"/>
                <a:gd name="csY21" fmla="*/ 356837 h 1875443"/>
                <a:gd name="csX22" fmla="*/ 628826 w 1407730"/>
                <a:gd name="csY22" fmla="*/ 2256 h 1875443"/>
                <a:gd name="csX23" fmla="*/ 636007 w 1407730"/>
                <a:gd name="csY23" fmla="*/ 0 h 1875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407730" h="1875443">
                  <a:moveTo>
                    <a:pt x="636007" y="0"/>
                  </a:moveTo>
                  <a:lnTo>
                    <a:pt x="1350969" y="1238350"/>
                  </a:lnTo>
                  <a:cubicBezTo>
                    <a:pt x="1467818" y="1440741"/>
                    <a:pt x="1398475" y="1699536"/>
                    <a:pt x="1196085" y="1816385"/>
                  </a:cubicBezTo>
                  <a:lnTo>
                    <a:pt x="1147391" y="1838313"/>
                  </a:lnTo>
                  <a:lnTo>
                    <a:pt x="1140251" y="1842190"/>
                  </a:lnTo>
                  <a:lnTo>
                    <a:pt x="1135532" y="1843654"/>
                  </a:lnTo>
                  <a:lnTo>
                    <a:pt x="1117932" y="1851580"/>
                  </a:lnTo>
                  <a:lnTo>
                    <a:pt x="1088635" y="1858212"/>
                  </a:lnTo>
                  <a:lnTo>
                    <a:pt x="1060820" y="1866846"/>
                  </a:lnTo>
                  <a:lnTo>
                    <a:pt x="1042201" y="1868722"/>
                  </a:lnTo>
                  <a:lnTo>
                    <a:pt x="1036815" y="1869942"/>
                  </a:lnTo>
                  <a:lnTo>
                    <a:pt x="1027739" y="1870181"/>
                  </a:lnTo>
                  <a:lnTo>
                    <a:pt x="975541" y="1875443"/>
                  </a:lnTo>
                  <a:lnTo>
                    <a:pt x="0" y="1875443"/>
                  </a:lnTo>
                  <a:lnTo>
                    <a:pt x="26184" y="1799879"/>
                  </a:lnTo>
                  <a:cubicBezTo>
                    <a:pt x="98848" y="1558246"/>
                    <a:pt x="101418" y="1295535"/>
                    <a:pt x="24154" y="1044136"/>
                  </a:cubicBezTo>
                  <a:lnTo>
                    <a:pt x="10972" y="1007061"/>
                  </a:lnTo>
                  <a:lnTo>
                    <a:pt x="62777" y="964318"/>
                  </a:lnTo>
                  <a:cubicBezTo>
                    <a:pt x="127924" y="899171"/>
                    <a:pt x="168218" y="809171"/>
                    <a:pt x="168218" y="709759"/>
                  </a:cubicBezTo>
                  <a:cubicBezTo>
                    <a:pt x="168218" y="610348"/>
                    <a:pt x="127924" y="520348"/>
                    <a:pt x="62777" y="455200"/>
                  </a:cubicBezTo>
                  <a:lnTo>
                    <a:pt x="45704" y="441113"/>
                  </a:lnTo>
                  <a:lnTo>
                    <a:pt x="107694" y="356837"/>
                  </a:lnTo>
                  <a:cubicBezTo>
                    <a:pt x="250676" y="194109"/>
                    <a:pt x="430884" y="73574"/>
                    <a:pt x="628826" y="2256"/>
                  </a:cubicBezTo>
                  <a:lnTo>
                    <a:pt x="63600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5" name="任意多边形: 形状 84"/>
            <p:cNvSpPr/>
            <p:nvPr/>
          </p:nvSpPr>
          <p:spPr>
            <a:xfrm>
              <a:off x="4313292" y="4481224"/>
              <a:ext cx="1837340" cy="1533288"/>
            </a:xfrm>
            <a:custGeom>
              <a:avLst/>
              <a:gdLst>
                <a:gd name="csX0" fmla="*/ 574181 w 1837340"/>
                <a:gd name="csY0" fmla="*/ 0 h 1533288"/>
                <a:gd name="csX1" fmla="*/ 713898 w 1837340"/>
                <a:gd name="csY1" fmla="*/ 153601 h 1533288"/>
                <a:gd name="csX2" fmla="*/ 1183095 w 1837340"/>
                <a:gd name="csY2" fmla="*/ 433307 h 1533288"/>
                <a:gd name="csX3" fmla="*/ 1250787 w 1837340"/>
                <a:gd name="csY3" fmla="*/ 452916 h 1533288"/>
                <a:gd name="csX4" fmla="*/ 1267803 w 1837340"/>
                <a:gd name="csY4" fmla="*/ 507732 h 1533288"/>
                <a:gd name="csX5" fmla="*/ 1599512 w 1837340"/>
                <a:gd name="csY5" fmla="*/ 727604 h 1533288"/>
                <a:gd name="csX6" fmla="*/ 1739640 w 1837340"/>
                <a:gd name="csY6" fmla="*/ 699313 h 1533288"/>
                <a:gd name="csX7" fmla="*/ 1770977 w 1837340"/>
                <a:gd name="csY7" fmla="*/ 682305 h 1533288"/>
                <a:gd name="csX8" fmla="*/ 1781658 w 1837340"/>
                <a:gd name="csY8" fmla="*/ 712344 h 1533288"/>
                <a:gd name="csX9" fmla="*/ 1783633 w 1837340"/>
                <a:gd name="csY9" fmla="*/ 1447546 h 1533288"/>
                <a:gd name="csX10" fmla="*/ 1753922 w 1837340"/>
                <a:gd name="csY10" fmla="*/ 1533288 h 1533288"/>
                <a:gd name="csX11" fmla="*/ 432192 w 1837340"/>
                <a:gd name="csY11" fmla="*/ 1533288 h 1533288"/>
                <a:gd name="csX12" fmla="*/ 379967 w 1837340"/>
                <a:gd name="csY12" fmla="*/ 1528024 h 1533288"/>
                <a:gd name="csX13" fmla="*/ 370916 w 1837340"/>
                <a:gd name="csY13" fmla="*/ 1527785 h 1533288"/>
                <a:gd name="csX14" fmla="*/ 365548 w 1837340"/>
                <a:gd name="csY14" fmla="*/ 1526569 h 1533288"/>
                <a:gd name="csX15" fmla="*/ 346912 w 1837340"/>
                <a:gd name="csY15" fmla="*/ 1524691 h 1533288"/>
                <a:gd name="csX16" fmla="*/ 319076 w 1837340"/>
                <a:gd name="csY16" fmla="*/ 1516050 h 1533288"/>
                <a:gd name="csX17" fmla="*/ 289799 w 1837340"/>
                <a:gd name="csY17" fmla="*/ 1509423 h 1533288"/>
                <a:gd name="csX18" fmla="*/ 272212 w 1837340"/>
                <a:gd name="csY18" fmla="*/ 1501503 h 1533288"/>
                <a:gd name="csX19" fmla="*/ 267483 w 1837340"/>
                <a:gd name="csY19" fmla="*/ 1500035 h 1533288"/>
                <a:gd name="csX20" fmla="*/ 260324 w 1837340"/>
                <a:gd name="csY20" fmla="*/ 1496149 h 1533288"/>
                <a:gd name="csX21" fmla="*/ 211647 w 1837340"/>
                <a:gd name="csY21" fmla="*/ 1474228 h 1533288"/>
                <a:gd name="csX22" fmla="*/ 56763 w 1837340"/>
                <a:gd name="csY22" fmla="*/ 896193 h 1533288"/>
                <a:gd name="csX23" fmla="*/ 574181 w 1837340"/>
                <a:gd name="csY23" fmla="*/ 0 h 1533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837340" h="1533288">
                  <a:moveTo>
                    <a:pt x="574181" y="0"/>
                  </a:moveTo>
                  <a:lnTo>
                    <a:pt x="713898" y="153601"/>
                  </a:lnTo>
                  <a:cubicBezTo>
                    <a:pt x="846191" y="276756"/>
                    <a:pt x="1005093" y="373250"/>
                    <a:pt x="1183095" y="433307"/>
                  </a:cubicBezTo>
                  <a:lnTo>
                    <a:pt x="1250787" y="452916"/>
                  </a:lnTo>
                  <a:lnTo>
                    <a:pt x="1267803" y="507732"/>
                  </a:lnTo>
                  <a:cubicBezTo>
                    <a:pt x="1322454" y="636942"/>
                    <a:pt x="1450395" y="727604"/>
                    <a:pt x="1599512" y="727604"/>
                  </a:cubicBezTo>
                  <a:cubicBezTo>
                    <a:pt x="1649218" y="727604"/>
                    <a:pt x="1696571" y="717531"/>
                    <a:pt x="1739640" y="699313"/>
                  </a:cubicBezTo>
                  <a:lnTo>
                    <a:pt x="1770977" y="682305"/>
                  </a:lnTo>
                  <a:lnTo>
                    <a:pt x="1781658" y="712344"/>
                  </a:lnTo>
                  <a:cubicBezTo>
                    <a:pt x="1856823" y="956910"/>
                    <a:pt x="1854322" y="1212481"/>
                    <a:pt x="1783633" y="1447546"/>
                  </a:cubicBezTo>
                  <a:lnTo>
                    <a:pt x="1753922" y="1533288"/>
                  </a:lnTo>
                  <a:lnTo>
                    <a:pt x="432192" y="1533288"/>
                  </a:lnTo>
                  <a:lnTo>
                    <a:pt x="379967" y="1528024"/>
                  </a:lnTo>
                  <a:lnTo>
                    <a:pt x="370916" y="1527785"/>
                  </a:lnTo>
                  <a:lnTo>
                    <a:pt x="365548" y="1526569"/>
                  </a:lnTo>
                  <a:lnTo>
                    <a:pt x="346912" y="1524691"/>
                  </a:lnTo>
                  <a:lnTo>
                    <a:pt x="319076" y="1516050"/>
                  </a:lnTo>
                  <a:lnTo>
                    <a:pt x="289799" y="1509423"/>
                  </a:lnTo>
                  <a:lnTo>
                    <a:pt x="272212" y="1501503"/>
                  </a:lnTo>
                  <a:lnTo>
                    <a:pt x="267483" y="1500035"/>
                  </a:lnTo>
                  <a:lnTo>
                    <a:pt x="260324" y="1496149"/>
                  </a:lnTo>
                  <a:lnTo>
                    <a:pt x="211647" y="1474228"/>
                  </a:lnTo>
                  <a:cubicBezTo>
                    <a:pt x="9257" y="1357378"/>
                    <a:pt x="-60087" y="1098584"/>
                    <a:pt x="56763" y="896193"/>
                  </a:cubicBezTo>
                  <a:lnTo>
                    <a:pt x="574181" y="0"/>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4" name="Google Shape;124;p5"/>
          <p:cNvSpPr txBox="1">
            <a:spLocks noGrp="1"/>
          </p:cNvSpPr>
          <p:nvPr>
            <p:ph type="ctrTitle"/>
          </p:nvPr>
        </p:nvSpPr>
        <p:spPr>
          <a:xfrm>
            <a:off x="685799" y="425647"/>
            <a:ext cx="9865581"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cs typeface="Arial" panose="020B0604020202020204"/>
                <a:sym typeface="Arial" panose="020B0604020202020204"/>
              </a:rPr>
              <a:t>EVALUATION METRICS</a:t>
            </a:r>
            <a:endParaRPr dirty="0"/>
          </a:p>
        </p:txBody>
      </p:sp>
      <p:cxnSp>
        <p:nvCxnSpPr>
          <p:cNvPr id="126" name="Google Shape;126;p5"/>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27" name="Google Shape;127;p5"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95" name="矩形: 圆角 94"/>
          <p:cNvSpPr/>
          <p:nvPr/>
        </p:nvSpPr>
        <p:spPr>
          <a:xfrm>
            <a:off x="457200" y="1452657"/>
            <a:ext cx="11114468" cy="879857"/>
          </a:xfrm>
          <a:prstGeom prst="roundRect">
            <a:avLst>
              <a:gd name="adj" fmla="val 4331"/>
            </a:avLst>
          </a:prstGeom>
          <a:solidFill>
            <a:srgbClr val="FAF2F2"/>
          </a:solidFill>
          <a:ln w="9525">
            <a:solidFill>
              <a:srgbClr val="F2DA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9" name="图形 98" descr="部分选中的剪贴板 纯色填充"/>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799" y="1630991"/>
            <a:ext cx="360000" cy="360000"/>
          </a:xfrm>
          <a:prstGeom prst="rect">
            <a:avLst/>
          </a:prstGeom>
        </p:spPr>
      </p:pic>
      <p:sp>
        <p:nvSpPr>
          <p:cNvPr id="100" name="文本框 99"/>
          <p:cNvSpPr txBox="1"/>
          <p:nvPr/>
        </p:nvSpPr>
        <p:spPr>
          <a:xfrm>
            <a:off x="1128586" y="1524600"/>
            <a:ext cx="3129124" cy="307777"/>
          </a:xfrm>
          <a:prstGeom prst="rect">
            <a:avLst/>
          </a:prstGeom>
          <a:noFill/>
        </p:spPr>
        <p:txBody>
          <a:bodyPr wrap="square" rtlCol="0">
            <a:spAutoFit/>
          </a:bodyPr>
          <a:lstStyle/>
          <a:p>
            <a:r>
              <a:rPr lang="en-US" altLang="zh-CN" b="1" dirty="0">
                <a:solidFill>
                  <a:schemeClr val="tx1"/>
                </a:solidFill>
              </a:rPr>
              <a:t>10–Question</a:t>
            </a:r>
            <a:r>
              <a:rPr lang="zh-CN" altLang="en-US" b="1" dirty="0">
                <a:solidFill>
                  <a:schemeClr val="tx1"/>
                </a:solidFill>
              </a:rPr>
              <a:t> </a:t>
            </a:r>
            <a:r>
              <a:rPr lang="en-US" altLang="zh-CN" b="1" dirty="0">
                <a:solidFill>
                  <a:schemeClr val="tx1"/>
                </a:solidFill>
              </a:rPr>
              <a:t>Evaluation Test</a:t>
            </a:r>
            <a:endParaRPr lang="en-US" altLang="zh-CN" b="1" dirty="0">
              <a:solidFill>
                <a:schemeClr val="tx1"/>
              </a:solidFill>
            </a:endParaRPr>
          </a:p>
        </p:txBody>
      </p:sp>
      <p:sp>
        <p:nvSpPr>
          <p:cNvPr id="101" name="文本框 100"/>
          <p:cNvSpPr txBox="1"/>
          <p:nvPr/>
        </p:nvSpPr>
        <p:spPr>
          <a:xfrm>
            <a:off x="1128586" y="1802524"/>
            <a:ext cx="10262777" cy="430887"/>
          </a:xfrm>
          <a:prstGeom prst="rect">
            <a:avLst/>
          </a:prstGeom>
          <a:noFill/>
        </p:spPr>
        <p:txBody>
          <a:bodyPr wrap="square">
            <a:spAutoFit/>
          </a:bodyPr>
          <a:lstStyle/>
          <a:p>
            <a:r>
              <a:rPr lang="en-US" altLang="zh-CN" sz="1100" b="0" i="0" dirty="0">
                <a:solidFill>
                  <a:srgbClr val="636362"/>
                </a:solidFill>
                <a:effectLst/>
                <a:latin typeface="Arial" panose="020B0604020202020204" pitchFamily="34" charset="0"/>
                <a:cs typeface="Arial" panose="020B0604020202020204" pitchFamily="34" charset="0"/>
              </a:rPr>
              <a:t>Models were evaluated across 10 distinct analytical queries of different difficult levels. Each response was scored on a scale of 1 to 5 for each metric based on the rubric below.</a:t>
            </a:r>
            <a:endParaRPr lang="zh-CN" altLang="en-US" sz="1100" dirty="0">
              <a:solidFill>
                <a:srgbClr val="636362"/>
              </a:solidFill>
              <a:latin typeface="Arial" panose="020B0604020202020204" pitchFamily="34" charset="0"/>
              <a:cs typeface="Arial" panose="020B0604020202020204" pitchFamily="34" charset="0"/>
            </a:endParaRPr>
          </a:p>
        </p:txBody>
      </p:sp>
      <p:sp>
        <p:nvSpPr>
          <p:cNvPr id="106" name="文本框 105"/>
          <p:cNvSpPr txBox="1"/>
          <p:nvPr/>
        </p:nvSpPr>
        <p:spPr>
          <a:xfrm>
            <a:off x="5005370" y="3390674"/>
            <a:ext cx="1774377" cy="369332"/>
          </a:xfrm>
          <a:prstGeom prst="rect">
            <a:avLst/>
          </a:prstGeom>
          <a:noFill/>
        </p:spPr>
        <p:txBody>
          <a:bodyPr wrap="square" rtlCol="0">
            <a:spAutoFit/>
          </a:bodyPr>
          <a:lstStyle/>
          <a:p>
            <a:pPr algn="ctr"/>
            <a:r>
              <a:rPr lang="en-US" altLang="zh-CN" sz="1800" b="1" dirty="0">
                <a:solidFill>
                  <a:schemeClr val="bg1"/>
                </a:solidFill>
              </a:rPr>
              <a:t>Data Fidelity</a:t>
            </a:r>
            <a:endParaRPr lang="en-US" altLang="zh-CN" sz="1800" b="1" dirty="0">
              <a:solidFill>
                <a:schemeClr val="bg1"/>
              </a:solidFill>
            </a:endParaRPr>
          </a:p>
        </p:txBody>
      </p:sp>
      <p:sp>
        <p:nvSpPr>
          <p:cNvPr id="107" name="文本框 106"/>
          <p:cNvSpPr txBox="1"/>
          <p:nvPr/>
        </p:nvSpPr>
        <p:spPr>
          <a:xfrm>
            <a:off x="4150805" y="5220677"/>
            <a:ext cx="1596303" cy="369332"/>
          </a:xfrm>
          <a:prstGeom prst="rect">
            <a:avLst/>
          </a:prstGeom>
          <a:noFill/>
        </p:spPr>
        <p:txBody>
          <a:bodyPr wrap="square" rtlCol="0">
            <a:spAutoFit/>
          </a:bodyPr>
          <a:lstStyle/>
          <a:p>
            <a:pPr algn="ctr"/>
            <a:r>
              <a:rPr lang="en-US" altLang="zh-CN" sz="1800" b="1" dirty="0">
                <a:solidFill>
                  <a:schemeClr val="bg1"/>
                </a:solidFill>
              </a:rPr>
              <a:t>Actionability</a:t>
            </a:r>
            <a:endParaRPr lang="en-US" altLang="zh-CN" sz="1800" b="1" dirty="0">
              <a:solidFill>
                <a:schemeClr val="bg1"/>
              </a:solidFill>
            </a:endParaRPr>
          </a:p>
        </p:txBody>
      </p:sp>
      <p:sp>
        <p:nvSpPr>
          <p:cNvPr id="108" name="文本框 107"/>
          <p:cNvSpPr txBox="1"/>
          <p:nvPr/>
        </p:nvSpPr>
        <p:spPr>
          <a:xfrm>
            <a:off x="6196530" y="5220677"/>
            <a:ext cx="1685341" cy="369332"/>
          </a:xfrm>
          <a:prstGeom prst="rect">
            <a:avLst/>
          </a:prstGeom>
          <a:noFill/>
        </p:spPr>
        <p:txBody>
          <a:bodyPr wrap="square" rtlCol="0">
            <a:spAutoFit/>
          </a:bodyPr>
          <a:lstStyle/>
          <a:p>
            <a:pPr algn="ctr"/>
            <a:r>
              <a:rPr lang="en-US" altLang="zh-CN" sz="1800" b="1" dirty="0">
                <a:solidFill>
                  <a:schemeClr val="bg1"/>
                </a:solidFill>
              </a:rPr>
              <a:t>Explainability</a:t>
            </a:r>
            <a:endParaRPr lang="en-US" altLang="zh-CN" sz="1800" b="1" dirty="0">
              <a:solidFill>
                <a:schemeClr val="bg1"/>
              </a:solidFill>
            </a:endParaRPr>
          </a:p>
        </p:txBody>
      </p:sp>
      <p:sp>
        <p:nvSpPr>
          <p:cNvPr id="109" name="文本框 108"/>
          <p:cNvSpPr txBox="1"/>
          <p:nvPr/>
        </p:nvSpPr>
        <p:spPr>
          <a:xfrm>
            <a:off x="527816" y="2812770"/>
            <a:ext cx="2289187" cy="307777"/>
          </a:xfrm>
          <a:prstGeom prst="rect">
            <a:avLst/>
          </a:prstGeom>
          <a:noFill/>
        </p:spPr>
        <p:txBody>
          <a:bodyPr wrap="square" rtlCol="0">
            <a:spAutoFit/>
          </a:bodyPr>
          <a:lstStyle/>
          <a:p>
            <a:r>
              <a:rPr lang="en-US" altLang="zh-CN" b="1" dirty="0">
                <a:solidFill>
                  <a:schemeClr val="tx1"/>
                </a:solidFill>
              </a:rPr>
              <a:t>Metric 1: Data Fidelity</a:t>
            </a:r>
            <a:endParaRPr lang="en-US" altLang="zh-CN" b="1" dirty="0">
              <a:solidFill>
                <a:schemeClr val="tx1"/>
              </a:solidFill>
            </a:endParaRPr>
          </a:p>
        </p:txBody>
      </p:sp>
      <p:sp>
        <p:nvSpPr>
          <p:cNvPr id="110" name="Google Shape;307;p20"/>
          <p:cNvSpPr txBox="1"/>
          <p:nvPr/>
        </p:nvSpPr>
        <p:spPr>
          <a:xfrm>
            <a:off x="620332" y="3091553"/>
            <a:ext cx="4060066" cy="3231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Evaluates the accuracy of the </a:t>
            </a:r>
            <a:r>
              <a:rPr lang="en-US" sz="1050" dirty="0">
                <a:solidFill>
                  <a:srgbClr val="555555"/>
                </a:solidFill>
                <a:latin typeface="Arial" panose="020B0604020202020204" pitchFamily="34" charset="0"/>
                <a:ea typeface="Open Sans"/>
                <a:cs typeface="Arial" panose="020B0604020202020204" pitchFamily="34" charset="0"/>
                <a:sym typeface="Open Sans"/>
              </a:rPr>
              <a:t>generated Python code and integrity of the returned execution results</a:t>
            </a:r>
            <a:endParaRPr dirty="0">
              <a:latin typeface="Arial" panose="020B0604020202020204" pitchFamily="34" charset="0"/>
              <a:cs typeface="Arial" panose="020B0604020202020204" pitchFamily="34" charset="0"/>
            </a:endParaRPr>
          </a:p>
        </p:txBody>
      </p:sp>
      <p:sp>
        <p:nvSpPr>
          <p:cNvPr id="111" name="Google Shape;307;p20"/>
          <p:cNvSpPr txBox="1"/>
          <p:nvPr/>
        </p:nvSpPr>
        <p:spPr>
          <a:xfrm>
            <a:off x="7208635" y="2691875"/>
            <a:ext cx="4060066" cy="85792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nSpc>
                <a:spcPct val="150000"/>
              </a:lnSpc>
            </a:pPr>
            <a:r>
              <a:rPr lang="en-US" sz="1050" b="1" i="0" u="none" strike="noStrike" cap="none" dirty="0">
                <a:solidFill>
                  <a:schemeClr val="tx1"/>
                </a:solidFill>
                <a:latin typeface="Arial" panose="020B0604020202020204" pitchFamily="34" charset="0"/>
                <a:ea typeface="Open Sans"/>
                <a:cs typeface="Arial" panose="020B0604020202020204" pitchFamily="34" charset="0"/>
                <a:sym typeface="Open Sans"/>
              </a:rPr>
              <a:t>Scoring Rubric</a:t>
            </a:r>
            <a:r>
              <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rPr>
              <a:t>:</a:t>
            </a:r>
            <a:endPar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5 pts: </a:t>
            </a:r>
            <a:r>
              <a:rPr lang="en-US" sz="800" dirty="0">
                <a:solidFill>
                  <a:srgbClr val="555555"/>
                </a:solidFill>
                <a:latin typeface="Arial" panose="020B0604020202020204" pitchFamily="34" charset="0"/>
                <a:cs typeface="Arial" panose="020B0604020202020204" pitchFamily="34" charset="0"/>
              </a:rPr>
              <a:t>Fully accurate, no hallucination, flags anomalies</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4 pts: </a:t>
            </a:r>
            <a:r>
              <a:rPr lang="en-US" sz="800" dirty="0">
                <a:solidFill>
                  <a:srgbClr val="555555"/>
                </a:solidFill>
                <a:latin typeface="Arial" panose="020B0604020202020204" pitchFamily="34" charset="0"/>
                <a:cs typeface="Arial" panose="020B0604020202020204" pitchFamily="34" charset="0"/>
              </a:rPr>
              <a:t>Accurate, no hallucination</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3 pts: </a:t>
            </a:r>
            <a:r>
              <a:rPr lang="en-US" sz="800" dirty="0">
                <a:solidFill>
                  <a:srgbClr val="555555"/>
                </a:solidFill>
                <a:latin typeface="Arial" panose="020B0604020202020204" pitchFamily="34" charset="0"/>
                <a:cs typeface="Arial" panose="020B0604020202020204" pitchFamily="34" charset="0"/>
              </a:rPr>
              <a:t>Mostly accurate, minor inconsistencies</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2 pts: </a:t>
            </a:r>
            <a:r>
              <a:rPr lang="en-US" sz="800" dirty="0">
                <a:solidFill>
                  <a:srgbClr val="555555"/>
                </a:solidFill>
                <a:latin typeface="Arial" panose="020B0604020202020204" pitchFamily="34" charset="0"/>
                <a:cs typeface="Arial" panose="020B0604020202020204" pitchFamily="34" charset="0"/>
              </a:rPr>
              <a:t>Ignores data, partial assumptions</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1 pts: </a:t>
            </a:r>
            <a:r>
              <a:rPr lang="en-US" sz="800" dirty="0">
                <a:solidFill>
                  <a:srgbClr val="555555"/>
                </a:solidFill>
                <a:latin typeface="Arial" panose="020B0604020202020204" pitchFamily="34" charset="0"/>
                <a:cs typeface="Arial" panose="020B0604020202020204" pitchFamily="34" charset="0"/>
              </a:rPr>
              <a:t>Incorrect, based on false data</a:t>
            </a:r>
            <a:endParaRPr lang="en-US" sz="800" dirty="0">
              <a:solidFill>
                <a:srgbClr val="555555"/>
              </a:solidFill>
              <a:latin typeface="Arial" panose="020B0604020202020204" pitchFamily="34" charset="0"/>
              <a:cs typeface="Arial" panose="020B0604020202020204" pitchFamily="34" charset="0"/>
            </a:endParaRPr>
          </a:p>
        </p:txBody>
      </p:sp>
      <p:sp>
        <p:nvSpPr>
          <p:cNvPr id="113" name="文本框 112"/>
          <p:cNvSpPr txBox="1"/>
          <p:nvPr/>
        </p:nvSpPr>
        <p:spPr>
          <a:xfrm>
            <a:off x="527816" y="4269579"/>
            <a:ext cx="3586766" cy="307777"/>
          </a:xfrm>
          <a:prstGeom prst="rect">
            <a:avLst/>
          </a:prstGeom>
          <a:noFill/>
        </p:spPr>
        <p:txBody>
          <a:bodyPr wrap="square" rtlCol="0">
            <a:spAutoFit/>
          </a:bodyPr>
          <a:lstStyle/>
          <a:p>
            <a:r>
              <a:rPr lang="en-US" altLang="zh-CN" b="1" dirty="0">
                <a:solidFill>
                  <a:schemeClr val="tx1"/>
                </a:solidFill>
              </a:rPr>
              <a:t>Metric 2: Actionability of Insights</a:t>
            </a:r>
            <a:endParaRPr lang="en-US" altLang="zh-CN" b="1" dirty="0">
              <a:solidFill>
                <a:schemeClr val="tx1"/>
              </a:solidFill>
            </a:endParaRPr>
          </a:p>
        </p:txBody>
      </p:sp>
      <p:sp>
        <p:nvSpPr>
          <p:cNvPr id="114" name="Google Shape;307;p20"/>
          <p:cNvSpPr txBox="1"/>
          <p:nvPr/>
        </p:nvSpPr>
        <p:spPr>
          <a:xfrm>
            <a:off x="620332" y="4577356"/>
            <a:ext cx="3586766" cy="3231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Evaluates whether insights translate into specific, practical actions that can be directly implemented.</a:t>
            </a:r>
            <a:endParaRPr dirty="0">
              <a:latin typeface="Arial" panose="020B0604020202020204" pitchFamily="34" charset="0"/>
              <a:cs typeface="Arial" panose="020B0604020202020204" pitchFamily="34" charset="0"/>
            </a:endParaRPr>
          </a:p>
        </p:txBody>
      </p:sp>
      <p:sp>
        <p:nvSpPr>
          <p:cNvPr id="115" name="Google Shape;307;p20"/>
          <p:cNvSpPr txBox="1"/>
          <p:nvPr/>
        </p:nvSpPr>
        <p:spPr>
          <a:xfrm>
            <a:off x="620332" y="5011606"/>
            <a:ext cx="3095223" cy="61170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nSpc>
                <a:spcPct val="150000"/>
              </a:lnSpc>
            </a:pPr>
            <a:r>
              <a:rPr lang="en-US" sz="1050" b="1" i="0" u="none" strike="noStrike" cap="none" dirty="0">
                <a:solidFill>
                  <a:schemeClr val="tx1"/>
                </a:solidFill>
                <a:latin typeface="Arial" panose="020B0604020202020204" pitchFamily="34" charset="0"/>
                <a:ea typeface="Open Sans"/>
                <a:cs typeface="Arial" panose="020B0604020202020204" pitchFamily="34" charset="0"/>
                <a:sym typeface="Open Sans"/>
              </a:rPr>
              <a:t>Scoring Rubric</a:t>
            </a:r>
            <a:r>
              <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rPr>
              <a:t>:</a:t>
            </a:r>
            <a:endPar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5 pts: </a:t>
            </a:r>
            <a:r>
              <a:rPr lang="en-US" sz="800" dirty="0">
                <a:solidFill>
                  <a:srgbClr val="555555"/>
                </a:solidFill>
                <a:latin typeface="Arial" panose="020B0604020202020204" pitchFamily="34" charset="0"/>
                <a:cs typeface="Arial" panose="020B0604020202020204" pitchFamily="34" charset="0"/>
              </a:rPr>
              <a:t>Specific, actionable, directly implementable</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3 pts: </a:t>
            </a:r>
            <a:r>
              <a:rPr lang="en-US" sz="800" dirty="0">
                <a:solidFill>
                  <a:srgbClr val="555555"/>
                </a:solidFill>
                <a:latin typeface="Arial" panose="020B0604020202020204" pitchFamily="34" charset="0"/>
                <a:cs typeface="Arial" panose="020B0604020202020204" pitchFamily="34" charset="0"/>
              </a:rPr>
              <a:t>General, high-level suggestions</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1 pts: </a:t>
            </a:r>
            <a:r>
              <a:rPr lang="en-US" sz="800" dirty="0">
                <a:solidFill>
                  <a:srgbClr val="555555"/>
                </a:solidFill>
                <a:latin typeface="Arial" panose="020B0604020202020204" pitchFamily="34" charset="0"/>
                <a:cs typeface="Arial" panose="020B0604020202020204" pitchFamily="34" charset="0"/>
              </a:rPr>
              <a:t>No actionable value</a:t>
            </a:r>
            <a:endParaRPr lang="en-US" sz="800" dirty="0">
              <a:solidFill>
                <a:srgbClr val="555555"/>
              </a:solidFill>
              <a:latin typeface="Arial" panose="020B0604020202020204" pitchFamily="34" charset="0"/>
              <a:cs typeface="Arial" panose="020B0604020202020204" pitchFamily="34" charset="0"/>
            </a:endParaRPr>
          </a:p>
        </p:txBody>
      </p:sp>
      <p:sp>
        <p:nvSpPr>
          <p:cNvPr id="116" name="文本框 115"/>
          <p:cNvSpPr txBox="1"/>
          <p:nvPr/>
        </p:nvSpPr>
        <p:spPr>
          <a:xfrm>
            <a:off x="7684648" y="4269579"/>
            <a:ext cx="4038503" cy="307777"/>
          </a:xfrm>
          <a:prstGeom prst="rect">
            <a:avLst/>
          </a:prstGeom>
          <a:noFill/>
        </p:spPr>
        <p:txBody>
          <a:bodyPr wrap="square" rtlCol="0">
            <a:spAutoFit/>
          </a:bodyPr>
          <a:lstStyle/>
          <a:p>
            <a:r>
              <a:rPr lang="en-US" altLang="zh-CN" b="1" dirty="0">
                <a:solidFill>
                  <a:schemeClr val="tx1"/>
                </a:solidFill>
              </a:rPr>
              <a:t>Metric 3: Logical Reasoning &amp; Explainability</a:t>
            </a:r>
            <a:endParaRPr lang="en-US" altLang="zh-CN" b="1" dirty="0">
              <a:solidFill>
                <a:schemeClr val="tx1"/>
              </a:solidFill>
            </a:endParaRPr>
          </a:p>
        </p:txBody>
      </p:sp>
      <p:sp>
        <p:nvSpPr>
          <p:cNvPr id="117" name="Google Shape;307;p20"/>
          <p:cNvSpPr txBox="1"/>
          <p:nvPr/>
        </p:nvSpPr>
        <p:spPr>
          <a:xfrm>
            <a:off x="7804597" y="4577356"/>
            <a:ext cx="3683358" cy="3231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r>
              <a:rPr lang="en-US" sz="1050" b="0" i="0" u="none" strike="noStrike" cap="none" dirty="0">
                <a:solidFill>
                  <a:srgbClr val="555555"/>
                </a:solidFill>
                <a:latin typeface="Arial" panose="020B0604020202020204" pitchFamily="34" charset="0"/>
                <a:ea typeface="Open Sans"/>
                <a:cs typeface="Arial" panose="020B0604020202020204" pitchFamily="34" charset="0"/>
                <a:sym typeface="Open Sans"/>
              </a:rPr>
              <a:t>Assesses the clarity and rigor of the reasoning process linking data, insights, and conclusions</a:t>
            </a:r>
            <a:endParaRPr dirty="0">
              <a:latin typeface="Arial" panose="020B0604020202020204" pitchFamily="34" charset="0"/>
              <a:cs typeface="Arial" panose="020B0604020202020204" pitchFamily="34" charset="0"/>
            </a:endParaRPr>
          </a:p>
        </p:txBody>
      </p:sp>
      <p:sp>
        <p:nvSpPr>
          <p:cNvPr id="118" name="Google Shape;307;p20"/>
          <p:cNvSpPr txBox="1"/>
          <p:nvPr/>
        </p:nvSpPr>
        <p:spPr>
          <a:xfrm>
            <a:off x="8005384" y="5011606"/>
            <a:ext cx="3095223" cy="61170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nSpc>
                <a:spcPct val="150000"/>
              </a:lnSpc>
            </a:pPr>
            <a:r>
              <a:rPr lang="en-US" sz="1050" b="1" i="0" u="none" strike="noStrike" cap="none" dirty="0">
                <a:solidFill>
                  <a:schemeClr val="tx1"/>
                </a:solidFill>
                <a:latin typeface="Arial" panose="020B0604020202020204" pitchFamily="34" charset="0"/>
                <a:ea typeface="Open Sans"/>
                <a:cs typeface="Arial" panose="020B0604020202020204" pitchFamily="34" charset="0"/>
                <a:sym typeface="Open Sans"/>
              </a:rPr>
              <a:t>Scoring Rubric</a:t>
            </a:r>
            <a:r>
              <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rPr>
              <a:t>:</a:t>
            </a:r>
            <a:endParaRPr lang="en-US" sz="1050" b="0" i="0" u="none" strike="noStrike" cap="none" dirty="0">
              <a:solidFill>
                <a:schemeClr val="tx1"/>
              </a:solidFill>
              <a:latin typeface="Arial" panose="020B0604020202020204" pitchFamily="34" charset="0"/>
              <a:ea typeface="Open Sans"/>
              <a:cs typeface="Arial" panose="020B0604020202020204" pitchFamily="34" charset="0"/>
              <a:sym typeface="Open Sans"/>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5 pts: </a:t>
            </a:r>
            <a:r>
              <a:rPr lang="en-US" sz="800" dirty="0">
                <a:solidFill>
                  <a:srgbClr val="555555"/>
                </a:solidFill>
                <a:latin typeface="Arial" panose="020B0604020202020204" pitchFamily="34" charset="0"/>
                <a:cs typeface="Arial" panose="020B0604020202020204" pitchFamily="34" charset="0"/>
              </a:rPr>
              <a:t>Clear, rigorous logic chain</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3 pts: </a:t>
            </a:r>
            <a:r>
              <a:rPr lang="en-US" sz="800" dirty="0">
                <a:solidFill>
                  <a:srgbClr val="555555"/>
                </a:solidFill>
                <a:latin typeface="Arial" panose="020B0604020202020204" pitchFamily="34" charset="0"/>
                <a:cs typeface="Arial" panose="020B0604020202020204" pitchFamily="34" charset="0"/>
              </a:rPr>
              <a:t>Basic reasoning, weak causality</a:t>
            </a:r>
            <a:endParaRPr lang="en-US" sz="800" dirty="0">
              <a:solidFill>
                <a:srgbClr val="555555"/>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800" b="1" dirty="0">
                <a:solidFill>
                  <a:srgbClr val="555555"/>
                </a:solidFill>
                <a:latin typeface="Arial" panose="020B0604020202020204" pitchFamily="34" charset="0"/>
                <a:cs typeface="Arial" panose="020B0604020202020204" pitchFamily="34" charset="0"/>
              </a:rPr>
              <a:t>1 pts: </a:t>
            </a:r>
            <a:r>
              <a:rPr lang="en-US" sz="800" dirty="0">
                <a:solidFill>
                  <a:srgbClr val="555555"/>
                </a:solidFill>
                <a:latin typeface="Arial" panose="020B0604020202020204" pitchFamily="34" charset="0"/>
                <a:cs typeface="Arial" panose="020B0604020202020204" pitchFamily="34" charset="0"/>
              </a:rPr>
              <a:t>Illogical or unsupported conclusions</a:t>
            </a:r>
            <a:endParaRPr lang="en-US" sz="800" dirty="0">
              <a:solidFill>
                <a:srgbClr val="555555"/>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txBox="1">
            <a:spLocks noGrp="1"/>
          </p:cNvSpPr>
          <p:nvPr>
            <p:ph type="ctrTitle"/>
          </p:nvPr>
        </p:nvSpPr>
        <p:spPr>
          <a:xfrm>
            <a:off x="2133600" y="2035176"/>
            <a:ext cx="8229600" cy="14700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a:solidFill>
                  <a:srgbClr val="990000"/>
                </a:solidFill>
                <a:latin typeface="Arial" panose="020B0604020202020204"/>
                <a:ea typeface="Arial" panose="020B0604020202020204"/>
                <a:cs typeface="Arial" panose="020B0604020202020204"/>
                <a:sym typeface="Arial" panose="020B0604020202020204"/>
              </a:rPr>
              <a:t>Results &amp; Analysis</a:t>
            </a:r>
            <a:endParaRPr lang="en-US" sz="3600">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49" name="Google Shape;149;p8"/>
          <p:cNvCxnSpPr/>
          <p:nvPr/>
        </p:nvCxnSpPr>
        <p:spPr>
          <a:xfrm>
            <a:off x="1524000" y="3200400"/>
            <a:ext cx="9144000" cy="0"/>
          </a:xfrm>
          <a:prstGeom prst="straightConnector1">
            <a:avLst/>
          </a:prstGeom>
          <a:noFill/>
          <a:ln w="9525" cap="flat" cmpd="sng">
            <a:solidFill>
              <a:srgbClr val="595959"/>
            </a:solidFill>
            <a:prstDash val="solid"/>
            <a:round/>
            <a:headEnd type="none" w="sm" len="sm"/>
            <a:tailEnd type="none" w="sm" len="sm"/>
          </a:ln>
        </p:spPr>
      </p:cxnSp>
      <p:cxnSp>
        <p:nvCxnSpPr>
          <p:cNvPr id="150" name="Google Shape;150;p8"/>
          <p:cNvCxnSpPr/>
          <p:nvPr/>
        </p:nvCxnSpPr>
        <p:spPr>
          <a:xfrm>
            <a:off x="1524000" y="2286000"/>
            <a:ext cx="9144000" cy="0"/>
          </a:xfrm>
          <a:prstGeom prst="straightConnector1">
            <a:avLst/>
          </a:prstGeom>
          <a:noFill/>
          <a:ln w="9525" cap="flat" cmpd="sng">
            <a:solidFill>
              <a:srgbClr val="595959"/>
            </a:solidFill>
            <a:prstDash val="solid"/>
            <a:round/>
            <a:headEnd type="none" w="sm" len="sm"/>
            <a:tailEnd type="none" w="sm" len="sm"/>
          </a:ln>
        </p:spPr>
      </p:cxnSp>
      <p:pic>
        <p:nvPicPr>
          <p:cNvPr id="151" name="Google Shape;151;p8"/>
          <p:cNvPicPr preferRelativeResize="0"/>
          <p:nvPr/>
        </p:nvPicPr>
        <p:blipFill rotWithShape="1">
          <a:blip r:embed="rId1"/>
          <a:srcRect/>
          <a:stretch>
            <a:fillRect/>
          </a:stretch>
        </p:blipFill>
        <p:spPr>
          <a:xfrm>
            <a:off x="0" y="111127"/>
            <a:ext cx="2378150" cy="743172"/>
          </a:xfrm>
          <a:prstGeom prst="rect">
            <a:avLst/>
          </a:prstGeom>
          <a:noFill/>
          <a:ln>
            <a:noFill/>
          </a:ln>
        </p:spPr>
      </p:pic>
      <p:pic>
        <p:nvPicPr>
          <p:cNvPr id="152" name="Google Shape;152;p8" descr="Z:\PP Assistants\Formal_Viterbi_CardOnTrans.png"/>
          <p:cNvPicPr preferRelativeResize="0"/>
          <p:nvPr/>
        </p:nvPicPr>
        <p:blipFill rotWithShape="1">
          <a:blip r:embed="rId2"/>
          <a:srcRect/>
          <a:stretch>
            <a:fillRect/>
          </a:stretch>
        </p:blipFill>
        <p:spPr>
          <a:xfrm>
            <a:off x="9601200" y="69328"/>
            <a:ext cx="2362200" cy="82677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9"/>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RESULTS</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cxnSp>
        <p:nvCxnSpPr>
          <p:cNvPr id="159" name="Google Shape;159;p9"/>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0" name="Google Shape;160;p9"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4" name="矩形: 圆角 3"/>
          <p:cNvSpPr/>
          <p:nvPr/>
        </p:nvSpPr>
        <p:spPr>
          <a:xfrm>
            <a:off x="457200" y="1452657"/>
            <a:ext cx="11114468" cy="879857"/>
          </a:xfrm>
          <a:prstGeom prst="roundRect">
            <a:avLst>
              <a:gd name="adj" fmla="val 4331"/>
            </a:avLst>
          </a:prstGeom>
          <a:solidFill>
            <a:srgbClr val="FAF2F2"/>
          </a:solidFill>
          <a:ln w="9525">
            <a:solidFill>
              <a:srgbClr val="F2DA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形 4" descr="部分选中的剪贴板 纯色填充"/>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799" y="1630991"/>
            <a:ext cx="360000" cy="360000"/>
          </a:xfrm>
          <a:prstGeom prst="rect">
            <a:avLst/>
          </a:prstGeom>
        </p:spPr>
      </p:pic>
      <p:sp>
        <p:nvSpPr>
          <p:cNvPr id="6" name="文本框 5"/>
          <p:cNvSpPr txBox="1"/>
          <p:nvPr/>
        </p:nvSpPr>
        <p:spPr>
          <a:xfrm>
            <a:off x="1128586" y="1524600"/>
            <a:ext cx="3129124" cy="307777"/>
          </a:xfrm>
          <a:prstGeom prst="rect">
            <a:avLst/>
          </a:prstGeom>
          <a:noFill/>
        </p:spPr>
        <p:txBody>
          <a:bodyPr wrap="square" rtlCol="0">
            <a:spAutoFit/>
          </a:bodyPr>
          <a:lstStyle/>
          <a:p>
            <a:r>
              <a:rPr lang="en-US" altLang="zh-CN" b="1" dirty="0">
                <a:solidFill>
                  <a:schemeClr val="tx1"/>
                </a:solidFill>
              </a:rPr>
              <a:t>Test Parameters &amp; Scope</a:t>
            </a:r>
            <a:endParaRPr lang="en-US" altLang="zh-CN" b="1" dirty="0">
              <a:solidFill>
                <a:schemeClr val="tx1"/>
              </a:solidFill>
            </a:endParaRPr>
          </a:p>
        </p:txBody>
      </p:sp>
      <p:sp>
        <p:nvSpPr>
          <p:cNvPr id="7" name="文本框 6"/>
          <p:cNvSpPr txBox="1"/>
          <p:nvPr/>
        </p:nvSpPr>
        <p:spPr>
          <a:xfrm>
            <a:off x="1128586" y="1802524"/>
            <a:ext cx="10262777" cy="430887"/>
          </a:xfrm>
          <a:prstGeom prst="rect">
            <a:avLst/>
          </a:prstGeom>
          <a:noFill/>
        </p:spPr>
        <p:txBody>
          <a:bodyPr wrap="square">
            <a:spAutoFit/>
          </a:bodyPr>
          <a:lstStyle/>
          <a:p>
            <a:r>
              <a:rPr lang="en-US" altLang="zh-CN" sz="1100" b="0" i="0" dirty="0">
                <a:solidFill>
                  <a:srgbClr val="636362"/>
                </a:solidFill>
                <a:effectLst/>
                <a:latin typeface="Arial" panose="020B0604020202020204" pitchFamily="34" charset="0"/>
                <a:cs typeface="Arial" panose="020B0604020202020204" pitchFamily="34" charset="0"/>
              </a:rPr>
              <a:t>Evaluating 4 AI Models across a 10-Question Test, 3 Analytical Prompts, and 10 Thematic Datasets, resulting in Aggregated Performance Scores for each </a:t>
            </a:r>
            <a:r>
              <a:rPr lang="en-US" altLang="zh-CN" sz="1100" dirty="0">
                <a:solidFill>
                  <a:srgbClr val="636362"/>
                </a:solidFill>
                <a:latin typeface="Arial" panose="020B0604020202020204" pitchFamily="34" charset="0"/>
                <a:cs typeface="Arial" panose="020B0604020202020204" pitchFamily="34" charset="0"/>
              </a:rPr>
              <a:t>m</a:t>
            </a:r>
            <a:r>
              <a:rPr lang="en-US" altLang="zh-CN" sz="1100" b="0" i="0" dirty="0">
                <a:solidFill>
                  <a:srgbClr val="636362"/>
                </a:solidFill>
                <a:effectLst/>
                <a:latin typeface="Arial" panose="020B0604020202020204" pitchFamily="34" charset="0"/>
                <a:cs typeface="Arial" panose="020B0604020202020204" pitchFamily="34" charset="0"/>
              </a:rPr>
              <a:t>odel under each prompt. </a:t>
            </a:r>
            <a:endParaRPr lang="zh-CN" altLang="en-US" sz="1100" dirty="0">
              <a:solidFill>
                <a:srgbClr val="636362"/>
              </a:solidFill>
              <a:latin typeface="Arial" panose="020B0604020202020204" pitchFamily="34" charset="0"/>
              <a:cs typeface="Arial" panose="020B0604020202020204" pitchFamily="34" charset="0"/>
            </a:endParaRPr>
          </a:p>
        </p:txBody>
      </p:sp>
      <p:graphicFrame>
        <p:nvGraphicFramePr>
          <p:cNvPr id="8" name="表格 7"/>
          <p:cNvGraphicFramePr>
            <a:graphicFrameLocks noGrp="1"/>
          </p:cNvGraphicFramePr>
          <p:nvPr/>
        </p:nvGraphicFramePr>
        <p:xfrm>
          <a:off x="457200" y="2748088"/>
          <a:ext cx="11114465" cy="3151986"/>
        </p:xfrm>
        <a:graphic>
          <a:graphicData uri="http://schemas.openxmlformats.org/drawingml/2006/table">
            <a:tbl>
              <a:tblPr firstRow="1" bandRow="1">
                <a:tableStyleId>{5940675A-B579-460E-94D1-54222C63F5DA}</a:tableStyleId>
              </a:tblPr>
              <a:tblGrid>
                <a:gridCol w="2115497"/>
                <a:gridCol w="818088"/>
                <a:gridCol w="818088"/>
                <a:gridCol w="818088"/>
                <a:gridCol w="818088"/>
                <a:gridCol w="818088"/>
                <a:gridCol w="818088"/>
                <a:gridCol w="818088"/>
                <a:gridCol w="818088"/>
                <a:gridCol w="818088"/>
                <a:gridCol w="818088"/>
                <a:gridCol w="818088"/>
              </a:tblGrid>
              <a:tr h="542910">
                <a:tc>
                  <a:txBody>
                    <a:bodyPr/>
                    <a:lstStyle/>
                    <a:p>
                      <a:endParaRPr lang="zh-CN" altLang="en-US" sz="1050"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gridSpan="3">
                  <a:txBody>
                    <a:bodyPr/>
                    <a:lstStyle/>
                    <a:p>
                      <a:pPr algn="ctr"/>
                      <a:r>
                        <a:rPr lang="en-US" altLang="zh-CN" sz="1050" b="1" dirty="0">
                          <a:solidFill>
                            <a:schemeClr val="bg1"/>
                          </a:solidFill>
                        </a:rPr>
                        <a:t>E-Commerce Business Assistant</a:t>
                      </a:r>
                      <a:endParaRPr lang="en-US" altLang="zh-CN" sz="1050" b="1" dirty="0">
                        <a:solidFill>
                          <a:schemeClr val="bg1"/>
                        </a:solidFill>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chemeClr val="tx1"/>
                    </a:solidFill>
                  </a:tcPr>
                </a:tc>
                <a:tc hMerge="1">
                  <a:tcPr anchor="ctr"/>
                </a:tc>
                <a:tc hMerge="1">
                  <a:tcPr anchor="ctr"/>
                </a:tc>
                <a:tc grid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050" b="1" i="0" u="none" strike="noStrike" cap="none" dirty="0">
                          <a:solidFill>
                            <a:schemeClr val="bg1"/>
                          </a:solidFill>
                          <a:latin typeface="+mn-lt"/>
                          <a:ea typeface="+mn-ea"/>
                          <a:cs typeface="+mn-cs"/>
                          <a:sym typeface="Arial" panose="020B0604020202020204"/>
                        </a:rPr>
                        <a:t>Data Scientist</a:t>
                      </a:r>
                      <a:endParaRPr lang="zh-CN" altLang="en-US" sz="1050" b="1" i="0" u="none" strike="noStrike" cap="none" dirty="0">
                        <a:solidFill>
                          <a:schemeClr val="bg1"/>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chemeClr val="tx1"/>
                    </a:solidFill>
                  </a:tcPr>
                </a:tc>
                <a:tc hMerge="1">
                  <a:tcPr anchor="ctr"/>
                </a:tc>
                <a:tc hMerge="1">
                  <a:tcPr anchor="ctr"/>
                </a:tc>
                <a:tc gridSpan="3">
                  <a:txBody>
                    <a:bodyPr/>
                    <a:lstStyle/>
                    <a:p>
                      <a:pPr marR="0" algn="ctr" rtl="0">
                        <a:lnSpc>
                          <a:spcPct val="100000"/>
                        </a:lnSpc>
                        <a:spcBef>
                          <a:spcPts val="0"/>
                        </a:spcBef>
                        <a:spcAft>
                          <a:spcPts val="0"/>
                        </a:spcAft>
                        <a:buClr>
                          <a:srgbClr val="000000"/>
                        </a:buClr>
                        <a:buFont typeface="Arial" panose="020B0604020202020204"/>
                      </a:pPr>
                      <a:r>
                        <a:rPr lang="en-US" altLang="zh-CN" sz="1050" b="1" i="0" u="none" strike="noStrike" cap="none" dirty="0">
                          <a:solidFill>
                            <a:schemeClr val="bg1"/>
                          </a:solidFill>
                          <a:latin typeface="+mn-lt"/>
                          <a:ea typeface="+mn-ea"/>
                          <a:cs typeface="+mn-cs"/>
                          <a:sym typeface="Arial" panose="020B0604020202020204"/>
                        </a:rPr>
                        <a:t>Brand Operator &amp; </a:t>
                      </a:r>
                      <a:endParaRPr lang="en-US" altLang="zh-CN" sz="1050" b="1" i="0" u="none" strike="noStrike" cap="none" dirty="0">
                        <a:solidFill>
                          <a:schemeClr val="bg1"/>
                        </a:solidFill>
                        <a:latin typeface="+mn-lt"/>
                        <a:ea typeface="+mn-ea"/>
                        <a:cs typeface="+mn-cs"/>
                        <a:sym typeface="Arial" panose="020B0604020202020204"/>
                      </a:endParaRPr>
                    </a:p>
                    <a:p>
                      <a:pPr marR="0" algn="ctr" rtl="0">
                        <a:lnSpc>
                          <a:spcPct val="100000"/>
                        </a:lnSpc>
                        <a:spcBef>
                          <a:spcPts val="0"/>
                        </a:spcBef>
                        <a:spcAft>
                          <a:spcPts val="0"/>
                        </a:spcAft>
                        <a:buClr>
                          <a:srgbClr val="000000"/>
                        </a:buClr>
                        <a:buFont typeface="Arial" panose="020B0604020202020204"/>
                      </a:pPr>
                      <a:r>
                        <a:rPr lang="en-US" altLang="zh-CN" sz="1050" b="1" i="0" u="none" strike="noStrike" cap="none" dirty="0">
                          <a:solidFill>
                            <a:schemeClr val="bg1"/>
                          </a:solidFill>
                          <a:latin typeface="+mn-lt"/>
                          <a:ea typeface="+mn-ea"/>
                          <a:cs typeface="+mn-cs"/>
                          <a:sym typeface="Arial" panose="020B0604020202020204"/>
                        </a:rPr>
                        <a:t>Venture Capitalist</a:t>
                      </a:r>
                      <a:endParaRPr lang="en-US" altLang="zh-CN" sz="1050" b="1" i="0" u="none" strike="noStrike" cap="none" dirty="0">
                        <a:solidFill>
                          <a:schemeClr val="bg1"/>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chemeClr val="tx1"/>
                    </a:solidFill>
                  </a:tcPr>
                </a:tc>
                <a:tc hMerge="1">
                  <a:tcPr anchor="ctr"/>
                </a:tc>
                <a:tc hMerge="1">
                  <a:tcPr anchor="ct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050" b="1" i="0" u="none" strike="noStrike" cap="none" dirty="0">
                          <a:solidFill>
                            <a:schemeClr val="bg1"/>
                          </a:solidFill>
                          <a:latin typeface="+mn-lt"/>
                          <a:ea typeface="+mn-ea"/>
                          <a:cs typeface="+mn-cs"/>
                          <a:sym typeface="Arial" panose="020B0604020202020204"/>
                        </a:rPr>
                        <a:t>Aggregate</a:t>
                      </a:r>
                      <a:endParaRPr lang="zh-CN" altLang="en-US" sz="1050" b="1" i="0" u="none" strike="noStrike" cap="none" dirty="0">
                        <a:solidFill>
                          <a:schemeClr val="bg1"/>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861D10"/>
                    </a:solidFill>
                  </a:tcPr>
                </a:tc>
                <a:tc hMerge="1">
                  <a:tcPr anchor="ctr"/>
                </a:tc>
              </a:tr>
              <a:tr h="437436">
                <a:tc>
                  <a:txBody>
                    <a:bodyPr/>
                    <a:lstStyle/>
                    <a:p>
                      <a:r>
                        <a:rPr lang="en-US" altLang="zh-CN" sz="1050" b="1" dirty="0"/>
                        <a:t>AI MODEL</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DF</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ACTN</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EXPL</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DF</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ACTN</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EXPL</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DF</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ACTN</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EXPL</a:t>
                      </a:r>
                      <a:endParaRPr lang="en-US" altLang="zh-CN"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Avg.</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c>
                  <a:txBody>
                    <a:bodyPr/>
                    <a:lstStyle/>
                    <a:p>
                      <a:pPr algn="ctr"/>
                      <a:r>
                        <a:rPr lang="en-US" altLang="zh-CN" sz="1050" b="1" dirty="0"/>
                        <a:t>Rank</a:t>
                      </a:r>
                      <a:endParaRPr lang="zh-CN" altLang="en-US" sz="1050" b="1" dirty="0"/>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solidFill>
                      <a:srgbClr val="F8FAFC"/>
                    </a:solidFill>
                  </a:tcPr>
                </a:tc>
              </a:tr>
              <a:tr h="542910">
                <a:tc>
                  <a:txBody>
                    <a:bodyPr/>
                    <a:lstStyle/>
                    <a:p>
                      <a:pPr lvl="2"/>
                      <a:r>
                        <a:rPr lang="en-US" altLang="zh-CN" sz="1050" b="1" dirty="0">
                          <a:solidFill>
                            <a:srgbClr val="636362"/>
                          </a:solidFill>
                        </a:rPr>
                        <a:t>  Nvidia </a:t>
                      </a:r>
                      <a:r>
                        <a:rPr lang="en-US" altLang="zh-CN" sz="1050" b="1" dirty="0" err="1">
                          <a:solidFill>
                            <a:srgbClr val="636362"/>
                          </a:solidFill>
                        </a:rPr>
                        <a:t>Nemotron</a:t>
                      </a:r>
                      <a:r>
                        <a:rPr lang="en-US" altLang="zh-CN" sz="1050" b="1" dirty="0">
                          <a:solidFill>
                            <a:srgbClr val="636362"/>
                          </a:solidFill>
                        </a:rPr>
                        <a:t> 3 Super</a:t>
                      </a:r>
                      <a:endParaRPr lang="zh-CN" altLang="en-US" sz="1050" b="1" dirty="0">
                        <a:solidFill>
                          <a:srgbClr val="636362"/>
                        </a:solidFill>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3.73</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3.6</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3.8</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3.95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3.48</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4.18</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3.68</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4.15</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3.85</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3.82</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a:r>
                        <a:rPr lang="en-US" altLang="zh-CN" sz="1000" dirty="0">
                          <a:latin typeface="Arial" panose="020B0604020202020204" pitchFamily="34" charset="0"/>
                          <a:cs typeface="Arial" panose="020B0604020202020204" pitchFamily="34" charset="0"/>
                        </a:rPr>
                        <a:t>1</a:t>
                      </a:r>
                      <a:endParaRPr lang="zh-CN" altLang="en-US" sz="1000" dirty="0">
                        <a:latin typeface="Arial" panose="020B0604020202020204" pitchFamily="34" charset="0"/>
                        <a:cs typeface="Arial" panose="020B0604020202020204" pitchFamily="34" charset="0"/>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r>
              <a:tr h="542910">
                <a:tc>
                  <a:txBody>
                    <a:bodyPr/>
                    <a:lstStyle/>
                    <a:p>
                      <a:pPr marR="0" lvl="2" algn="l" rtl="0">
                        <a:lnSpc>
                          <a:spcPct val="100000"/>
                        </a:lnSpc>
                        <a:spcBef>
                          <a:spcPts val="0"/>
                        </a:spcBef>
                        <a:spcAft>
                          <a:spcPts val="0"/>
                        </a:spcAft>
                        <a:buClr>
                          <a:srgbClr val="000000"/>
                        </a:buClr>
                        <a:buFont typeface="Arial" panose="020B0604020202020204"/>
                      </a:pPr>
                      <a:r>
                        <a:rPr lang="en-US" altLang="zh-CN" sz="1050" b="1" i="0" u="none" strike="noStrike" cap="none" dirty="0">
                          <a:solidFill>
                            <a:srgbClr val="636362"/>
                          </a:solidFill>
                          <a:latin typeface="+mn-lt"/>
                          <a:ea typeface="+mn-ea"/>
                          <a:cs typeface="+mn-cs"/>
                          <a:sym typeface="Arial" panose="020B0604020202020204"/>
                        </a:rPr>
                        <a:t>  Elephant</a:t>
                      </a:r>
                      <a:endParaRPr lang="zh-CN" altLang="en-US" sz="1050" b="1" i="0" u="none" strike="noStrike" cap="none" dirty="0">
                        <a:solidFill>
                          <a:srgbClr val="636362"/>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3.18</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2.98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3.23</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3.4</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2.78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3.65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3.05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3.55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3.28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3.23</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a:r>
                        <a:rPr lang="en-US" altLang="zh-CN" sz="1000" dirty="0">
                          <a:latin typeface="Arial" panose="020B0604020202020204" pitchFamily="34" charset="0"/>
                          <a:cs typeface="Arial" panose="020B0604020202020204" pitchFamily="34" charset="0"/>
                        </a:rPr>
                        <a:t>4</a:t>
                      </a:r>
                      <a:endParaRPr lang="zh-CN" altLang="en-US" sz="1000" dirty="0">
                        <a:latin typeface="Arial" panose="020B0604020202020204" pitchFamily="34" charset="0"/>
                        <a:cs typeface="Arial" panose="020B0604020202020204" pitchFamily="34" charset="0"/>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r>
              <a:tr h="542910">
                <a:tc>
                  <a:txBody>
                    <a:bodyPr/>
                    <a:lstStyle/>
                    <a:p>
                      <a:pPr marR="0" lvl="2" algn="l" rtl="0">
                        <a:lnSpc>
                          <a:spcPct val="100000"/>
                        </a:lnSpc>
                        <a:spcBef>
                          <a:spcPts val="0"/>
                        </a:spcBef>
                        <a:spcAft>
                          <a:spcPts val="0"/>
                        </a:spcAft>
                        <a:buClr>
                          <a:srgbClr val="000000"/>
                        </a:buClr>
                        <a:buFont typeface="Arial" panose="020B0604020202020204"/>
                      </a:pPr>
                      <a:r>
                        <a:rPr lang="en-US" altLang="zh-CN" sz="1050" b="1" i="0" u="none" strike="noStrike" cap="none" dirty="0">
                          <a:solidFill>
                            <a:srgbClr val="636362"/>
                          </a:solidFill>
                          <a:latin typeface="+mn-lt"/>
                          <a:ea typeface="+mn-ea"/>
                          <a:cs typeface="+mn-cs"/>
                          <a:sym typeface="Arial" panose="020B0604020202020204"/>
                        </a:rPr>
                        <a:t>  Acree AI: Trinity Large</a:t>
                      </a:r>
                      <a:endParaRPr lang="zh-CN" altLang="en-US" sz="1050" b="1" i="0" u="none" strike="noStrike" cap="none" dirty="0">
                        <a:solidFill>
                          <a:srgbClr val="636362"/>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3.43</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3.53</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3.35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3.7</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3.33</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3.45</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4.1</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3.58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3.59</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a:r>
                        <a:rPr lang="en-US" altLang="zh-CN" sz="1000" dirty="0">
                          <a:latin typeface="Arial" panose="020B0604020202020204" pitchFamily="34" charset="0"/>
                          <a:cs typeface="Arial" panose="020B0604020202020204" pitchFamily="34" charset="0"/>
                        </a:rPr>
                        <a:t>3</a:t>
                      </a:r>
                      <a:endParaRPr lang="zh-CN" altLang="en-US" sz="1000" dirty="0">
                        <a:latin typeface="Arial" panose="020B0604020202020204" pitchFamily="34" charset="0"/>
                        <a:cs typeface="Arial" panose="020B0604020202020204" pitchFamily="34" charset="0"/>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r>
              <a:tr h="542910">
                <a:tc>
                  <a:txBody>
                    <a:bodyPr/>
                    <a:lstStyle/>
                    <a:p>
                      <a:pPr marR="0" lvl="2" algn="l" rtl="0">
                        <a:lnSpc>
                          <a:spcPct val="100000"/>
                        </a:lnSpc>
                        <a:spcBef>
                          <a:spcPts val="0"/>
                        </a:spcBef>
                        <a:spcAft>
                          <a:spcPts val="0"/>
                        </a:spcAft>
                        <a:buClr>
                          <a:srgbClr val="000000"/>
                        </a:buClr>
                        <a:buFont typeface="Arial" panose="020B0604020202020204"/>
                      </a:pPr>
                      <a:r>
                        <a:rPr lang="en-US" altLang="zh-CN" sz="1050" b="1" i="0" u="none" strike="noStrike" cap="none" dirty="0">
                          <a:solidFill>
                            <a:srgbClr val="636362"/>
                          </a:solidFill>
                          <a:latin typeface="+mn-lt"/>
                          <a:ea typeface="+mn-ea"/>
                          <a:cs typeface="+mn-cs"/>
                          <a:sym typeface="Arial" panose="020B0604020202020204"/>
                        </a:rPr>
                        <a:t>  OpenAI: gpt-oss-20b</a:t>
                      </a:r>
                      <a:endParaRPr lang="zh-CN" altLang="en-US" sz="1050" b="1" i="0" u="none" strike="noStrike" cap="none" dirty="0">
                        <a:solidFill>
                          <a:srgbClr val="636362"/>
                        </a:solidFill>
                        <a:latin typeface="+mn-lt"/>
                        <a:ea typeface="+mn-ea"/>
                        <a:cs typeface="+mn-cs"/>
                        <a:sym typeface="Arial" panose="020B0604020202020204"/>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3.45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3.6</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3.55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3.7</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3.35</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rPr>
                        <a:t>3.93</a:t>
                      </a:r>
                      <a:endParaRPr lang="en-US" altLang="zh-CN" sz="1000" b="0" i="0" u="none" strike="noStrike">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3.38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4.1</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3.68</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rPr>
                        <a:t>3.64</a:t>
                      </a:r>
                      <a:endParaRPr lang="en-US" altLang="zh-CN" sz="1000" b="0" i="0" u="none" strike="noStrike"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9525" marR="9525" marT="9525" marB="0"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c>
                  <a:txBody>
                    <a:bodyPr/>
                    <a:lstStyle/>
                    <a:p>
                      <a:pPr algn="ctr"/>
                      <a:r>
                        <a:rPr lang="en-US" altLang="zh-CN" sz="1000" dirty="0">
                          <a:latin typeface="Arial" panose="020B0604020202020204" pitchFamily="34" charset="0"/>
                          <a:cs typeface="Arial" panose="020B0604020202020204" pitchFamily="34" charset="0"/>
                        </a:rPr>
                        <a:t>2</a:t>
                      </a:r>
                      <a:endParaRPr lang="zh-CN" altLang="en-US" sz="1000" dirty="0">
                        <a:latin typeface="Arial" panose="020B0604020202020204" pitchFamily="34" charset="0"/>
                        <a:cs typeface="Arial" panose="020B0604020202020204" pitchFamily="34" charset="0"/>
                      </a:endParaRPr>
                    </a:p>
                  </a:txBody>
                  <a:tcPr anchor="ctr">
                    <a:lnL w="12700" cap="flat" cmpd="sng" algn="ctr">
                      <a:solidFill>
                        <a:srgbClr val="CDD4DF"/>
                      </a:solidFill>
                      <a:prstDash val="solid"/>
                      <a:round/>
                      <a:headEnd type="none" w="med" len="med"/>
                      <a:tailEnd type="none" w="med" len="med"/>
                    </a:lnL>
                    <a:lnR w="12700" cap="flat" cmpd="sng" algn="ctr">
                      <a:solidFill>
                        <a:srgbClr val="CDD4DF"/>
                      </a:solidFill>
                      <a:prstDash val="solid"/>
                      <a:round/>
                      <a:headEnd type="none" w="med" len="med"/>
                      <a:tailEnd type="none" w="med" len="med"/>
                    </a:lnR>
                    <a:lnT w="12700" cap="flat" cmpd="sng" algn="ctr">
                      <a:solidFill>
                        <a:srgbClr val="CDD4DF"/>
                      </a:solidFill>
                      <a:prstDash val="solid"/>
                      <a:round/>
                      <a:headEnd type="none" w="med" len="med"/>
                      <a:tailEnd type="none" w="med" len="med"/>
                    </a:lnT>
                    <a:lnB w="12700" cap="flat" cmpd="sng" algn="ctr">
                      <a:solidFill>
                        <a:srgbClr val="CDD4DF"/>
                      </a:solidFill>
                      <a:prstDash val="solid"/>
                      <a:round/>
                      <a:headEnd type="none" w="med" len="med"/>
                      <a:tailEnd type="none" w="med" len="med"/>
                    </a:lnB>
                  </a:tcPr>
                </a:tc>
              </a:tr>
            </a:tbl>
          </a:graphicData>
        </a:graphic>
      </p:graphicFrame>
      <p:sp>
        <p:nvSpPr>
          <p:cNvPr id="10" name="文本框 9"/>
          <p:cNvSpPr txBox="1"/>
          <p:nvPr/>
        </p:nvSpPr>
        <p:spPr>
          <a:xfrm>
            <a:off x="367048" y="5976161"/>
            <a:ext cx="9144000" cy="215444"/>
          </a:xfrm>
          <a:prstGeom prst="rect">
            <a:avLst/>
          </a:prstGeom>
          <a:noFill/>
        </p:spPr>
        <p:txBody>
          <a:bodyPr wrap="square">
            <a:spAutoFit/>
          </a:bodyPr>
          <a:lstStyle/>
          <a:p>
            <a:r>
              <a:rPr lang="en-US" altLang="zh-CN" sz="800" dirty="0"/>
              <a:t>Note: DF (Data Fidelity), ACTN (Actionability), EXPL (Explainability)</a:t>
            </a:r>
            <a:endParaRPr lang="zh-CN" alt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grpSp>
        <p:nvGrpSpPr>
          <p:cNvPr id="10" name="组合 9"/>
          <p:cNvGrpSpPr/>
          <p:nvPr/>
        </p:nvGrpSpPr>
        <p:grpSpPr>
          <a:xfrm>
            <a:off x="6101715" y="4684395"/>
            <a:ext cx="5299710" cy="1675130"/>
            <a:chOff x="6183464" y="1597247"/>
            <a:chExt cx="5299544" cy="1432200"/>
          </a:xfrm>
        </p:grpSpPr>
        <p:sp>
          <p:nvSpPr>
            <p:cNvPr id="11" name="矩形: 圆角 8"/>
            <p:cNvSpPr/>
            <p:nvPr>
              <p:custDataLst>
                <p:tags r:id="rId1"/>
              </p:custDataLst>
            </p:nvPr>
          </p:nvSpPr>
          <p:spPr>
            <a:xfrm>
              <a:off x="6183464" y="1597247"/>
              <a:ext cx="5299544" cy="1432200"/>
            </a:xfrm>
            <a:prstGeom prst="roundRect">
              <a:avLst>
                <a:gd name="adj" fmla="val 1412"/>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Arial" panose="020B0604020202020204" pitchFamily="34" charset="0"/>
                <a:cs typeface="Arial" panose="020B0604020202020204" pitchFamily="34" charset="0"/>
              </a:endParaRPr>
            </a:p>
          </p:txBody>
        </p:sp>
        <p:cxnSp>
          <p:nvCxnSpPr>
            <p:cNvPr id="15" name="直接连接符 14"/>
            <p:cNvCxnSpPr/>
            <p:nvPr>
              <p:custDataLst>
                <p:tags r:id="rId2"/>
              </p:custDataLst>
            </p:nvPr>
          </p:nvCxnSpPr>
          <p:spPr>
            <a:xfrm>
              <a:off x="6189010" y="1597247"/>
              <a:ext cx="0" cy="1432200"/>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pSp>
      <p:sp>
        <p:nvSpPr>
          <p:cNvPr id="157" name="Google Shape;157;p9"/>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cs typeface="Arial" panose="020B0604020202020204"/>
                <a:sym typeface="Arial" panose="020B0604020202020204"/>
              </a:rPr>
              <a:t>KEY FINDINGS</a:t>
            </a:r>
            <a:endParaRPr dirty="0"/>
          </a:p>
        </p:txBody>
      </p:sp>
      <p:cxnSp>
        <p:nvCxnSpPr>
          <p:cNvPr id="159" name="Google Shape;159;p9"/>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0" name="Google Shape;160;p9" descr="Z:\PP Assistants\Formal_Viterbi_CardOnTrans.png"/>
          <p:cNvPicPr preferRelativeResize="0"/>
          <p:nvPr/>
        </p:nvPicPr>
        <p:blipFill rotWithShape="1">
          <a:blip r:embed="rId3"/>
          <a:srcRect/>
          <a:stretch>
            <a:fillRect/>
          </a:stretch>
        </p:blipFill>
        <p:spPr>
          <a:xfrm>
            <a:off x="9601200" y="69328"/>
            <a:ext cx="2362200" cy="826770"/>
          </a:xfrm>
          <a:prstGeom prst="rect">
            <a:avLst/>
          </a:prstGeom>
          <a:noFill/>
          <a:ln>
            <a:noFill/>
          </a:ln>
        </p:spPr>
      </p:pic>
      <p:pic>
        <p:nvPicPr>
          <p:cNvPr id="2" name="Google Shape;297;p20"/>
          <p:cNvPicPr preferRelativeResize="0"/>
          <p:nvPr/>
        </p:nvPicPr>
        <p:blipFill rotWithShape="1">
          <a:blip r:embed="rId4"/>
          <a:srcRect/>
          <a:stretch>
            <a:fillRect/>
          </a:stretch>
        </p:blipFill>
        <p:spPr>
          <a:xfrm>
            <a:off x="457200" y="1544035"/>
            <a:ext cx="5364812" cy="4888307"/>
          </a:xfrm>
          <a:prstGeom prst="rect">
            <a:avLst/>
          </a:prstGeom>
          <a:noFill/>
          <a:ln>
            <a:noFill/>
          </a:ln>
        </p:spPr>
      </p:pic>
      <p:grpSp>
        <p:nvGrpSpPr>
          <p:cNvPr id="3" name="组合 2"/>
          <p:cNvGrpSpPr/>
          <p:nvPr/>
        </p:nvGrpSpPr>
        <p:grpSpPr>
          <a:xfrm>
            <a:off x="6096000" y="1544035"/>
            <a:ext cx="5299544" cy="4623747"/>
            <a:chOff x="6183464" y="1597247"/>
            <a:chExt cx="5299544" cy="4623747"/>
          </a:xfrm>
        </p:grpSpPr>
        <p:sp>
          <p:nvSpPr>
            <p:cNvPr id="9" name="矩形: 圆角 8"/>
            <p:cNvSpPr/>
            <p:nvPr/>
          </p:nvSpPr>
          <p:spPr>
            <a:xfrm>
              <a:off x="6183464" y="1597247"/>
              <a:ext cx="5299544" cy="1432200"/>
            </a:xfrm>
            <a:prstGeom prst="roundRect">
              <a:avLst>
                <a:gd name="adj" fmla="val 1412"/>
              </a:avLst>
            </a:prstGeom>
            <a:solidFill>
              <a:schemeClr val="bg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12" name="直接连接符 11"/>
            <p:cNvCxnSpPr/>
            <p:nvPr/>
          </p:nvCxnSpPr>
          <p:spPr>
            <a:xfrm>
              <a:off x="6189010" y="1597247"/>
              <a:ext cx="0" cy="1432200"/>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666381" y="1944269"/>
              <a:ext cx="4250980" cy="4276725"/>
            </a:xfrm>
            <a:prstGeom prst="rect">
              <a:avLst/>
            </a:prstGeom>
            <a:noFill/>
          </p:spPr>
          <p:txBody>
            <a:bodyPr wrap="square">
              <a:spAutoFit/>
            </a:bodyPr>
            <a:lstStyle/>
            <a:p>
              <a:r>
                <a:rPr lang="en-US" altLang="zh-CN" sz="1600" b="0" i="0" dirty="0">
                  <a:solidFill>
                    <a:srgbClr val="555555"/>
                  </a:solidFill>
                  <a:effectLst/>
                  <a:latin typeface="Arial" panose="020B0604020202020204" pitchFamily="34" charset="0"/>
                  <a:cs typeface="Arial" panose="020B0604020202020204" pitchFamily="34" charset="0"/>
                </a:rPr>
                <a:t>Nvidia Nemotron 3 Super achieved the strongest overall performance across models, ranking first with an average score of 3.82.</a:t>
              </a:r>
              <a:endParaRPr lang="en-US" altLang="zh-CN" sz="1600" b="0" i="0" dirty="0">
                <a:solidFill>
                  <a:srgbClr val="555555"/>
                </a:solidFill>
                <a:effectLst/>
                <a:latin typeface="Arial" panose="020B0604020202020204" pitchFamily="34" charset="0"/>
                <a:cs typeface="Arial" panose="020B0604020202020204" pitchFamily="34" charset="0"/>
              </a:endParaRPr>
            </a:p>
            <a:p>
              <a:endParaRPr lang="en-US" altLang="zh-CN" sz="1600" b="0" i="0" dirty="0">
                <a:solidFill>
                  <a:srgbClr val="555555"/>
                </a:solidFill>
                <a:effectLst/>
                <a:latin typeface="Arial" panose="020B0604020202020204" pitchFamily="34" charset="0"/>
                <a:cs typeface="Arial" panose="020B0604020202020204" pitchFamily="34" charset="0"/>
              </a:endParaRPr>
            </a:p>
            <a:p>
              <a:endParaRPr lang="en-US" altLang="zh-CN" sz="1600" b="0" i="0" dirty="0">
                <a:solidFill>
                  <a:srgbClr val="555555"/>
                </a:solidFill>
                <a:effectLst/>
                <a:latin typeface="Arial" panose="020B0604020202020204" pitchFamily="34" charset="0"/>
                <a:cs typeface="Arial" panose="020B0604020202020204" pitchFamily="34" charset="0"/>
              </a:endParaRPr>
            </a:p>
            <a:p>
              <a:endParaRPr lang="en-US" altLang="zh-CN" sz="1600" b="0" i="0" dirty="0">
                <a:solidFill>
                  <a:srgbClr val="555555"/>
                </a:solidFill>
                <a:effectLst/>
                <a:latin typeface="Arial" panose="020B0604020202020204" pitchFamily="34" charset="0"/>
                <a:cs typeface="Arial" panose="020B0604020202020204" pitchFamily="34" charset="0"/>
              </a:endParaRPr>
            </a:p>
            <a:p>
              <a:r>
                <a:rPr lang="zh-CN" altLang="en-US" sz="1600">
                  <a:sym typeface="+mn-ea"/>
                </a:rPr>
                <a:t>OpenAI gpt-oss-20b ranked #2 with an average score of 3.64, but it was more difficult to </a:t>
              </a:r>
              <a:r>
                <a:rPr lang="en-US" altLang="zh-CN" sz="1600" dirty="0">
                  <a:solidFill>
                    <a:srgbClr val="555555"/>
                  </a:solidFill>
                  <a:effectLst/>
                  <a:latin typeface="Arial" panose="020B0604020202020204" pitchFamily="34" charset="0"/>
                  <a:cs typeface="Arial" panose="020B0604020202020204" pitchFamily="34" charset="0"/>
                  <a:sym typeface="+mn-ea"/>
                </a:rPr>
                <a:t>tune </a:t>
              </a:r>
              <a:r>
                <a:rPr lang="zh-CN" altLang="en-US" sz="1600">
                  <a:sym typeface="+mn-ea"/>
                </a:rPr>
                <a:t>and integrate consistently in our workflow.</a:t>
              </a:r>
              <a:endParaRPr lang="zh-CN" altLang="en-US" sz="1600"/>
            </a:p>
            <a:p>
              <a:endParaRPr lang="zh-CN" altLang="en-US" sz="1600"/>
            </a:p>
            <a:p>
              <a:endParaRPr lang="zh-CN" altLang="en-US" sz="1600"/>
            </a:p>
            <a:p>
              <a:r>
                <a:rPr lang="zh-CN" altLang="en-US" sz="1600">
                  <a:sym typeface="+mn-ea"/>
                </a:rPr>
                <a:t>Prompt design had a major impact on outcomes: the Action-Oriented prompt achieved the highest overall Actionability, while the Data Scientist prompt performed better in Data Fidelity and Explainability.</a:t>
              </a:r>
              <a:endParaRPr lang="en-US" altLang="zh-CN" sz="1600" b="0" i="0" dirty="0">
                <a:solidFill>
                  <a:srgbClr val="555555"/>
                </a:solidFill>
                <a:effectLst/>
                <a:latin typeface="Arial" panose="020B0604020202020204" pitchFamily="34" charset="0"/>
                <a:cs typeface="Arial" panose="020B0604020202020204" pitchFamily="34" charset="0"/>
              </a:endParaRPr>
            </a:p>
          </p:txBody>
        </p:sp>
      </p:grpSp>
      <p:cxnSp>
        <p:nvCxnSpPr>
          <p:cNvPr id="7" name="直接连接符 6"/>
          <p:cNvCxnSpPr/>
          <p:nvPr>
            <p:custDataLst>
              <p:tags r:id="rId5"/>
            </p:custDataLst>
          </p:nvPr>
        </p:nvCxnSpPr>
        <p:spPr>
          <a:xfrm>
            <a:off x="6101715" y="3087370"/>
            <a:ext cx="0" cy="1431925"/>
          </a:xfrm>
          <a:prstGeom prst="line">
            <a:avLst/>
          </a:prstGeom>
          <a:ln w="50800">
            <a:solidFill>
              <a:srgbClr val="861D10"/>
            </a:solidFill>
          </a:ln>
        </p:spPr>
        <p:style>
          <a:lnRef idx="1">
            <a:schemeClr val="accent1"/>
          </a:lnRef>
          <a:fillRef idx="0">
            <a:schemeClr val="accent1"/>
          </a:fillRef>
          <a:effectRef idx="0">
            <a:schemeClr val="accent1"/>
          </a:effectRef>
          <a:fontRef idx="minor">
            <a:schemeClr val="tx1"/>
          </a:fontRef>
        </p:style>
      </p:cxnSp>
      <p:graphicFrame>
        <p:nvGraphicFramePr>
          <p:cNvPr id="20" name="表格 19"/>
          <p:cNvGraphicFramePr/>
          <p:nvPr>
            <p:custDataLst>
              <p:tags r:id="rId6"/>
            </p:custDataLst>
          </p:nvPr>
        </p:nvGraphicFramePr>
        <p:xfrm>
          <a:off x="532765" y="1848485"/>
          <a:ext cx="5214620" cy="4511040"/>
        </p:xfrm>
        <a:graphic>
          <a:graphicData uri="http://schemas.openxmlformats.org/drawingml/2006/table">
            <a:tbl>
              <a:tblPr firstRow="1" bandRow="1">
                <a:tableStyleId>{5C22544A-7EE6-4342-B048-85BDC9FD1C3A}</a:tableStyleId>
              </a:tblPr>
              <a:tblGrid>
                <a:gridCol w="1170305"/>
                <a:gridCol w="1252855"/>
                <a:gridCol w="1265555"/>
                <a:gridCol w="1525905"/>
              </a:tblGrid>
              <a:tr h="731520">
                <a:tc>
                  <a:txBody>
                    <a:bodyPr/>
                    <a:p>
                      <a:pPr algn="l">
                        <a:buNone/>
                      </a:pPr>
                      <a:r>
                        <a:rPr lang="zh-CN" altLang="en-US">
                          <a:solidFill>
                            <a:schemeClr val="bg1"/>
                          </a:solidFill>
                        </a:rPr>
                        <a:t>Model</a:t>
                      </a:r>
                      <a:endParaRPr lang="zh-CN" altLang="en-US">
                        <a:solidFill>
                          <a:schemeClr val="bg1"/>
                        </a:solidFill>
                      </a:endParaRPr>
                    </a:p>
                  </a:txBody>
                  <a:tcPr anchor="ctr" anchorCtr="0">
                    <a:solidFill>
                      <a:srgbClr val="C00000"/>
                    </a:solidFill>
                  </a:tcPr>
                </a:tc>
                <a:tc>
                  <a:txBody>
                    <a:bodyPr/>
                    <a:p>
                      <a:pPr algn="l">
                        <a:buNone/>
                      </a:pPr>
                      <a:r>
                        <a:rPr lang="zh-CN" altLang="en-US">
                          <a:solidFill>
                            <a:schemeClr val="bg1"/>
                          </a:solidFill>
                        </a:rPr>
                        <a:t>Est. Scale / Type</a:t>
                      </a:r>
                      <a:endParaRPr lang="zh-CN" altLang="en-US">
                        <a:solidFill>
                          <a:schemeClr val="bg1"/>
                        </a:solidFill>
                      </a:endParaRPr>
                    </a:p>
                  </a:txBody>
                  <a:tcPr anchor="ctr" anchorCtr="0">
                    <a:solidFill>
                      <a:srgbClr val="C00000"/>
                    </a:solidFill>
                  </a:tcPr>
                </a:tc>
                <a:tc>
                  <a:txBody>
                    <a:bodyPr/>
                    <a:p>
                      <a:pPr algn="l">
                        <a:buNone/>
                      </a:pPr>
                      <a:r>
                        <a:rPr lang="zh-CN" altLang="en-US">
                          <a:solidFill>
                            <a:schemeClr val="bg1"/>
                          </a:solidFill>
                        </a:rPr>
                        <a:t>Design Bias</a:t>
                      </a:r>
                      <a:endParaRPr lang="zh-CN" altLang="en-US">
                        <a:solidFill>
                          <a:schemeClr val="bg1"/>
                        </a:solidFill>
                      </a:endParaRPr>
                    </a:p>
                  </a:txBody>
                  <a:tcPr anchor="ctr" anchorCtr="0">
                    <a:solidFill>
                      <a:srgbClr val="C00000"/>
                    </a:solidFill>
                  </a:tcPr>
                </a:tc>
                <a:tc>
                  <a:txBody>
                    <a:bodyPr/>
                    <a:p>
                      <a:pPr algn="l">
                        <a:buNone/>
                      </a:pPr>
                      <a:r>
                        <a:rPr lang="zh-CN" altLang="en-US">
                          <a:solidFill>
                            <a:schemeClr val="bg1"/>
                          </a:solidFill>
                        </a:rPr>
                        <a:t>Our Observations</a:t>
                      </a:r>
                      <a:endParaRPr lang="zh-CN" altLang="en-US">
                        <a:solidFill>
                          <a:schemeClr val="bg1"/>
                        </a:solidFill>
                      </a:endParaRPr>
                    </a:p>
                  </a:txBody>
                  <a:tcPr anchor="ctr" anchorCtr="0">
                    <a:solidFill>
                      <a:srgbClr val="C00000"/>
                    </a:solidFill>
                  </a:tcPr>
                </a:tc>
              </a:tr>
              <a:tr h="1371600">
                <a:tc>
                  <a:txBody>
                    <a:bodyPr/>
                    <a:p>
                      <a:pPr>
                        <a:buNone/>
                      </a:pPr>
                      <a:r>
                        <a:rPr lang="zh-CN" altLang="en-US">
                          <a:solidFill>
                            <a:schemeClr val="tx1"/>
                          </a:solidFill>
                        </a:rPr>
                        <a:t>Nemotron 3 Super</a:t>
                      </a:r>
                      <a:endParaRPr lang="zh-CN" altLang="en-US">
                        <a:solidFill>
                          <a:schemeClr val="tx1"/>
                        </a:solidFill>
                      </a:endParaRPr>
                    </a:p>
                  </a:txBody>
                  <a:tcPr anchor="ctr" anchorCtr="0">
                    <a:solidFill>
                      <a:schemeClr val="bg1">
                        <a:lumMod val="85000"/>
                      </a:schemeClr>
                    </a:solidFill>
                  </a:tcPr>
                </a:tc>
                <a:tc>
                  <a:txBody>
                    <a:bodyPr/>
                    <a:p>
                      <a:pPr>
                        <a:buNone/>
                      </a:pPr>
                      <a:r>
                        <a:rPr lang="zh-CN" altLang="en-US">
                          <a:solidFill>
                            <a:schemeClr val="tx1"/>
                          </a:solidFill>
                        </a:rPr>
                        <a:t>~70B+, instruction-tuned</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Reasoning + alignment</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1</a:t>
                      </a:r>
                      <a:r>
                        <a:rPr lang="en-US" altLang="zh-CN">
                          <a:solidFill>
                            <a:schemeClr val="tx1"/>
                          </a:solidFill>
                        </a:rPr>
                        <a:t> </a:t>
                      </a:r>
                      <a:r>
                        <a:rPr lang="zh-CN" altLang="en-US">
                          <a:solidFill>
                            <a:schemeClr val="tx1"/>
                          </a:solidFill>
                        </a:rPr>
                        <a:t>overall;</a:t>
                      </a:r>
                      <a:r>
                        <a:rPr lang="en-US" altLang="zh-CN">
                          <a:solidFill>
                            <a:schemeClr val="tx1"/>
                          </a:solidFill>
                        </a:rPr>
                        <a:t> </a:t>
                      </a:r>
                      <a:r>
                        <a:rPr lang="zh-CN" altLang="en-US">
                          <a:solidFill>
                            <a:schemeClr val="tx1"/>
                          </a:solidFill>
                        </a:rPr>
                        <a:t>strongest DF/</a:t>
                      </a:r>
                      <a:r>
                        <a:rPr lang="en-US" altLang="zh-CN">
                          <a:solidFill>
                            <a:schemeClr val="tx1"/>
                          </a:solidFill>
                        </a:rPr>
                        <a:t> </a:t>
                      </a:r>
                      <a:r>
                        <a:rPr lang="zh-CN" altLang="en-US">
                          <a:solidFill>
                            <a:schemeClr val="tx1"/>
                          </a:solidFill>
                        </a:rPr>
                        <a:t>EXPL;</a:t>
                      </a:r>
                      <a:r>
                        <a:rPr lang="en-US" altLang="zh-CN">
                          <a:solidFill>
                            <a:schemeClr val="tx1"/>
                          </a:solidFill>
                        </a:rPr>
                        <a:t> </a:t>
                      </a:r>
                      <a:r>
                        <a:rPr lang="zh-CN" altLang="en-US">
                          <a:solidFill>
                            <a:schemeClr val="tx1"/>
                          </a:solidFill>
                        </a:rPr>
                        <a:t>stable across personas</a:t>
                      </a:r>
                      <a:endParaRPr lang="zh-CN" altLang="en-US">
                        <a:solidFill>
                          <a:schemeClr val="tx1"/>
                        </a:solidFill>
                      </a:endParaRPr>
                    </a:p>
                  </a:txBody>
                  <a:tcPr anchor="ctr" anchorCtr="0">
                    <a:solidFill>
                      <a:schemeClr val="bg1">
                        <a:lumMod val="95000"/>
                      </a:schemeClr>
                    </a:solidFill>
                  </a:tcPr>
                </a:tc>
              </a:tr>
              <a:tr h="944880">
                <a:tc>
                  <a:txBody>
                    <a:bodyPr/>
                    <a:p>
                      <a:pPr>
                        <a:buNone/>
                      </a:pPr>
                      <a:r>
                        <a:rPr lang="zh-CN" altLang="en-US">
                          <a:solidFill>
                            <a:schemeClr val="tx1"/>
                          </a:solidFill>
                        </a:rPr>
                        <a:t>gpt-oss-20b</a:t>
                      </a:r>
                      <a:endParaRPr lang="zh-CN" altLang="en-US">
                        <a:solidFill>
                          <a:schemeClr val="tx1"/>
                        </a:solidFill>
                      </a:endParaRPr>
                    </a:p>
                  </a:txBody>
                  <a:tcPr anchor="ctr" anchorCtr="0">
                    <a:solidFill>
                      <a:schemeClr val="bg1">
                        <a:lumMod val="85000"/>
                      </a:schemeClr>
                    </a:solidFill>
                  </a:tcPr>
                </a:tc>
                <a:tc>
                  <a:txBody>
                    <a:bodyPr/>
                    <a:p>
                      <a:pPr>
                        <a:buNone/>
                      </a:pPr>
                      <a:r>
                        <a:rPr lang="zh-CN" altLang="en-US">
                          <a:solidFill>
                            <a:schemeClr val="tx1"/>
                          </a:solidFill>
                        </a:rPr>
                        <a:t>~20B, general-purpose</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Balanced versatility</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2 overall; strong overall, but harder to tune/</a:t>
                      </a:r>
                      <a:r>
                        <a:rPr lang="en-US" altLang="zh-CN">
                          <a:solidFill>
                            <a:schemeClr val="tx1"/>
                          </a:solidFill>
                        </a:rPr>
                        <a:t> </a:t>
                      </a:r>
                      <a:r>
                        <a:rPr lang="zh-CN" altLang="en-US">
                          <a:solidFill>
                            <a:schemeClr val="tx1"/>
                          </a:solidFill>
                        </a:rPr>
                        <a:t>integrate</a:t>
                      </a:r>
                      <a:endParaRPr lang="zh-CN" altLang="en-US">
                        <a:solidFill>
                          <a:schemeClr val="tx1"/>
                        </a:solidFill>
                      </a:endParaRPr>
                    </a:p>
                  </a:txBody>
                  <a:tcPr anchor="ctr" anchorCtr="0">
                    <a:solidFill>
                      <a:schemeClr val="bg1">
                        <a:lumMod val="95000"/>
                      </a:schemeClr>
                    </a:solidFill>
                  </a:tcPr>
                </a:tc>
              </a:tr>
              <a:tr h="731520">
                <a:tc>
                  <a:txBody>
                    <a:bodyPr/>
                    <a:p>
                      <a:pPr>
                        <a:buNone/>
                      </a:pPr>
                      <a:r>
                        <a:rPr lang="zh-CN" altLang="en-US">
                          <a:solidFill>
                            <a:schemeClr val="tx1"/>
                          </a:solidFill>
                        </a:rPr>
                        <a:t>Arcee Trinity Large</a:t>
                      </a:r>
                      <a:endParaRPr lang="zh-CN" altLang="en-US">
                        <a:solidFill>
                          <a:schemeClr val="tx1"/>
                        </a:solidFill>
                      </a:endParaRPr>
                    </a:p>
                  </a:txBody>
                  <a:tcPr anchor="ctr" anchorCtr="0">
                    <a:solidFill>
                      <a:schemeClr val="bg1">
                        <a:lumMod val="85000"/>
                      </a:schemeClr>
                    </a:solidFill>
                  </a:tcPr>
                </a:tc>
                <a:tc>
                  <a:txBody>
                    <a:bodyPr/>
                    <a:p>
                      <a:pPr>
                        <a:buNone/>
                      </a:pPr>
                      <a:r>
                        <a:rPr lang="zh-CN" altLang="en-US">
                          <a:solidFill>
                            <a:schemeClr val="tx1"/>
                          </a:solidFill>
                        </a:rPr>
                        <a:t>~30 – 50B, task-oriented</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Actionability</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Strong ACTN; weaker DF/</a:t>
                      </a:r>
                      <a:r>
                        <a:rPr lang="en-US" altLang="zh-CN">
                          <a:solidFill>
                            <a:schemeClr val="tx1"/>
                          </a:solidFill>
                        </a:rPr>
                        <a:t> </a:t>
                      </a:r>
                      <a:r>
                        <a:rPr lang="zh-CN" altLang="en-US">
                          <a:solidFill>
                            <a:schemeClr val="tx1"/>
                          </a:solidFill>
                        </a:rPr>
                        <a:t>EXPL</a:t>
                      </a:r>
                      <a:endParaRPr lang="zh-CN" altLang="en-US">
                        <a:solidFill>
                          <a:schemeClr val="tx1"/>
                        </a:solidFill>
                      </a:endParaRPr>
                    </a:p>
                  </a:txBody>
                  <a:tcPr anchor="ctr" anchorCtr="0">
                    <a:solidFill>
                      <a:schemeClr val="bg1">
                        <a:lumMod val="95000"/>
                      </a:schemeClr>
                    </a:solidFill>
                  </a:tcPr>
                </a:tc>
              </a:tr>
              <a:tr h="731520">
                <a:tc>
                  <a:txBody>
                    <a:bodyPr/>
                    <a:p>
                      <a:pPr>
                        <a:buNone/>
                      </a:pPr>
                      <a:r>
                        <a:rPr lang="zh-CN" altLang="en-US">
                          <a:solidFill>
                            <a:schemeClr val="tx1"/>
                          </a:solidFill>
                        </a:rPr>
                        <a:t>Elephant</a:t>
                      </a:r>
                      <a:endParaRPr lang="zh-CN" altLang="en-US">
                        <a:solidFill>
                          <a:schemeClr val="tx1"/>
                        </a:solidFill>
                      </a:endParaRPr>
                    </a:p>
                  </a:txBody>
                  <a:tcPr anchor="ctr" anchorCtr="0">
                    <a:solidFill>
                      <a:schemeClr val="bg1">
                        <a:lumMod val="85000"/>
                      </a:schemeClr>
                    </a:solidFill>
                  </a:tcPr>
                </a:tc>
                <a:tc>
                  <a:txBody>
                    <a:bodyPr/>
                    <a:p>
                      <a:pPr>
                        <a:buNone/>
                      </a:pPr>
                      <a:r>
                        <a:rPr lang="zh-CN" altLang="en-US">
                          <a:solidFill>
                            <a:schemeClr val="tx1"/>
                          </a:solidFill>
                        </a:rPr>
                        <a:t>Small-mid, lightweight</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Efficiency</a:t>
                      </a:r>
                      <a:endParaRPr lang="zh-CN" altLang="en-US">
                        <a:solidFill>
                          <a:schemeClr val="tx1"/>
                        </a:solidFill>
                      </a:endParaRPr>
                    </a:p>
                  </a:txBody>
                  <a:tcPr anchor="ctr" anchorCtr="0">
                    <a:solidFill>
                      <a:schemeClr val="bg1">
                        <a:lumMod val="95000"/>
                      </a:schemeClr>
                    </a:solidFill>
                  </a:tcPr>
                </a:tc>
                <a:tc>
                  <a:txBody>
                    <a:bodyPr/>
                    <a:p>
                      <a:pPr>
                        <a:buNone/>
                      </a:pPr>
                      <a:r>
                        <a:rPr lang="zh-CN" altLang="en-US">
                          <a:solidFill>
                            <a:schemeClr val="tx1"/>
                          </a:solidFill>
                        </a:rPr>
                        <a:t>Lower across all dimensions</a:t>
                      </a:r>
                      <a:endParaRPr lang="zh-CN" altLang="en-US">
                        <a:solidFill>
                          <a:schemeClr val="tx1"/>
                        </a:solidFill>
                      </a:endParaRPr>
                    </a:p>
                  </a:txBody>
                  <a:tcPr anchor="ctr" anchorCtr="0">
                    <a:solidFill>
                      <a:schemeClr val="bg1">
                        <a:lumMod val="95000"/>
                      </a:schemeClr>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56"/>
        <p:cNvGrpSpPr/>
        <p:nvPr/>
      </p:nvGrpSpPr>
      <p:grpSpPr>
        <a:xfrm>
          <a:off x="0" y="0"/>
          <a:ext cx="0" cy="0"/>
          <a:chOff x="0" y="0"/>
          <a:chExt cx="0" cy="0"/>
        </a:xfrm>
      </p:grpSpPr>
      <p:sp>
        <p:nvSpPr>
          <p:cNvPr id="157" name="Google Shape;157;p9"/>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ea typeface="Arial" panose="020B0604020202020204"/>
                <a:cs typeface="Arial" panose="020B0604020202020204"/>
                <a:sym typeface="Arial" panose="020B0604020202020204"/>
              </a:rPr>
              <a:t>RESULTS</a:t>
            </a:r>
            <a:endParaRPr dirty="0"/>
          </a:p>
        </p:txBody>
      </p:sp>
      <p:sp>
        <p:nvSpPr>
          <p:cNvPr id="158" name="Google Shape;158;p9"/>
          <p:cNvSpPr txBox="1">
            <a:spLocks noGrp="1"/>
          </p:cNvSpPr>
          <p:nvPr>
            <p:ph type="subTitle" idx="1"/>
          </p:nvPr>
        </p:nvSpPr>
        <p:spPr>
          <a:xfrm>
            <a:off x="2590800" y="1752600"/>
            <a:ext cx="9296400"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000"/>
              <a:buNone/>
            </a:pPr>
            <a:r>
              <a:rPr lang="en-US" sz="2000" dirty="0">
                <a:solidFill>
                  <a:srgbClr val="595959"/>
                </a:solidFill>
                <a:latin typeface="Arial" panose="020B0604020202020204"/>
                <a:ea typeface="Arial" panose="020B0604020202020204"/>
                <a:cs typeface="Arial" panose="020B0604020202020204"/>
                <a:sym typeface="Arial" panose="020B0604020202020204"/>
              </a:rPr>
              <a:t>[Show your key chart, demo screenshot, or output comparison here. Let the visual tell the story.]</a:t>
            </a:r>
            <a:endParaRPr dirty="0"/>
          </a:p>
          <a:p>
            <a:pPr marL="0" lvl="0" indent="0" algn="l" rtl="0">
              <a:spcBef>
                <a:spcPts val="200"/>
              </a:spcBef>
              <a:spcAft>
                <a:spcPts val="0"/>
              </a:spcAft>
              <a:buClr>
                <a:srgbClr val="888888"/>
              </a:buClr>
              <a:buSzPts val="1000"/>
              <a:buNone/>
            </a:pPr>
            <a:endParaRPr sz="1000" dirty="0"/>
          </a:p>
          <a:p>
            <a:pPr marL="0" lvl="0" indent="0" algn="l" rtl="0">
              <a:spcBef>
                <a:spcPts val="360"/>
              </a:spcBef>
              <a:spcAft>
                <a:spcPts val="0"/>
              </a:spcAft>
              <a:buClr>
                <a:srgbClr val="595959"/>
              </a:buClr>
              <a:buSzPts val="1800"/>
              <a:buNone/>
            </a:pPr>
            <a:r>
              <a:rPr lang="en-US" sz="1800" dirty="0">
                <a:solidFill>
                  <a:srgbClr val="595959"/>
                </a:solidFill>
                <a:latin typeface="Arial" panose="020B0604020202020204"/>
                <a:ea typeface="Arial" panose="020B0604020202020204"/>
                <a:cs typeface="Arial" panose="020B0604020202020204"/>
                <a:sym typeface="Arial" panose="020B0604020202020204"/>
              </a:rPr>
              <a:t>[Highlight 2-3 key numbers or findings. Keep text minimal — the visual is the star.]</a:t>
            </a:r>
            <a:endParaRPr dirty="0"/>
          </a:p>
        </p:txBody>
      </p:sp>
      <p:cxnSp>
        <p:nvCxnSpPr>
          <p:cNvPr id="159" name="Google Shape;159;p9"/>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0" name="Google Shape;160;p9"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ctrTitle"/>
          </p:nvPr>
        </p:nvSpPr>
        <p:spPr>
          <a:xfrm>
            <a:off x="685800" y="425647"/>
            <a:ext cx="85344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ea typeface="Arial" panose="020B0604020202020204"/>
                <a:cs typeface="Arial" panose="020B0604020202020204"/>
                <a:sym typeface="Arial" panose="020B0604020202020204"/>
              </a:rPr>
              <a:t>TAKEAWAYS</a:t>
            </a:r>
            <a:endParaRPr dirty="0"/>
          </a:p>
        </p:txBody>
      </p:sp>
      <p:cxnSp>
        <p:nvCxnSpPr>
          <p:cNvPr id="167" name="Google Shape;167;p10"/>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8" name="Google Shape;168;p10"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2" name="文本框 1"/>
          <p:cNvSpPr txBox="1"/>
          <p:nvPr/>
        </p:nvSpPr>
        <p:spPr>
          <a:xfrm>
            <a:off x="848360" y="1946910"/>
            <a:ext cx="7869555" cy="2861310"/>
          </a:xfrm>
          <a:prstGeom prst="rect">
            <a:avLst/>
          </a:prstGeom>
          <a:noFill/>
        </p:spPr>
        <p:txBody>
          <a:bodyPr wrap="square" rtlCol="0">
            <a:spAutoFit/>
          </a:bodyPr>
          <a:p>
            <a:r>
              <a:rPr lang="zh-CN" altLang="en-US" sz="1800"/>
              <a:t>Model choice matters, but workflow design matters just as much.</a:t>
            </a:r>
            <a:endParaRPr lang="zh-CN" altLang="en-US" sz="1800"/>
          </a:p>
          <a:p>
            <a:endParaRPr lang="zh-CN" altLang="en-US" sz="1800"/>
          </a:p>
          <a:p>
            <a:r>
              <a:rPr lang="zh-CN" altLang="en-US" sz="1800"/>
              <a:t>Prompt specialization is essential: different prompts optimize for different technical goals.</a:t>
            </a:r>
            <a:endParaRPr lang="zh-CN" altLang="en-US" sz="1800"/>
          </a:p>
          <a:p>
            <a:endParaRPr lang="zh-CN" altLang="en-US" sz="1800"/>
          </a:p>
          <a:p>
            <a:r>
              <a:rPr lang="zh-CN" altLang="en-US" sz="1800"/>
              <a:t>Schema standardization significantly improves stability, reducing hallucinated columns and execution failures.</a:t>
            </a:r>
            <a:endParaRPr lang="zh-CN" altLang="en-US" sz="1800"/>
          </a:p>
          <a:p>
            <a:endParaRPr lang="zh-CN" altLang="en-US" sz="1800"/>
          </a:p>
          <a:p>
            <a:r>
              <a:rPr lang="zh-CN" altLang="en-US" sz="1800"/>
              <a:t>In real-world e-commerce analytics, trustworthy AI requires both strong models and controlled data pipelines.</a:t>
            </a:r>
            <a:endParaRPr lang="zh-CN"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ctrTitle"/>
          </p:nvPr>
        </p:nvSpPr>
        <p:spPr>
          <a:xfrm>
            <a:off x="685800" y="425647"/>
            <a:ext cx="85344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dirty="0">
                <a:solidFill>
                  <a:srgbClr val="990000"/>
                </a:solidFill>
                <a:latin typeface="Arial" panose="020B0604020202020204"/>
                <a:ea typeface="Arial" panose="020B0604020202020204"/>
                <a:cs typeface="Arial" panose="020B0604020202020204"/>
                <a:sym typeface="Arial" panose="020B0604020202020204"/>
              </a:rPr>
              <a:t>CHALLENGES &amp; SURPRISES</a:t>
            </a:r>
            <a:endParaRPr dirty="0"/>
          </a:p>
        </p:txBody>
      </p:sp>
      <p:cxnSp>
        <p:nvCxnSpPr>
          <p:cNvPr id="167" name="Google Shape;167;p10"/>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8" name="Google Shape;168;p10"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
        <p:nvSpPr>
          <p:cNvPr id="4" name="矩形: 圆角 3"/>
          <p:cNvSpPr/>
          <p:nvPr/>
        </p:nvSpPr>
        <p:spPr>
          <a:xfrm>
            <a:off x="457200" y="1597247"/>
            <a:ext cx="5967454" cy="4835106"/>
          </a:xfrm>
          <a:prstGeom prst="roundRect">
            <a:avLst>
              <a:gd name="adj" fmla="val 1412"/>
            </a:avLst>
          </a:prstGeom>
          <a:solidFill>
            <a:schemeClr val="tx1"/>
          </a:solidFill>
          <a:ln w="9525">
            <a:solidFill>
              <a:srgbClr val="CDD4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5" name="矩形: 圆角 4"/>
          <p:cNvSpPr/>
          <p:nvPr/>
        </p:nvSpPr>
        <p:spPr>
          <a:xfrm>
            <a:off x="5876014" y="1597247"/>
            <a:ext cx="5662653" cy="4835106"/>
          </a:xfrm>
          <a:prstGeom prst="roundRect">
            <a:avLst>
              <a:gd name="adj" fmla="val 1412"/>
            </a:avLst>
          </a:prstGeom>
          <a:solidFill>
            <a:srgbClr val="861D1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0" name="文本框 9"/>
          <p:cNvSpPr txBox="1"/>
          <p:nvPr/>
        </p:nvSpPr>
        <p:spPr>
          <a:xfrm>
            <a:off x="685800" y="2148688"/>
            <a:ext cx="4044632" cy="461665"/>
          </a:xfrm>
          <a:prstGeom prst="rect">
            <a:avLst/>
          </a:prstGeom>
          <a:noFill/>
        </p:spPr>
        <p:txBody>
          <a:bodyPr wrap="square" rtlCol="0">
            <a:spAutoFit/>
          </a:bodyPr>
          <a:lstStyle/>
          <a:p>
            <a:r>
              <a:rPr lang="en-US" altLang="zh-CN" sz="2400" b="1" dirty="0">
                <a:solidFill>
                  <a:schemeClr val="bg1"/>
                </a:solidFill>
                <a:latin typeface="Arial" panose="020B0604020202020204" pitchFamily="34" charset="0"/>
                <a:cs typeface="Arial" panose="020B0604020202020204" pitchFamily="34" charset="0"/>
              </a:rPr>
              <a:t>What Didn’t Work?</a:t>
            </a:r>
            <a:endParaRPr lang="zh-CN" altLang="en-US" sz="2400" b="1" dirty="0">
              <a:solidFill>
                <a:schemeClr val="bg1"/>
              </a:solidFill>
              <a:latin typeface="Arial" panose="020B0604020202020204" pitchFamily="34" charset="0"/>
              <a:cs typeface="Arial" panose="020B0604020202020204" pitchFamily="34" charset="0"/>
            </a:endParaRPr>
          </a:p>
        </p:txBody>
      </p:sp>
      <p:sp>
        <p:nvSpPr>
          <p:cNvPr id="11" name="文本框 10"/>
          <p:cNvSpPr txBox="1"/>
          <p:nvPr/>
        </p:nvSpPr>
        <p:spPr>
          <a:xfrm>
            <a:off x="6221428" y="2111445"/>
            <a:ext cx="4044632" cy="461665"/>
          </a:xfrm>
          <a:prstGeom prst="rect">
            <a:avLst/>
          </a:prstGeom>
          <a:noFill/>
        </p:spPr>
        <p:txBody>
          <a:bodyPr wrap="square" rtlCol="0">
            <a:spAutoFit/>
          </a:bodyPr>
          <a:lstStyle/>
          <a:p>
            <a:r>
              <a:rPr lang="en-US" altLang="zh-CN" sz="2400" b="1" dirty="0">
                <a:solidFill>
                  <a:schemeClr val="bg1"/>
                </a:solidFill>
                <a:latin typeface="Arial" panose="020B0604020202020204" pitchFamily="34" charset="0"/>
                <a:cs typeface="Arial" panose="020B0604020202020204" pitchFamily="34" charset="0"/>
              </a:rPr>
              <a:t>What Surprised Us?</a:t>
            </a:r>
            <a:endParaRPr lang="zh-CN" altLang="en-US" sz="2400" b="1" dirty="0">
              <a:solidFill>
                <a:schemeClr val="bg1"/>
              </a:solidFill>
              <a:latin typeface="Arial" panose="020B0604020202020204" pitchFamily="34" charset="0"/>
              <a:cs typeface="Arial" panose="020B0604020202020204" pitchFamily="34" charset="0"/>
            </a:endParaRPr>
          </a:p>
        </p:txBody>
      </p:sp>
      <p:cxnSp>
        <p:nvCxnSpPr>
          <p:cNvPr id="12" name="直接连接符 11"/>
          <p:cNvCxnSpPr/>
          <p:nvPr/>
        </p:nvCxnSpPr>
        <p:spPr>
          <a:xfrm>
            <a:off x="683812" y="2828082"/>
            <a:ext cx="4762831" cy="0"/>
          </a:xfrm>
          <a:prstGeom prst="line">
            <a:avLst/>
          </a:prstGeom>
          <a:ln w="9525">
            <a:solidFill>
              <a:srgbClr val="CDD4DF"/>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90807" y="2828082"/>
            <a:ext cx="4762831" cy="0"/>
          </a:xfrm>
          <a:prstGeom prst="line">
            <a:avLst/>
          </a:prstGeom>
          <a:ln w="9525">
            <a:solidFill>
              <a:srgbClr val="CDD4DF"/>
            </a:solidFill>
            <a:prstDash val="soli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53333" y="3020169"/>
            <a:ext cx="4832405" cy="338554"/>
          </a:xfrm>
          <a:prstGeom prst="rect">
            <a:avLst/>
          </a:prstGeom>
          <a:noFill/>
        </p:spPr>
        <p:txBody>
          <a:bodyPr wrap="square" rtlCol="0">
            <a:spAutoFit/>
          </a:bodyPr>
          <a:lstStyle/>
          <a:p>
            <a:r>
              <a:rPr lang="en-US" altLang="zh-CN" sz="1600" b="1" dirty="0">
                <a:solidFill>
                  <a:srgbClr val="C76361"/>
                </a:solidFill>
                <a:latin typeface="Arial" panose="020B0604020202020204" pitchFamily="34" charset="0"/>
                <a:cs typeface="Arial" panose="020B0604020202020204" pitchFamily="34" charset="0"/>
              </a:rPr>
              <a:t>Zero-Shot Code Generation</a:t>
            </a:r>
            <a:endParaRPr lang="zh-CN" altLang="en-US" sz="1600" b="1" dirty="0">
              <a:solidFill>
                <a:srgbClr val="C76361"/>
              </a:solidFill>
              <a:latin typeface="Arial" panose="020B0604020202020204" pitchFamily="34" charset="0"/>
              <a:cs typeface="Arial" panose="020B0604020202020204" pitchFamily="34" charset="0"/>
            </a:endParaRPr>
          </a:p>
        </p:txBody>
      </p:sp>
      <p:sp>
        <p:nvSpPr>
          <p:cNvPr id="16" name="文本框 15"/>
          <p:cNvSpPr txBox="1"/>
          <p:nvPr/>
        </p:nvSpPr>
        <p:spPr>
          <a:xfrm>
            <a:off x="653333" y="3372028"/>
            <a:ext cx="4937097" cy="738664"/>
          </a:xfrm>
          <a:prstGeom prst="rect">
            <a:avLst/>
          </a:prstGeom>
          <a:noFill/>
        </p:spPr>
        <p:txBody>
          <a:bodyPr wrap="square">
            <a:spAutoFit/>
          </a:bodyPr>
          <a:lstStyle/>
          <a:p>
            <a:r>
              <a:rPr lang="en-US" altLang="zh-CN" sz="1050" b="0" i="0" dirty="0">
                <a:solidFill>
                  <a:srgbClr val="CBD5E1"/>
                </a:solidFill>
                <a:effectLst/>
                <a:latin typeface="Open Sans" panose="020B0606030504020204" pitchFamily="34" charset="0"/>
              </a:rPr>
              <a:t>Expecting LLMs to write Pandas code merges on messy CSV headers in a single attempt failed frequently. Even with well-crafted prompts, zero-shot code generation lacked flexibility; stable performance was only achieved after standardizing the user input schema.</a:t>
            </a:r>
            <a:endParaRPr lang="zh-CN" altLang="en-US" sz="1050" dirty="0"/>
          </a:p>
        </p:txBody>
      </p:sp>
      <p:sp>
        <p:nvSpPr>
          <p:cNvPr id="2" name="文本框 1"/>
          <p:cNvSpPr txBox="1"/>
          <p:nvPr>
            <p:custDataLst>
              <p:tags r:id="rId2"/>
            </p:custDataLst>
          </p:nvPr>
        </p:nvSpPr>
        <p:spPr>
          <a:xfrm>
            <a:off x="646348" y="4219684"/>
            <a:ext cx="4832405" cy="1568450"/>
          </a:xfrm>
          <a:prstGeom prst="rect">
            <a:avLst/>
          </a:prstGeom>
          <a:noFill/>
        </p:spPr>
        <p:txBody>
          <a:bodyPr wrap="square" rtlCol="0">
            <a:spAutoFit/>
          </a:bodyPr>
          <a:p>
            <a:r>
              <a:rPr lang="en-US" altLang="zh-CN" sz="1600" b="1" dirty="0">
                <a:solidFill>
                  <a:srgbClr val="C76361"/>
                </a:solidFill>
                <a:latin typeface="Arial" panose="020B0604020202020204" pitchFamily="34" charset="0"/>
                <a:cs typeface="Arial" panose="020B0604020202020204" pitchFamily="34" charset="0"/>
              </a:rPr>
              <a:t>Inconsistent join keys often caused code generation failures.</a:t>
            </a:r>
            <a:endParaRPr lang="en-US" altLang="zh-CN" sz="1600" b="1" dirty="0">
              <a:solidFill>
                <a:srgbClr val="C76361"/>
              </a:solidFill>
              <a:latin typeface="Arial" panose="020B0604020202020204" pitchFamily="34" charset="0"/>
              <a:cs typeface="Arial" panose="020B0604020202020204" pitchFamily="34" charset="0"/>
            </a:endParaRPr>
          </a:p>
          <a:p>
            <a:endParaRPr lang="en-US" altLang="zh-CN" sz="1600" b="1" dirty="0">
              <a:solidFill>
                <a:srgbClr val="C76361"/>
              </a:solidFill>
              <a:latin typeface="Arial" panose="020B0604020202020204" pitchFamily="34" charset="0"/>
              <a:cs typeface="Arial" panose="020B0604020202020204" pitchFamily="34" charset="0"/>
            </a:endParaRPr>
          </a:p>
          <a:p>
            <a:r>
              <a:rPr lang="en-US" altLang="zh-CN" sz="1600" b="1" dirty="0">
                <a:solidFill>
                  <a:srgbClr val="C76361"/>
                </a:solidFill>
                <a:latin typeface="Arial" panose="020B0604020202020204" pitchFamily="34" charset="0"/>
                <a:cs typeface="Arial" panose="020B0604020202020204" pitchFamily="34" charset="0"/>
              </a:rPr>
              <a:t>Arbitrary schemas increased the risk of hallucinated column names.</a:t>
            </a:r>
            <a:endParaRPr lang="en-US" altLang="zh-CN" sz="1600" b="1" dirty="0">
              <a:solidFill>
                <a:srgbClr val="C76361"/>
              </a:solidFill>
              <a:latin typeface="Arial" panose="020B0604020202020204" pitchFamily="34" charset="0"/>
              <a:cs typeface="Arial" panose="020B0604020202020204" pitchFamily="34" charset="0"/>
            </a:endParaRPr>
          </a:p>
          <a:p>
            <a:endParaRPr lang="en-US" altLang="zh-CN" sz="1600" b="1" dirty="0">
              <a:solidFill>
                <a:srgbClr val="C76361"/>
              </a:solidFill>
              <a:latin typeface="Arial" panose="020B0604020202020204" pitchFamily="34" charset="0"/>
              <a:cs typeface="Arial" panose="020B0604020202020204" pitchFamily="34" charset="0"/>
            </a:endParaRPr>
          </a:p>
        </p:txBody>
      </p:sp>
      <p:sp>
        <p:nvSpPr>
          <p:cNvPr id="6" name="文本框 5"/>
          <p:cNvSpPr txBox="1"/>
          <p:nvPr/>
        </p:nvSpPr>
        <p:spPr>
          <a:xfrm>
            <a:off x="6290945" y="3093720"/>
            <a:ext cx="4709795" cy="2061210"/>
          </a:xfrm>
          <a:prstGeom prst="rect">
            <a:avLst/>
          </a:prstGeom>
          <a:noFill/>
        </p:spPr>
        <p:txBody>
          <a:bodyPr wrap="square" rtlCol="0">
            <a:spAutoFit/>
          </a:bodyPr>
          <a:p>
            <a:r>
              <a:rPr lang="zh-CN" altLang="en-US" sz="1600">
                <a:solidFill>
                  <a:schemeClr val="bg1"/>
                </a:solidFill>
              </a:rPr>
              <a:t>Prompt engineering influenced results more than we initially expected.</a:t>
            </a:r>
            <a:endParaRPr lang="zh-CN" altLang="en-US" sz="1600">
              <a:solidFill>
                <a:schemeClr val="bg1"/>
              </a:solidFill>
            </a:endParaRPr>
          </a:p>
          <a:p>
            <a:endParaRPr lang="zh-CN" altLang="en-US" sz="1600">
              <a:solidFill>
                <a:schemeClr val="bg1"/>
              </a:solidFill>
            </a:endParaRPr>
          </a:p>
          <a:p>
            <a:r>
              <a:rPr lang="zh-CN" altLang="en-US" sz="1600">
                <a:solidFill>
                  <a:schemeClr val="bg1"/>
                </a:solidFill>
              </a:rPr>
              <a:t>Once the schema was partially standardized, output quality became much more stable.</a:t>
            </a:r>
            <a:endParaRPr lang="zh-CN" altLang="en-US" sz="1600">
              <a:solidFill>
                <a:schemeClr val="bg1"/>
              </a:solidFill>
            </a:endParaRPr>
          </a:p>
          <a:p>
            <a:endParaRPr lang="zh-CN" altLang="en-US" sz="1600">
              <a:solidFill>
                <a:schemeClr val="bg1"/>
              </a:solidFill>
            </a:endParaRPr>
          </a:p>
          <a:p>
            <a:r>
              <a:rPr lang="zh-CN" altLang="en-US" sz="1600">
                <a:solidFill>
                  <a:schemeClr val="bg1"/>
                </a:solidFill>
              </a:rPr>
              <a:t>Different prompts created distinct value profiles, rather than one prompt being best at everything.</a:t>
            </a:r>
            <a:endParaRPr lang="zh-CN" altLang="en-US" sz="160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164"/>
        <p:cNvGrpSpPr/>
        <p:nvPr/>
      </p:nvGrpSpPr>
      <p:grpSpPr>
        <a:xfrm>
          <a:off x="0" y="0"/>
          <a:ext cx="0" cy="0"/>
          <a:chOff x="0" y="0"/>
          <a:chExt cx="0" cy="0"/>
        </a:xfrm>
      </p:grpSpPr>
      <p:sp>
        <p:nvSpPr>
          <p:cNvPr id="165" name="Google Shape;165;p10"/>
          <p:cNvSpPr txBox="1">
            <a:spLocks noGrp="1"/>
          </p:cNvSpPr>
          <p:nvPr>
            <p:ph type="ctrTitle"/>
          </p:nvPr>
        </p:nvSpPr>
        <p:spPr>
          <a:xfrm>
            <a:off x="685800" y="425647"/>
            <a:ext cx="85344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TAKEAWAYS &amp; CHALLENGES</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66" name="Google Shape;166;p10"/>
          <p:cNvSpPr txBox="1">
            <a:spLocks noGrp="1"/>
          </p:cNvSpPr>
          <p:nvPr>
            <p:ph type="subTitle" idx="1"/>
          </p:nvPr>
        </p:nvSpPr>
        <p:spPr>
          <a:xfrm>
            <a:off x="2590800" y="1752600"/>
            <a:ext cx="9296400"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What worked?</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Clr>
                <a:srgbClr val="595959"/>
              </a:buClr>
              <a:buSzPts val="1800"/>
              <a:buNone/>
            </a:pPr>
            <a:r>
              <a:rPr lang="en-US" sz="1800">
                <a:solidFill>
                  <a:srgbClr val="595959"/>
                </a:solidFill>
                <a:latin typeface="Arial" panose="020B0604020202020204"/>
                <a:ea typeface="Arial" panose="020B0604020202020204"/>
                <a:cs typeface="Arial" panose="020B0604020202020204"/>
                <a:sym typeface="Arial" panose="020B0604020202020204"/>
              </a:rPr>
              <a:t>[Your most notable successes or insights]</a:t>
            </a:r>
            <a:endParaRPr lang="en-US" sz="180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200"/>
              </a:spcBef>
              <a:spcAft>
                <a:spcPts val="0"/>
              </a:spcAft>
              <a:buClr>
                <a:srgbClr val="888888"/>
              </a:buClr>
              <a:buSzPts val="1000"/>
              <a:buNone/>
            </a:pPr>
            <a:endParaRPr sz="1000"/>
          </a:p>
          <a:p>
            <a:pPr marL="0" lvl="0" indent="0" algn="l" rtl="0">
              <a:spcBef>
                <a:spcPts val="44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What didn’t? What surprised you?</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360"/>
              </a:spcBef>
              <a:spcAft>
                <a:spcPts val="0"/>
              </a:spcAft>
              <a:buClr>
                <a:srgbClr val="595959"/>
              </a:buClr>
              <a:buSzPts val="1800"/>
              <a:buNone/>
            </a:pPr>
            <a:r>
              <a:rPr lang="en-US" sz="1800">
                <a:solidFill>
                  <a:srgbClr val="595959"/>
                </a:solidFill>
                <a:latin typeface="Arial" panose="020B0604020202020204"/>
                <a:ea typeface="Arial" panose="020B0604020202020204"/>
                <a:cs typeface="Arial" panose="020B0604020202020204"/>
                <a:sym typeface="Arial" panose="020B0604020202020204"/>
              </a:rPr>
              <a:t>[Limitations, challenges, and unexpected findings]</a:t>
            </a:r>
            <a:endParaRPr lang="en-US" sz="1800">
              <a:solidFill>
                <a:srgbClr val="595959"/>
              </a:solidFill>
              <a:latin typeface="Arial" panose="020B0604020202020204"/>
              <a:ea typeface="Arial" panose="020B0604020202020204"/>
              <a:cs typeface="Arial" panose="020B0604020202020204"/>
              <a:sym typeface="Arial" panose="020B0604020202020204"/>
            </a:endParaRPr>
          </a:p>
        </p:txBody>
      </p:sp>
      <p:cxnSp>
        <p:nvCxnSpPr>
          <p:cNvPr id="167" name="Google Shape;167;p10"/>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68" name="Google Shape;168;p10"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txBox="1">
            <a:spLocks noGrp="1"/>
          </p:cNvSpPr>
          <p:nvPr>
            <p:ph type="ctrTitle"/>
          </p:nvPr>
        </p:nvSpPr>
        <p:spPr>
          <a:xfrm>
            <a:off x="2133600" y="2035176"/>
            <a:ext cx="8229600" cy="14700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dirty="0">
                <a:solidFill>
                  <a:srgbClr val="990000"/>
                </a:solidFill>
                <a:latin typeface="Arial" panose="020B0604020202020204"/>
                <a:ea typeface="Arial" panose="020B0604020202020204"/>
                <a:cs typeface="Arial" panose="020B0604020202020204"/>
                <a:sym typeface="Arial" panose="020B0604020202020204"/>
              </a:rPr>
              <a:t>Wrap-Up</a:t>
            </a:r>
            <a:endParaRPr dirty="0"/>
          </a:p>
        </p:txBody>
      </p:sp>
      <p:cxnSp>
        <p:nvCxnSpPr>
          <p:cNvPr id="174" name="Google Shape;174;p11"/>
          <p:cNvCxnSpPr/>
          <p:nvPr/>
        </p:nvCxnSpPr>
        <p:spPr>
          <a:xfrm>
            <a:off x="1524000" y="3200400"/>
            <a:ext cx="9144000" cy="0"/>
          </a:xfrm>
          <a:prstGeom prst="straightConnector1">
            <a:avLst/>
          </a:prstGeom>
          <a:noFill/>
          <a:ln w="9525" cap="flat" cmpd="sng">
            <a:solidFill>
              <a:srgbClr val="595959"/>
            </a:solidFill>
            <a:prstDash val="solid"/>
            <a:round/>
            <a:headEnd type="none" w="sm" len="sm"/>
            <a:tailEnd type="none" w="sm" len="sm"/>
          </a:ln>
        </p:spPr>
      </p:cxnSp>
      <p:cxnSp>
        <p:nvCxnSpPr>
          <p:cNvPr id="175" name="Google Shape;175;p11"/>
          <p:cNvCxnSpPr/>
          <p:nvPr/>
        </p:nvCxnSpPr>
        <p:spPr>
          <a:xfrm>
            <a:off x="1524000" y="2286000"/>
            <a:ext cx="9144000" cy="0"/>
          </a:xfrm>
          <a:prstGeom prst="straightConnector1">
            <a:avLst/>
          </a:prstGeom>
          <a:noFill/>
          <a:ln w="9525" cap="flat" cmpd="sng">
            <a:solidFill>
              <a:srgbClr val="595959"/>
            </a:solidFill>
            <a:prstDash val="solid"/>
            <a:round/>
            <a:headEnd type="none" w="sm" len="sm"/>
            <a:tailEnd type="none" w="sm" len="sm"/>
          </a:ln>
        </p:spPr>
      </p:cxnSp>
      <p:pic>
        <p:nvPicPr>
          <p:cNvPr id="176" name="Google Shape;176;p11"/>
          <p:cNvPicPr preferRelativeResize="0"/>
          <p:nvPr/>
        </p:nvPicPr>
        <p:blipFill rotWithShape="1">
          <a:blip r:embed="rId1"/>
          <a:srcRect/>
          <a:stretch>
            <a:fillRect/>
          </a:stretch>
        </p:blipFill>
        <p:spPr>
          <a:xfrm>
            <a:off x="0" y="111127"/>
            <a:ext cx="2378150" cy="743172"/>
          </a:xfrm>
          <a:prstGeom prst="rect">
            <a:avLst/>
          </a:prstGeom>
          <a:noFill/>
          <a:ln>
            <a:noFill/>
          </a:ln>
        </p:spPr>
      </p:pic>
      <p:pic>
        <p:nvPicPr>
          <p:cNvPr id="177" name="Google Shape;177;p11" descr="Z:\PP Assistants\Formal_Viterbi_CardOnTrans.png"/>
          <p:cNvPicPr preferRelativeResize="0"/>
          <p:nvPr/>
        </p:nvPicPr>
        <p:blipFill rotWithShape="1">
          <a:blip r:embed="rId2"/>
          <a:srcRect/>
          <a:stretch>
            <a:fillRect/>
          </a:stretch>
        </p:blipFill>
        <p:spPr>
          <a:xfrm>
            <a:off x="9601200" y="69328"/>
            <a:ext cx="2362200" cy="82677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WHAT’S NEXT</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83" name="Google Shape;183;p12"/>
          <p:cNvSpPr txBox="1">
            <a:spLocks noGrp="1"/>
          </p:cNvSpPr>
          <p:nvPr>
            <p:ph type="subTitle" idx="1"/>
          </p:nvPr>
        </p:nvSpPr>
        <p:spPr>
          <a:xfrm>
            <a:off x="603250" y="1485900"/>
            <a:ext cx="9296400"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if we had more time...</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r>
              <a:rPr lang="en-US" sz="1800">
                <a:solidFill>
                  <a:srgbClr val="595959"/>
                </a:solidFill>
                <a:latin typeface="Arial" panose="020B0604020202020204"/>
                <a:ea typeface="Arial" panose="020B0604020202020204"/>
                <a:cs typeface="Arial" panose="020B0604020202020204"/>
                <a:sym typeface="Arial" panose="020B0604020202020204"/>
              </a:rPr>
              <a:t>Further refine the code-generation prompts to better adapt to the noisy and inconsistent data quality of real user uploads, improving first-pass coding success rate and overall execution stability.</a:t>
            </a:r>
            <a:endParaRPr lang="en-US" sz="180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r>
              <a:rPr lang="en-US" sz="1800">
                <a:solidFill>
                  <a:srgbClr val="595959"/>
                </a:solidFill>
                <a:latin typeface="Arial" panose="020B0604020202020204"/>
                <a:ea typeface="Arial" panose="020B0604020202020204"/>
                <a:cs typeface="Arial" panose="020B0604020202020204"/>
                <a:sym typeface="Arial" panose="020B0604020202020204"/>
              </a:rPr>
              <a:t>Develop hybrid-persona prompting strategies to combine technical rigor with business-oriented thinking, enabling the system to generate more diverse and higher-quality recommendations.</a:t>
            </a:r>
            <a:endParaRPr lang="en-US" sz="1800">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r>
              <a:rPr lang="en-US" sz="2200" b="1">
                <a:solidFill>
                  <a:srgbClr val="595959"/>
                </a:solidFill>
                <a:latin typeface="Arial" panose="020B0604020202020204"/>
                <a:ea typeface="Arial" panose="020B0604020202020204"/>
                <a:cs typeface="Arial" panose="020B0604020202020204"/>
                <a:sym typeface="Arial" panose="020B0604020202020204"/>
              </a:rPr>
              <a:t>One thing to remember:</a:t>
            </a: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endParaRPr lang="en-US" sz="2200" b="1">
              <a:solidFill>
                <a:srgbClr val="595959"/>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rgbClr val="595959"/>
              </a:buClr>
              <a:buSzPts val="2200"/>
              <a:buNone/>
            </a:pPr>
            <a:r>
              <a:rPr lang="en-US" sz="1800">
                <a:solidFill>
                  <a:srgbClr val="595959"/>
                </a:solidFill>
                <a:latin typeface="Arial" panose="020B0604020202020204"/>
                <a:ea typeface="Arial" panose="020B0604020202020204"/>
                <a:cs typeface="Arial" panose="020B0604020202020204"/>
                <a:sym typeface="Arial" panose="020B0604020202020204"/>
              </a:rPr>
              <a:t>A reliable AI analytics system depends not only on model capability, but also on prompt design that improves both execution stability and recommendation quality.</a:t>
            </a:r>
            <a:endParaRPr lang="en-US" sz="1800">
              <a:solidFill>
                <a:srgbClr val="595959"/>
              </a:solidFill>
              <a:latin typeface="Arial" panose="020B0604020202020204"/>
              <a:ea typeface="Arial" panose="020B0604020202020204"/>
              <a:cs typeface="Arial" panose="020B0604020202020204"/>
              <a:sym typeface="Arial" panose="020B0604020202020204"/>
            </a:endParaRPr>
          </a:p>
        </p:txBody>
      </p:sp>
      <p:cxnSp>
        <p:nvCxnSpPr>
          <p:cNvPr id="184" name="Google Shape;184;p12"/>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85" name="Google Shape;185;p12"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3"/>
          <p:cNvSpPr txBox="1">
            <a:spLocks noGrp="1"/>
          </p:cNvSpPr>
          <p:nvPr>
            <p:ph type="ctrTitle"/>
          </p:nvPr>
        </p:nvSpPr>
        <p:spPr>
          <a:xfrm>
            <a:off x="685800" y="425647"/>
            <a:ext cx="6324600" cy="10074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990000"/>
              </a:buClr>
              <a:buSzPts val="3600"/>
              <a:buFont typeface="Arial" panose="020B0604020202020204"/>
              <a:buNone/>
            </a:pPr>
            <a:r>
              <a:rPr lang="en-US" sz="3600" b="1">
                <a:solidFill>
                  <a:srgbClr val="990000"/>
                </a:solidFill>
                <a:latin typeface="Arial" panose="020B0604020202020204"/>
                <a:ea typeface="Arial" panose="020B0604020202020204"/>
                <a:cs typeface="Arial" panose="020B0604020202020204"/>
                <a:sym typeface="Arial" panose="020B0604020202020204"/>
              </a:rPr>
              <a:t>LINKS &amp; REFERENCES</a:t>
            </a:r>
            <a:endParaRPr lang="en-US" sz="3600" b="1">
              <a:solidFill>
                <a:srgbClr val="990000"/>
              </a:solidFill>
              <a:latin typeface="Arial" panose="020B0604020202020204"/>
              <a:ea typeface="Arial" panose="020B0604020202020204"/>
              <a:cs typeface="Arial" panose="020B0604020202020204"/>
              <a:sym typeface="Arial" panose="020B0604020202020204"/>
            </a:endParaRPr>
          </a:p>
        </p:txBody>
      </p:sp>
      <p:sp>
        <p:nvSpPr>
          <p:cNvPr id="191" name="Google Shape;191;p13"/>
          <p:cNvSpPr txBox="1">
            <a:spLocks noGrp="1"/>
          </p:cNvSpPr>
          <p:nvPr>
            <p:ph type="subTitle" idx="1"/>
          </p:nvPr>
        </p:nvSpPr>
        <p:spPr>
          <a:xfrm>
            <a:off x="685799" y="1585623"/>
            <a:ext cx="10827689" cy="495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2000"/>
              <a:buNone/>
            </a:pPr>
            <a:r>
              <a:rPr lang="en-US" sz="2000" b="1"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rPr>
              <a:t>Project Website:</a:t>
            </a:r>
            <a:r>
              <a:rPr lang="en-US" sz="2000"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rPr>
              <a:t> TBD</a:t>
            </a:r>
            <a:endParaRPr dirty="0">
              <a:latin typeface="Arial" panose="020B0604020202020204" pitchFamily="34" charset="0"/>
              <a:cs typeface="Arial" panose="020B0604020202020204" pitchFamily="34" charset="0"/>
            </a:endParaRPr>
          </a:p>
          <a:p>
            <a:pPr marL="0" lvl="0" indent="0" algn="l" rtl="0">
              <a:spcBef>
                <a:spcPts val="400"/>
              </a:spcBef>
              <a:spcAft>
                <a:spcPts val="0"/>
              </a:spcAft>
              <a:buClr>
                <a:srgbClr val="595959"/>
              </a:buClr>
              <a:buSzPts val="2000"/>
              <a:buNone/>
            </a:pPr>
            <a:r>
              <a:rPr lang="en-US" sz="2000" b="1"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rPr>
              <a:t>GitHub Repository:</a:t>
            </a:r>
            <a:r>
              <a:rPr lang="en-US" sz="2000"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rPr>
              <a:t> [URL - must be accessible without login]</a:t>
            </a:r>
            <a:endParaRPr dirty="0">
              <a:latin typeface="Arial" panose="020B0604020202020204" pitchFamily="34" charset="0"/>
              <a:cs typeface="Arial" panose="020B0604020202020204" pitchFamily="34" charset="0"/>
            </a:endParaRPr>
          </a:p>
          <a:p>
            <a:pPr marL="0" lvl="0" indent="0" algn="l" rtl="0">
              <a:spcBef>
                <a:spcPts val="240"/>
              </a:spcBef>
              <a:spcAft>
                <a:spcPts val="0"/>
              </a:spcAft>
              <a:buClr>
                <a:srgbClr val="888888"/>
              </a:buClr>
              <a:buSzPts val="1200"/>
              <a:buNone/>
            </a:pPr>
            <a:endParaRPr sz="1200" dirty="0">
              <a:latin typeface="Arial" panose="020B0604020202020204" pitchFamily="34" charset="0"/>
              <a:cs typeface="Arial" panose="020B0604020202020204" pitchFamily="34" charset="0"/>
            </a:endParaRPr>
          </a:p>
          <a:p>
            <a:pPr marL="0" lvl="0" indent="0" algn="l" rtl="0">
              <a:spcBef>
                <a:spcPts val="400"/>
              </a:spcBef>
              <a:spcAft>
                <a:spcPts val="0"/>
              </a:spcAft>
              <a:buClr>
                <a:srgbClr val="595959"/>
              </a:buClr>
              <a:buSzPts val="2000"/>
              <a:buNone/>
            </a:pPr>
            <a:r>
              <a:rPr lang="en-US" sz="2000" b="1"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rPr>
              <a:t>References:</a:t>
            </a:r>
            <a:endParaRPr lang="en-US" sz="2000" b="1" dirty="0">
              <a:solidFill>
                <a:srgbClr val="595959"/>
              </a:solidFill>
              <a:latin typeface="Arial" panose="020B0604020202020204" pitchFamily="34" charset="0"/>
              <a:ea typeface="Arial" panose="020B0604020202020204"/>
              <a:cs typeface="Arial" panose="020B0604020202020204" pitchFamily="34" charset="0"/>
              <a:sym typeface="Arial" panose="020B0604020202020204"/>
            </a:endParaRPr>
          </a:p>
          <a:p>
            <a:pPr marL="0" lvl="0" indent="0" algn="l">
              <a:spcBef>
                <a:spcPts val="400"/>
              </a:spcBef>
              <a:buClr>
                <a:srgbClr val="595959"/>
              </a:buClr>
              <a:buSzPts val="2000"/>
            </a:pPr>
            <a:r>
              <a:rPr lang="en-US" altLang="zh-CN" sz="1200" dirty="0">
                <a:latin typeface="Arial" panose="020B0604020202020204" pitchFamily="34" charset="0"/>
                <a:cs typeface="Arial" panose="020B0604020202020204" pitchFamily="34" charset="0"/>
              </a:rPr>
              <a:t>Lazylad99. (n.d.). </a:t>
            </a:r>
            <a:r>
              <a:rPr lang="en-US" altLang="zh-CN" sz="1200" i="1" dirty="0">
                <a:latin typeface="Arial" panose="020B0604020202020204" pitchFamily="34" charset="0"/>
                <a:cs typeface="Arial" panose="020B0604020202020204" pitchFamily="34" charset="0"/>
              </a:rPr>
              <a:t>Amazon E-commerce Product and Review Dataset</a:t>
            </a:r>
            <a:r>
              <a:rPr lang="en-US" altLang="zh-CN" sz="1200" dirty="0">
                <a:latin typeface="Arial" panose="020B0604020202020204" pitchFamily="34" charset="0"/>
                <a:cs typeface="Arial" panose="020B0604020202020204" pitchFamily="34" charset="0"/>
              </a:rPr>
              <a:t>. Kaggle.</a:t>
            </a:r>
            <a:br>
              <a:rPr lang="en-US" altLang="zh-CN" sz="1200" dirty="0">
                <a:latin typeface="Arial" panose="020B0604020202020204" pitchFamily="34" charset="0"/>
                <a:cs typeface="Arial" panose="020B0604020202020204" pitchFamily="34" charset="0"/>
              </a:rPr>
            </a:br>
            <a:r>
              <a:rPr lang="en-US" altLang="zh-CN" sz="1200" dirty="0">
                <a:latin typeface="Arial" panose="020B0604020202020204" pitchFamily="34" charset="0"/>
                <a:cs typeface="Arial" panose="020B0604020202020204" pitchFamily="34" charset="0"/>
              </a:rPr>
              <a:t>https://www.kaggle.com/datasets/lazylad99/amazon-e-commerce-product-and-review-dataset</a:t>
            </a:r>
            <a:endParaRPr sz="1200" dirty="0">
              <a:latin typeface="Arial" panose="020B0604020202020204" pitchFamily="34" charset="0"/>
              <a:cs typeface="Arial" panose="020B0604020202020204" pitchFamily="34" charset="0"/>
            </a:endParaRPr>
          </a:p>
        </p:txBody>
      </p:sp>
      <p:cxnSp>
        <p:nvCxnSpPr>
          <p:cNvPr id="192" name="Google Shape;192;p13"/>
          <p:cNvCxnSpPr/>
          <p:nvPr/>
        </p:nvCxnSpPr>
        <p:spPr>
          <a:xfrm>
            <a:off x="457200" y="1295400"/>
            <a:ext cx="9220200" cy="0"/>
          </a:xfrm>
          <a:prstGeom prst="straightConnector1">
            <a:avLst/>
          </a:prstGeom>
          <a:noFill/>
          <a:ln w="9525" cap="flat" cmpd="sng">
            <a:solidFill>
              <a:srgbClr val="595959"/>
            </a:solidFill>
            <a:prstDash val="solid"/>
            <a:round/>
            <a:headEnd type="none" w="sm" len="sm"/>
            <a:tailEnd type="none" w="sm" len="sm"/>
          </a:ln>
        </p:spPr>
      </p:cxnSp>
      <p:pic>
        <p:nvPicPr>
          <p:cNvPr id="193" name="Google Shape;193;p13" descr="Z:\PP Assistants\Formal_Viterbi_CardOnTrans.png"/>
          <p:cNvPicPr preferRelativeResize="0"/>
          <p:nvPr/>
        </p:nvPicPr>
        <p:blipFill rotWithShape="1">
          <a:blip r:embed="rId1"/>
          <a:srcRect/>
          <a:stretch>
            <a:fillRect/>
          </a:stretch>
        </p:blipFill>
        <p:spPr>
          <a:xfrm>
            <a:off x="9601200" y="69328"/>
            <a:ext cx="2362200" cy="826770"/>
          </a:xfrm>
          <a:prstGeom prst="rect">
            <a:avLst/>
          </a:prstGeom>
          <a:noFill/>
          <a:ln>
            <a:noFill/>
          </a:ln>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ABLE_ENDDRAG_ORIGIN_RECT" val="410*314"/>
  <p:tag name="TABLE_ENDDRAG_RECT" val="54*163*410*314"/>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commondata" val="eyJoZGlkIjoiMDdhYjhlNzA3NTcxYjdmNWU2YjZjMTYxMjg2ODIwMDUifQ=="/>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13565</Words>
  <Application>WPS 演示</Application>
  <PresentationFormat>宽屏</PresentationFormat>
  <Paragraphs>637</Paragraphs>
  <Slides>26</Slides>
  <Notes>26</Notes>
  <HiddenSlides>6</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26</vt:i4>
      </vt:variant>
    </vt:vector>
  </HeadingPairs>
  <TitlesOfParts>
    <vt:vector size="37" baseType="lpstr">
      <vt:lpstr>Arial</vt:lpstr>
      <vt:lpstr>宋体</vt:lpstr>
      <vt:lpstr>Wingdings</vt:lpstr>
      <vt:lpstr>Arial</vt:lpstr>
      <vt:lpstr>Calibri</vt:lpstr>
      <vt:lpstr>微软雅黑</vt:lpstr>
      <vt:lpstr>Arial Unicode MS</vt:lpstr>
      <vt:lpstr>Open Sans</vt:lpstr>
      <vt:lpstr>Segoe Print</vt:lpstr>
      <vt:lpstr>Open Sans</vt:lpstr>
      <vt:lpstr>Office Theme</vt:lpstr>
      <vt:lpstr>GENERATIVE AI FINAL PROJECT</vt:lpstr>
      <vt:lpstr>Project Overview</vt:lpstr>
      <vt:lpstr>PROJECT OVERVIEW</vt:lpstr>
      <vt:lpstr>PROJECT OVERVIEW</vt:lpstr>
      <vt:lpstr>Approach &amp; Methods</vt:lpstr>
      <vt:lpstr>MOTIVATION: IDENTIFYING THE GAP</vt:lpstr>
      <vt:lpstr>OUR GOALS</vt:lpstr>
      <vt:lpstr>MOTIVATION &amp; GOALS</vt:lpstr>
      <vt:lpstr>DATA SOURCE &amp; ARCHITECTURE</vt:lpstr>
      <vt:lpstr>DATA PREPARATION &amp; SYNTHESIS</vt:lpstr>
      <vt:lpstr>DATA</vt:lpstr>
      <vt:lpstr>APPROACH &amp; TOOLS</vt:lpstr>
      <vt:lpstr>SYSTEM ARCHITECTURE &amp; TECH STACK </vt:lpstr>
      <vt:lpstr>PROMPT ENGINEERING</vt:lpstr>
      <vt:lpstr>SYSTEM LOGIC &amp; FLOW</vt:lpstr>
      <vt:lpstr>EVALUATION METRICS</vt:lpstr>
      <vt:lpstr>Results &amp; Analysis</vt:lpstr>
      <vt:lpstr>RESULTS</vt:lpstr>
      <vt:lpstr>KEY FINDINGS</vt:lpstr>
      <vt:lpstr>RESULTS</vt:lpstr>
      <vt:lpstr>TAKEAWAYS</vt:lpstr>
      <vt:lpstr>CHALLENGES &amp; SURPRISES</vt:lpstr>
      <vt:lpstr>TAKEAWAYS &amp; CHALLENGES</vt:lpstr>
      <vt:lpstr>Wrap-Up</vt:lpstr>
      <vt:lpstr>WHAT’S NEXT</vt:lpstr>
      <vt:lpstr>LINKS &amp;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Professional Programs</dc:creator>
  <cp:lastModifiedBy>企业用户_1148168926</cp:lastModifiedBy>
  <cp:revision>10</cp:revision>
  <dcterms:created xsi:type="dcterms:W3CDTF">2014-02-10T22:07:00Z</dcterms:created>
  <dcterms:modified xsi:type="dcterms:W3CDTF">2026-04-20T21:43:41Z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F800465D89AF4A4A841613FF38DF5479_12</vt:lpwstr>
  </property>
  <property fmtid="{D5CDD505-2E9C-101B-9397-08002B2CF9AE}" pid="3" name="KSOProductBuildVer">
    <vt:lpwstr>2052-12.1.0.16120</vt:lpwstr>
  </property>
</Properties>
</file>